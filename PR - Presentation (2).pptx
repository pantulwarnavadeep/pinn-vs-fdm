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Poppins Semi-Bold" charset="1" panose="00000700000000000000"/>
      <p:regular r:id="rId35"/>
    </p:embeddedFont>
    <p:embeddedFont>
      <p:font typeface="Open Sans Bold" charset="1" panose="00000000000000000000"/>
      <p:regular r:id="rId36"/>
    </p:embeddedFont>
    <p:embeddedFont>
      <p:font typeface="Calibri (MS)" charset="1" panose="020F0502020204030204"/>
      <p:regular r:id="rId37"/>
    </p:embeddedFont>
    <p:embeddedFont>
      <p:font typeface="Open Sans" charset="1" panose="00000000000000000000"/>
      <p:regular r:id="rId38"/>
    </p:embeddedFont>
    <p:embeddedFont>
      <p:font typeface="Calibri (MS) Bold" charset="1" panose="020F0702030404030204"/>
      <p:regular r:id="rId39"/>
    </p:embeddedFont>
    <p:embeddedFont>
      <p:font typeface="Open Sauce" charset="1" panose="00000500000000000000"/>
      <p:regular r:id="rId40"/>
    </p:embeddedFont>
    <p:embeddedFont>
      <p:font typeface="Open Sauce Bold" charset="1" panose="00000800000000000000"/>
      <p:regular r:id="rId41"/>
    </p:embeddedFont>
    <p:embeddedFont>
      <p:font typeface="DM Sans Bold" charset="1" panose="00000000000000000000"/>
      <p:regular r:id="rId42"/>
    </p:embeddedFont>
    <p:embeddedFont>
      <p:font typeface="DM Sans" charset="1" panose="00000000000000000000"/>
      <p:regular r:id="rId43"/>
    </p:embeddedFont>
    <p:embeddedFont>
      <p:font typeface="Poppins Bold" charset="1" panose="0000080000000000000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pantulwarnavadeep/pinn-vs-fdm"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png" Type="http://schemas.openxmlformats.org/officeDocument/2006/relationships/image"/><Relationship Id="rId2" Target="../media/image6.jpe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slide13.xml" Type="http://schemas.openxmlformats.org/officeDocument/2006/relationships/slide"/><Relationship Id="rId5" Target="slide14.xml" Type="http://schemas.openxmlformats.org/officeDocument/2006/relationships/slide"/><Relationship Id="rId6" Target="slide15.xml" Type="http://schemas.openxmlformats.org/officeDocument/2006/relationships/slide"/><Relationship Id="rId7" Target="slide16.xml" Type="http://schemas.openxmlformats.org/officeDocument/2006/relationships/slide"/><Relationship Id="rId8" Target="slide17.xml" Type="http://schemas.openxmlformats.org/officeDocument/2006/relationships/slide"/><Relationship Id="rId9" Target="slide18.xml" Type="http://schemas.openxmlformats.org/officeDocument/2006/relationship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slide12.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slide14.xml" Type="http://schemas.openxmlformats.org/officeDocument/2006/relationships/slide"/><Relationship Id="rId9" Target="../media/image3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slide13.xml" Type="http://schemas.openxmlformats.org/officeDocument/2006/relationships/slide"/><Relationship Id="rId11" Target="../media/image38.png" Type="http://schemas.openxmlformats.org/officeDocument/2006/relationships/image"/><Relationship Id="rId12" Target="../media/image39.svg" Type="http://schemas.openxmlformats.org/officeDocument/2006/relationships/image"/><Relationship Id="rId13" Target="slide12.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0.png" Type="http://schemas.openxmlformats.org/officeDocument/2006/relationships/image"/><Relationship Id="rId8" Target="slide15.xml" Type="http://schemas.openxmlformats.org/officeDocument/2006/relationships/slide"/><Relationship Id="rId9" Target="../media/image4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slide14.xml" Type="http://schemas.openxmlformats.org/officeDocument/2006/relationships/slide"/><Relationship Id="rId11" Target="../media/image38.png" Type="http://schemas.openxmlformats.org/officeDocument/2006/relationships/image"/><Relationship Id="rId12" Target="../media/image39.svg" Type="http://schemas.openxmlformats.org/officeDocument/2006/relationships/image"/><Relationship Id="rId13" Target="slide12.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2.png" Type="http://schemas.openxmlformats.org/officeDocument/2006/relationships/image"/><Relationship Id="rId8" Target="slide16.xml" Type="http://schemas.openxmlformats.org/officeDocument/2006/relationships/slide"/><Relationship Id="rId9" Target="../media/image4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slide12.xml" Type="http://schemas.openxmlformats.org/officeDocument/2006/relationships/slide"/><Relationship Id="rId12" Target="../media/image45.png" Type="http://schemas.openxmlformats.org/officeDocument/2006/relationships/image"/><Relationship Id="rId13" Target="slide15.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4.png" Type="http://schemas.openxmlformats.org/officeDocument/2006/relationships/image"/><Relationship Id="rId8" Target="slide17.xml" Type="http://schemas.openxmlformats.org/officeDocument/2006/relationships/slide"/><Relationship Id="rId9" Target="../media/image3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slide12.xml" Type="http://schemas.openxmlformats.org/officeDocument/2006/relationships/slide"/><Relationship Id="rId12" Target="../media/image47.png" Type="http://schemas.openxmlformats.org/officeDocument/2006/relationships/image"/><Relationship Id="rId13" Target="slide16.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6.png" Type="http://schemas.openxmlformats.org/officeDocument/2006/relationships/image"/><Relationship Id="rId8" Target="slide18.xml" Type="http://schemas.openxmlformats.org/officeDocument/2006/relationships/slide"/><Relationship Id="rId9" Target="../media/image3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slide12.xml" Type="http://schemas.openxmlformats.org/officeDocument/2006/relationships/slide"/><Relationship Id="rId12" Target="../media/image50.png" Type="http://schemas.openxmlformats.org/officeDocument/2006/relationships/image"/><Relationship Id="rId13" Target="slide17.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media/image3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slide20.xml" Type="http://schemas.openxmlformats.org/officeDocument/2006/relationships/slide"/><Relationship Id="rId3" Target="slide21.xml" Type="http://schemas.openxmlformats.org/officeDocument/2006/relationships/slide"/><Relationship Id="rId4" Target="slide22.xml" Type="http://schemas.openxmlformats.org/officeDocument/2006/relationships/slide"/><Relationship Id="rId5" Target="../media/image5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svg" Type="http://schemas.openxmlformats.org/officeDocument/2006/relationships/image"/><Relationship Id="rId12" Target="../media/image52.png" Type="http://schemas.openxmlformats.org/officeDocument/2006/relationships/image"/><Relationship Id="rId13" Target="slide21.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slide19.xml" Type="http://schemas.openxmlformats.org/officeDocument/2006/relationship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svg" Type="http://schemas.openxmlformats.org/officeDocument/2006/relationships/image"/><Relationship Id="rId12" Target="../media/image53.png" Type="http://schemas.openxmlformats.org/officeDocument/2006/relationships/image"/><Relationship Id="rId13" Target="slide22.xml" Type="http://schemas.openxmlformats.org/officeDocument/2006/relationships/slide"/><Relationship Id="rId14" Target="../media/image54.png" Type="http://schemas.openxmlformats.org/officeDocument/2006/relationships/imag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slide19.xml" Type="http://schemas.openxmlformats.org/officeDocument/2006/relationship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svg" Type="http://schemas.openxmlformats.org/officeDocument/2006/relationships/image"/><Relationship Id="rId12" Target="../media/image55.png" Type="http://schemas.openxmlformats.org/officeDocument/2006/relationships/image"/><Relationship Id="rId13" Target="slide23.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slide19.xml" Type="http://schemas.openxmlformats.org/officeDocument/2006/relationship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6.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9.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085850" y="4831582"/>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304790" y="449965"/>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368603" y="-5377723"/>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0304790" y="5846443"/>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085850" y="2221594"/>
            <a:ext cx="15365489" cy="1965301"/>
          </a:xfrm>
          <a:prstGeom prst="rect">
            <a:avLst/>
          </a:prstGeom>
        </p:spPr>
        <p:txBody>
          <a:bodyPr anchor="t" rtlCol="false" tIns="0" lIns="0" bIns="0" rIns="0">
            <a:spAutoFit/>
          </a:bodyPr>
          <a:lstStyle/>
          <a:p>
            <a:pPr algn="just">
              <a:lnSpc>
                <a:spcPts val="7701"/>
              </a:lnSpc>
            </a:pPr>
            <a:r>
              <a:rPr lang="en-US" sz="5500" b="true">
                <a:solidFill>
                  <a:srgbClr val="1E293B"/>
                </a:solidFill>
                <a:latin typeface="Poppins Semi-Bold"/>
                <a:ea typeface="Poppins Semi-Bold"/>
                <a:cs typeface="Poppins Semi-Bold"/>
                <a:sym typeface="Poppins Semi-Bold"/>
              </a:rPr>
              <a:t>PINN vs Finite Difference on Singular Three-Point Boundary Value Problems</a:t>
            </a:r>
          </a:p>
        </p:txBody>
      </p:sp>
      <p:sp>
        <p:nvSpPr>
          <p:cNvPr name="TextBox 17" id="17"/>
          <p:cNvSpPr txBox="true"/>
          <p:nvPr/>
        </p:nvSpPr>
        <p:spPr>
          <a:xfrm rot="0">
            <a:off x="2057840" y="878406"/>
            <a:ext cx="4089295" cy="86042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Probab</a:t>
            </a:r>
            <a:r>
              <a:rPr lang="en-US" b="true" sz="2499">
                <a:solidFill>
                  <a:srgbClr val="1E293B"/>
                </a:solidFill>
                <a:latin typeface="Open Sans Bold"/>
                <a:ea typeface="Open Sans Bold"/>
                <a:cs typeface="Open Sans Bold"/>
                <a:sym typeface="Open Sans Bold"/>
              </a:rPr>
              <a:t>ilistic Reasoning - Final Presentation</a:t>
            </a:r>
          </a:p>
        </p:txBody>
      </p:sp>
      <p:sp>
        <p:nvSpPr>
          <p:cNvPr name="TextBox 18" id="18"/>
          <p:cNvSpPr txBox="true"/>
          <p:nvPr/>
        </p:nvSpPr>
        <p:spPr>
          <a:xfrm rot="0">
            <a:off x="1452956" y="4783957"/>
            <a:ext cx="4117561"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Presented by: (Batch - 22)</a:t>
            </a:r>
          </a:p>
        </p:txBody>
      </p:sp>
      <p:sp>
        <p:nvSpPr>
          <p:cNvPr name="TextBox 19" id="19"/>
          <p:cNvSpPr txBox="true"/>
          <p:nvPr/>
        </p:nvSpPr>
        <p:spPr>
          <a:xfrm rot="0">
            <a:off x="1452956" y="5276890"/>
            <a:ext cx="6237499" cy="3051175"/>
          </a:xfrm>
          <a:prstGeom prst="rect">
            <a:avLst/>
          </a:prstGeom>
        </p:spPr>
        <p:txBody>
          <a:bodyPr anchor="t" rtlCol="false" tIns="0" lIns="0" bIns="0" rIns="0">
            <a:spAutoFit/>
          </a:bodyPr>
          <a:lstStyle/>
          <a:p>
            <a:pPr algn="l">
              <a:lnSpc>
                <a:spcPts val="3499"/>
              </a:lnSpc>
            </a:pPr>
            <a:r>
              <a:rPr lang="en-US" sz="2499" b="true">
                <a:solidFill>
                  <a:srgbClr val="1E293B"/>
                </a:solidFill>
                <a:latin typeface="Open Sans Bold"/>
                <a:ea typeface="Open Sans Bold"/>
                <a:cs typeface="Open Sans Bold"/>
                <a:sym typeface="Open Sans Bold"/>
              </a:rPr>
              <a:t>Sri</a:t>
            </a:r>
            <a:r>
              <a:rPr lang="en-US" b="true" sz="2499">
                <a:solidFill>
                  <a:srgbClr val="1E293B"/>
                </a:solidFill>
                <a:latin typeface="Open Sans Bold"/>
                <a:ea typeface="Open Sans Bold"/>
                <a:cs typeface="Open Sans Bold"/>
                <a:sym typeface="Open Sans Bold"/>
              </a:rPr>
              <a:t> Vardhan Parachuru (</a:t>
            </a:r>
            <a:r>
              <a:rPr lang="en-US" b="true" sz="2499">
                <a:gradFill>
                  <a:gsLst>
                    <a:gs pos="0">
                      <a:srgbClr val="8C52FF">
                        <a:alpha val="100000"/>
                      </a:srgbClr>
                    </a:gs>
                    <a:gs pos="100000">
                      <a:srgbClr val="5CE1E6">
                        <a:alpha val="100000"/>
                      </a:srgbClr>
                    </a:gs>
                  </a:gsLst>
                  <a:lin ang="0"/>
                </a:gradFill>
                <a:latin typeface="Open Sans Bold"/>
                <a:ea typeface="Open Sans Bold"/>
                <a:cs typeface="Open Sans Bold"/>
                <a:sym typeface="Open Sans Bold"/>
              </a:rPr>
              <a:t>Group Leader</a:t>
            </a:r>
            <a:r>
              <a:rPr lang="en-US" b="true" sz="2499">
                <a:solidFill>
                  <a:srgbClr val="1E293B"/>
                </a:solidFill>
                <a:latin typeface="Open Sans Bold"/>
                <a:ea typeface="Open Sans Bold"/>
                <a:cs typeface="Open Sans Bold"/>
                <a:sym typeface="Open Sans Bold"/>
              </a:rPr>
              <a:t>)</a:t>
            </a:r>
          </a:p>
          <a:p>
            <a:pPr algn="l">
              <a:lnSpc>
                <a:spcPts val="3499"/>
              </a:lnSpc>
            </a:pPr>
            <a:r>
              <a:rPr lang="en-US" b="true" sz="2499">
                <a:solidFill>
                  <a:srgbClr val="1E293B"/>
                </a:solidFill>
                <a:latin typeface="Open Sans Bold"/>
                <a:ea typeface="Open Sans Bold"/>
                <a:cs typeface="Open Sans Bold"/>
                <a:sym typeface="Open Sans Bold"/>
              </a:rPr>
              <a:t>Team members:</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Sushanth Allampati</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Bhaskar Teja Gopu</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Navadeep Pantulwar</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Gopi Mahesh Konduru</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Sai Harshith Rekandar</a:t>
            </a:r>
          </a:p>
        </p:txBody>
      </p:sp>
      <p:sp>
        <p:nvSpPr>
          <p:cNvPr name="AutoShape 20" id="20"/>
          <p:cNvSpPr/>
          <p:nvPr/>
        </p:nvSpPr>
        <p:spPr>
          <a:xfrm>
            <a:off x="1114425" y="8824527"/>
            <a:ext cx="0" cy="867546"/>
          </a:xfrm>
          <a:prstGeom prst="line">
            <a:avLst/>
          </a:prstGeom>
          <a:ln cap="rnd" w="57150">
            <a:solidFill>
              <a:srgbClr val="60A5FA"/>
            </a:solidFill>
            <a:prstDash val="solid"/>
            <a:headEnd type="none" len="sm" w="sm"/>
            <a:tailEnd type="none" len="sm" w="sm"/>
          </a:ln>
        </p:spPr>
      </p:sp>
      <p:sp>
        <p:nvSpPr>
          <p:cNvPr name="TextBox 21" id="21"/>
          <p:cNvSpPr txBox="true"/>
          <p:nvPr/>
        </p:nvSpPr>
        <p:spPr>
          <a:xfrm rot="0">
            <a:off x="1452204" y="9023350"/>
            <a:ext cx="5643916"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Guided by: Dr. V.M.K. Prasad Goura</a:t>
            </a:r>
          </a:p>
        </p:txBody>
      </p:sp>
      <p:sp>
        <p:nvSpPr>
          <p:cNvPr name="TextBox 22" id="22"/>
          <p:cNvSpPr txBox="true"/>
          <p:nvPr/>
        </p:nvSpPr>
        <p:spPr>
          <a:xfrm rot="0">
            <a:off x="1663664" y="9763447"/>
            <a:ext cx="4082753" cy="266700"/>
          </a:xfrm>
          <a:prstGeom prst="rect">
            <a:avLst/>
          </a:prstGeom>
        </p:spPr>
        <p:txBody>
          <a:bodyPr anchor="t" rtlCol="false" tIns="0" lIns="0" bIns="0" rIns="0">
            <a:spAutoFit/>
          </a:bodyPr>
          <a:lstStyle/>
          <a:p>
            <a:pPr algn="ctr">
              <a:lnSpc>
                <a:spcPts val="1801"/>
              </a:lnSpc>
              <a:spcBef>
                <a:spcPct val="0"/>
              </a:spcBef>
            </a:pPr>
            <a:r>
              <a:rPr lang="en-US" sz="1501" u="sng">
                <a:solidFill>
                  <a:srgbClr val="000000"/>
                </a:solidFill>
                <a:latin typeface="Calibri (MS)"/>
                <a:ea typeface="Calibri (MS)"/>
                <a:cs typeface="Calibri (MS)"/>
                <a:sym typeface="Calibri (MS)"/>
                <a:hlinkClick r:id="rId4" tooltip="https://github.com/pantulwarnavadeep/pinn-vs-fdm"/>
              </a:rPr>
              <a:t>https://github.com/pantulwarnavadeep/pinn-vs-fdm</a:t>
            </a:r>
          </a:p>
        </p:txBody>
      </p:sp>
      <p:sp>
        <p:nvSpPr>
          <p:cNvPr name="TextBox 23" id="23"/>
          <p:cNvSpPr txBox="true"/>
          <p:nvPr/>
        </p:nvSpPr>
        <p:spPr>
          <a:xfrm rot="0">
            <a:off x="656332" y="9768273"/>
            <a:ext cx="859036" cy="266700"/>
          </a:xfrm>
          <a:prstGeom prst="rect">
            <a:avLst/>
          </a:prstGeom>
        </p:spPr>
        <p:txBody>
          <a:bodyPr anchor="t" rtlCol="false" tIns="0" lIns="0" bIns="0" rIns="0">
            <a:spAutoFit/>
          </a:bodyPr>
          <a:lstStyle/>
          <a:p>
            <a:pPr algn="ctr">
              <a:lnSpc>
                <a:spcPts val="1801"/>
              </a:lnSpc>
              <a:spcBef>
                <a:spcPct val="0"/>
              </a:spcBef>
            </a:pPr>
            <a:r>
              <a:rPr lang="en-US" sz="1501">
                <a:solidFill>
                  <a:srgbClr val="000000"/>
                </a:solidFill>
                <a:latin typeface="Calibri (MS)"/>
                <a:ea typeface="Calibri (MS)"/>
                <a:cs typeface="Calibri (MS)"/>
                <a:sym typeface="Calibri (MS)"/>
              </a:rPr>
              <a:t>github llink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596462" y="1128021"/>
            <a:ext cx="7662838" cy="3642637"/>
            <a:chOff x="0" y="0"/>
            <a:chExt cx="1187174" cy="564340"/>
          </a:xfrm>
        </p:grpSpPr>
        <p:sp>
          <p:nvSpPr>
            <p:cNvPr name="Freeform 7" id="7"/>
            <p:cNvSpPr/>
            <p:nvPr/>
          </p:nvSpPr>
          <p:spPr>
            <a:xfrm flipH="false" flipV="false" rot="0">
              <a:off x="0" y="0"/>
              <a:ext cx="1187174" cy="564340"/>
            </a:xfrm>
            <a:custGeom>
              <a:avLst/>
              <a:gdLst/>
              <a:ahLst/>
              <a:cxnLst/>
              <a:rect r="r" b="b" t="t" l="l"/>
              <a:pathLst>
                <a:path h="564340" w="1187174">
                  <a:moveTo>
                    <a:pt x="14144" y="0"/>
                  </a:moveTo>
                  <a:lnTo>
                    <a:pt x="1173030" y="0"/>
                  </a:lnTo>
                  <a:cubicBezTo>
                    <a:pt x="1180841" y="0"/>
                    <a:pt x="1187174" y="6333"/>
                    <a:pt x="1187174" y="14144"/>
                  </a:cubicBezTo>
                  <a:lnTo>
                    <a:pt x="1187174" y="550195"/>
                  </a:lnTo>
                  <a:cubicBezTo>
                    <a:pt x="1187174" y="553947"/>
                    <a:pt x="1185684" y="557544"/>
                    <a:pt x="1183031" y="560197"/>
                  </a:cubicBezTo>
                  <a:cubicBezTo>
                    <a:pt x="1180379" y="562850"/>
                    <a:pt x="1176781" y="564340"/>
                    <a:pt x="1173030" y="564340"/>
                  </a:cubicBezTo>
                  <a:lnTo>
                    <a:pt x="14144" y="564340"/>
                  </a:lnTo>
                  <a:cubicBezTo>
                    <a:pt x="10393" y="564340"/>
                    <a:pt x="6795" y="562850"/>
                    <a:pt x="4143" y="560197"/>
                  </a:cubicBezTo>
                  <a:cubicBezTo>
                    <a:pt x="1490" y="557544"/>
                    <a:pt x="0" y="553947"/>
                    <a:pt x="0" y="550195"/>
                  </a:cubicBezTo>
                  <a:lnTo>
                    <a:pt x="0" y="14144"/>
                  </a:lnTo>
                  <a:cubicBezTo>
                    <a:pt x="0" y="10393"/>
                    <a:pt x="1490" y="6795"/>
                    <a:pt x="4143" y="4143"/>
                  </a:cubicBezTo>
                  <a:cubicBezTo>
                    <a:pt x="6795" y="1490"/>
                    <a:pt x="10393" y="0"/>
                    <a:pt x="14144" y="0"/>
                  </a:cubicBezTo>
                  <a:close/>
                </a:path>
              </a:pathLst>
            </a:custGeom>
            <a:blipFill>
              <a:blip r:embed="rId4"/>
              <a:stretch>
                <a:fillRect l="0" t="-20209" r="0" b="-20209"/>
              </a:stretch>
            </a:blipFill>
          </p:spPr>
        </p:sp>
      </p:grpSp>
      <p:sp>
        <p:nvSpPr>
          <p:cNvPr name="TextBox 8" id="8"/>
          <p:cNvSpPr txBox="true"/>
          <p:nvPr/>
        </p:nvSpPr>
        <p:spPr>
          <a:xfrm rot="0">
            <a:off x="2123167" y="1080377"/>
            <a:ext cx="6152701"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Reference Paper &amp; Where</a:t>
            </a:r>
            <a:r>
              <a:rPr lang="en-US" b="true" sz="2499">
                <a:solidFill>
                  <a:srgbClr val="1E293B"/>
                </a:solidFill>
                <a:latin typeface="Open Sans Bold"/>
                <a:ea typeface="Open Sans Bold"/>
                <a:cs typeface="Open Sans Bold"/>
                <a:sym typeface="Open Sans Bold"/>
              </a:rPr>
              <a:t> We Started</a:t>
            </a:r>
          </a:p>
        </p:txBody>
      </p:sp>
      <p:sp>
        <p:nvSpPr>
          <p:cNvPr name="TextBox 9" id="9"/>
          <p:cNvSpPr txBox="true"/>
          <p:nvPr/>
        </p:nvSpPr>
        <p:spPr>
          <a:xfrm rot="0">
            <a:off x="1028700" y="2033904"/>
            <a:ext cx="8341636" cy="31095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Reference Research &amp; Starting Point</a:t>
            </a:r>
          </a:p>
        </p:txBody>
      </p:sp>
      <p:sp>
        <p:nvSpPr>
          <p:cNvPr name="TextBox 10" id="10"/>
          <p:cNvSpPr txBox="true"/>
          <p:nvPr/>
        </p:nvSpPr>
        <p:spPr>
          <a:xfrm rot="0">
            <a:off x="724276" y="5437243"/>
            <a:ext cx="8063081" cy="5052197"/>
          </a:xfrm>
          <a:prstGeom prst="rect">
            <a:avLst/>
          </a:prstGeom>
        </p:spPr>
        <p:txBody>
          <a:bodyPr anchor="t" rtlCol="false" tIns="0" lIns="0" bIns="0" rIns="0">
            <a:spAutoFit/>
          </a:bodyPr>
          <a:lstStyle/>
          <a:p>
            <a:pPr algn="l" marL="567942" indent="-283971" lvl="1">
              <a:lnSpc>
                <a:spcPts val="3682"/>
              </a:lnSpc>
              <a:buFont typeface="Arial"/>
              <a:buChar char="•"/>
            </a:pPr>
            <a:r>
              <a:rPr lang="en-US" b="true" sz="2630">
                <a:solidFill>
                  <a:srgbClr val="1E293B"/>
                </a:solidFill>
                <a:latin typeface="Open Sans Bold"/>
                <a:ea typeface="Open Sans Bold"/>
                <a:cs typeface="Open Sans Bold"/>
                <a:sym typeface="Open Sans Bold"/>
              </a:rPr>
              <a:t>Reference work</a:t>
            </a:r>
            <a:r>
              <a:rPr lang="en-US" sz="2630">
                <a:solidFill>
                  <a:srgbClr val="1E293B"/>
                </a:solidFill>
                <a:latin typeface="Open Sans"/>
                <a:ea typeface="Open Sans"/>
                <a:cs typeface="Open Sans"/>
                <a:sym typeface="Open Sans"/>
              </a:rPr>
              <a:t>: Nadeem et al., Ain Shams Engineering</a:t>
            </a:r>
            <a:r>
              <a:rPr lang="en-US" sz="2630">
                <a:solidFill>
                  <a:srgbClr val="1E293B"/>
                </a:solidFill>
                <a:latin typeface="Open Sans"/>
                <a:ea typeface="Open Sans"/>
                <a:cs typeface="Open Sans"/>
                <a:sym typeface="Open Sans"/>
              </a:rPr>
              <a:t> Journal, 2026</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The paper investigates singular three-point boundary value problems (TPS-BVPs).</a:t>
            </a:r>
          </a:p>
          <a:p>
            <a:pPr algn="l" marL="567942" indent="-283971" lvl="1">
              <a:lnSpc>
                <a:spcPts val="3682"/>
              </a:lnSpc>
              <a:buFont typeface="Arial"/>
              <a:buChar char="•"/>
            </a:pPr>
            <a:r>
              <a:rPr lang="en-US" b="true" sz="2630">
                <a:solidFill>
                  <a:srgbClr val="1E293B"/>
                </a:solidFill>
                <a:latin typeface="Open Sans Bold"/>
                <a:ea typeface="Open Sans Bold"/>
                <a:cs typeface="Open Sans Bold"/>
                <a:sym typeface="Open Sans Bold"/>
              </a:rPr>
              <a:t>Four PINN </a:t>
            </a:r>
            <a:r>
              <a:rPr lang="en-US" sz="2630">
                <a:solidFill>
                  <a:srgbClr val="1E293B"/>
                </a:solidFill>
                <a:latin typeface="Open Sans"/>
                <a:ea typeface="Open Sans"/>
                <a:cs typeface="Open Sans"/>
                <a:sym typeface="Open Sans"/>
              </a:rPr>
              <a:t>approaches were studied:</a:t>
            </a:r>
          </a:p>
          <a:p>
            <a:pPr algn="l" marL="567942" indent="-283971" lvl="1">
              <a:lnSpc>
                <a:spcPts val="3682"/>
              </a:lnSpc>
              <a:buAutoNum type="arabicPeriod" startAt="1"/>
            </a:pPr>
            <a:r>
              <a:rPr lang="en-US" b="true" sz="2630">
                <a:solidFill>
                  <a:srgbClr val="1E293B"/>
                </a:solidFill>
                <a:latin typeface="Open Sans Bold"/>
                <a:ea typeface="Open Sans Bold"/>
                <a:cs typeface="Open Sans Bold"/>
                <a:sym typeface="Open Sans Bold"/>
              </a:rPr>
              <a:t>Standard PINN</a:t>
            </a:r>
          </a:p>
          <a:p>
            <a:pPr algn="l" marL="567942" indent="-283971" lvl="1">
              <a:lnSpc>
                <a:spcPts val="3682"/>
              </a:lnSpc>
              <a:buAutoNum type="arabicPeriod" startAt="1"/>
            </a:pPr>
            <a:r>
              <a:rPr lang="en-US" b="true" sz="2630">
                <a:solidFill>
                  <a:srgbClr val="1E293B"/>
                </a:solidFill>
                <a:latin typeface="Open Sans Bold"/>
                <a:ea typeface="Open Sans Bold"/>
                <a:cs typeface="Open Sans Bold"/>
                <a:sym typeface="Open Sans Bold"/>
              </a:rPr>
              <a:t>PINN + L1 regularization</a:t>
            </a:r>
          </a:p>
          <a:p>
            <a:pPr algn="l" marL="567942" indent="-283971" lvl="1">
              <a:lnSpc>
                <a:spcPts val="3682"/>
              </a:lnSpc>
              <a:buAutoNum type="arabicPeriod" startAt="1"/>
            </a:pPr>
            <a:r>
              <a:rPr lang="en-US" b="true" sz="2630">
                <a:solidFill>
                  <a:srgbClr val="1E293B"/>
                </a:solidFill>
                <a:latin typeface="Open Sans Bold"/>
                <a:ea typeface="Open Sans Bold"/>
                <a:cs typeface="Open Sans Bold"/>
                <a:sym typeface="Open Sans Bold"/>
              </a:rPr>
              <a:t>PINN + L2 regularization</a:t>
            </a:r>
          </a:p>
          <a:p>
            <a:pPr algn="l" marL="567942" indent="-283971" lvl="1">
              <a:lnSpc>
                <a:spcPts val="3682"/>
              </a:lnSpc>
              <a:buAutoNum type="arabicPeriod" startAt="1"/>
            </a:pPr>
            <a:r>
              <a:rPr lang="en-US" b="true" sz="2630">
                <a:solidFill>
                  <a:srgbClr val="1E293B"/>
                </a:solidFill>
                <a:latin typeface="Open Sans Bold"/>
                <a:ea typeface="Open Sans Bold"/>
                <a:cs typeface="Open Sans Bold"/>
                <a:sym typeface="Open Sans Bold"/>
              </a:rPr>
              <a:t>Adaptive PINN (A-PINN)</a:t>
            </a:r>
          </a:p>
          <a:p>
            <a:pPr algn="l">
              <a:lnSpc>
                <a:spcPts val="3682"/>
              </a:lnSpc>
            </a:pPr>
          </a:p>
          <a:p>
            <a:pPr algn="l">
              <a:lnSpc>
                <a:spcPts val="3682"/>
              </a:lnSpc>
            </a:pPr>
          </a:p>
        </p:txBody>
      </p:sp>
      <p:sp>
        <p:nvSpPr>
          <p:cNvPr name="TextBox 11" id="11"/>
          <p:cNvSpPr txBox="true"/>
          <p:nvPr/>
        </p:nvSpPr>
        <p:spPr>
          <a:xfrm rot="0">
            <a:off x="9370336" y="5642150"/>
            <a:ext cx="8691538" cy="4181348"/>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What the paper did</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Compared PINN predictions with the exact/analytical solution.</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Used a single training seed</a:t>
            </a:r>
            <a:r>
              <a:rPr lang="en-US" sz="2630">
                <a:solidFill>
                  <a:srgbClr val="1E293B"/>
                </a:solidFill>
                <a:latin typeface="Open Sans"/>
                <a:ea typeface="Open Sans"/>
                <a:cs typeface="Open Sans"/>
                <a:sym typeface="Open Sans"/>
              </a:rPr>
              <a:t> for each configuration.</a:t>
            </a:r>
          </a:p>
          <a:p>
            <a:pPr algn="l">
              <a:lnSpc>
                <a:spcPts val="3682"/>
              </a:lnSpc>
            </a:pPr>
          </a:p>
          <a:p>
            <a:pPr algn="l">
              <a:lnSpc>
                <a:spcPts val="3682"/>
              </a:lnSpc>
            </a:pPr>
            <a:r>
              <a:rPr lang="en-US" b="true" sz="2630">
                <a:solidFill>
                  <a:srgbClr val="1E293B"/>
                </a:solidFill>
                <a:latin typeface="Open Sans Bold"/>
                <a:ea typeface="Open Sans Bold"/>
                <a:cs typeface="Open Sans Bold"/>
                <a:sym typeface="Open Sans Bold"/>
              </a:rPr>
              <a:t>What we questioned</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Are the reported PINN results stable across different initializations, and how do they compare with a classical numerical solver?</a:t>
            </a:r>
          </a:p>
        </p:txBody>
      </p:sp>
      <p:sp>
        <p:nvSpPr>
          <p:cNvPr name="AutoShape 12" id="12"/>
          <p:cNvSpPr/>
          <p:nvPr/>
        </p:nvSpPr>
        <p:spPr>
          <a:xfrm>
            <a:off x="9172575" y="6323260"/>
            <a:ext cx="0" cy="867546"/>
          </a:xfrm>
          <a:prstGeom prst="line">
            <a:avLst/>
          </a:prstGeom>
          <a:ln cap="rnd" w="57150">
            <a:solidFill>
              <a:srgbClr val="60A5FA"/>
            </a:solidFill>
            <a:prstDash val="solid"/>
            <a:headEnd type="none" len="sm" w="sm"/>
            <a:tailEnd type="none" len="sm" w="sm"/>
          </a:ln>
        </p:spPr>
      </p:sp>
      <p:sp>
        <p:nvSpPr>
          <p:cNvPr name="AutoShape 13" id="13"/>
          <p:cNvSpPr/>
          <p:nvPr/>
        </p:nvSpPr>
        <p:spPr>
          <a:xfrm>
            <a:off x="9172575" y="8267131"/>
            <a:ext cx="0" cy="1277542"/>
          </a:xfrm>
          <a:prstGeom prst="line">
            <a:avLst/>
          </a:prstGeom>
          <a:ln cap="rnd" w="57150">
            <a:solidFill>
              <a:srgbClr val="60A5FA"/>
            </a:solidFill>
            <a:prstDash val="solid"/>
            <a:headEnd type="none" len="sm" w="sm"/>
            <a:tailEnd type="none" len="sm" w="sm"/>
          </a:ln>
        </p:spPr>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228481" y="5235420"/>
            <a:ext cx="4180952" cy="2034815"/>
            <a:chOff x="0" y="0"/>
            <a:chExt cx="1381096" cy="672161"/>
          </a:xfrm>
        </p:grpSpPr>
        <p:sp>
          <p:nvSpPr>
            <p:cNvPr name="Freeform 7" id="7"/>
            <p:cNvSpPr/>
            <p:nvPr/>
          </p:nvSpPr>
          <p:spPr>
            <a:xfrm flipH="false" flipV="false" rot="0">
              <a:off x="0" y="0"/>
              <a:ext cx="1381096" cy="672161"/>
            </a:xfrm>
            <a:custGeom>
              <a:avLst/>
              <a:gdLst/>
              <a:ahLst/>
              <a:cxnLst/>
              <a:rect r="r" b="b" t="t" l="l"/>
              <a:pathLst>
                <a:path h="672161" w="1381096">
                  <a:moveTo>
                    <a:pt x="27776" y="0"/>
                  </a:moveTo>
                  <a:lnTo>
                    <a:pt x="1353320" y="0"/>
                  </a:lnTo>
                  <a:cubicBezTo>
                    <a:pt x="1368660" y="0"/>
                    <a:pt x="1381096" y="12436"/>
                    <a:pt x="1381096" y="27776"/>
                  </a:cubicBezTo>
                  <a:lnTo>
                    <a:pt x="1381096" y="644386"/>
                  </a:lnTo>
                  <a:cubicBezTo>
                    <a:pt x="1381096" y="659726"/>
                    <a:pt x="1368660" y="672161"/>
                    <a:pt x="1353320" y="672161"/>
                  </a:cubicBezTo>
                  <a:lnTo>
                    <a:pt x="27776" y="672161"/>
                  </a:lnTo>
                  <a:cubicBezTo>
                    <a:pt x="12436" y="672161"/>
                    <a:pt x="0" y="659726"/>
                    <a:pt x="0" y="644386"/>
                  </a:cubicBezTo>
                  <a:lnTo>
                    <a:pt x="0" y="27776"/>
                  </a:lnTo>
                  <a:cubicBezTo>
                    <a:pt x="0" y="12436"/>
                    <a:pt x="12436" y="0"/>
                    <a:pt x="27776" y="0"/>
                  </a:cubicBezTo>
                  <a:close/>
                </a:path>
              </a:pathLst>
            </a:custGeom>
            <a:solidFill>
              <a:srgbClr val="60A5FA"/>
            </a:solidFill>
          </p:spPr>
        </p:sp>
        <p:sp>
          <p:nvSpPr>
            <p:cNvPr name="TextBox 8" id="8"/>
            <p:cNvSpPr txBox="true"/>
            <p:nvPr/>
          </p:nvSpPr>
          <p:spPr>
            <a:xfrm>
              <a:off x="0" y="-47625"/>
              <a:ext cx="1381096" cy="719786"/>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5400000">
            <a:off x="2711674" y="6480088"/>
            <a:ext cx="562492" cy="452200"/>
            <a:chOff x="0" y="0"/>
            <a:chExt cx="647700" cy="520700"/>
          </a:xfrm>
        </p:grpSpPr>
        <p:sp>
          <p:nvSpPr>
            <p:cNvPr name="Freeform 10" id="1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1" id="11"/>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5400000">
            <a:off x="6811565" y="6480088"/>
            <a:ext cx="562492" cy="452200"/>
            <a:chOff x="0" y="0"/>
            <a:chExt cx="647700" cy="520700"/>
          </a:xfrm>
        </p:grpSpPr>
        <p:sp>
          <p:nvSpPr>
            <p:cNvPr name="Freeform 13" id="1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4" id="14"/>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5400000">
            <a:off x="9478179" y="5055149"/>
            <a:ext cx="448478" cy="360541"/>
            <a:chOff x="0" y="0"/>
            <a:chExt cx="647700" cy="520700"/>
          </a:xfrm>
        </p:grpSpPr>
        <p:sp>
          <p:nvSpPr>
            <p:cNvPr name="Freeform 16" id="1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7" id="17"/>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TextBox 18" id="18"/>
          <p:cNvSpPr txBox="true"/>
          <p:nvPr/>
        </p:nvSpPr>
        <p:spPr>
          <a:xfrm rot="0">
            <a:off x="2092783" y="1080377"/>
            <a:ext cx="5728714"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Research</a:t>
            </a:r>
            <a:r>
              <a:rPr lang="en-US" b="true" sz="2499">
                <a:solidFill>
                  <a:srgbClr val="1E293B"/>
                </a:solidFill>
                <a:latin typeface="Open Sans Bold"/>
                <a:ea typeface="Open Sans Bold"/>
                <a:cs typeface="Open Sans Bold"/>
                <a:sym typeface="Open Sans Bold"/>
              </a:rPr>
              <a:t> Gap &amp; Our Contribution</a:t>
            </a:r>
          </a:p>
        </p:txBody>
      </p:sp>
      <p:sp>
        <p:nvSpPr>
          <p:cNvPr name="TextBox 19" id="19"/>
          <p:cNvSpPr txBox="true"/>
          <p:nvPr/>
        </p:nvSpPr>
        <p:spPr>
          <a:xfrm rot="0">
            <a:off x="9522148" y="5731596"/>
            <a:ext cx="3818161" cy="1384830"/>
          </a:xfrm>
          <a:prstGeom prst="rect">
            <a:avLst/>
          </a:prstGeom>
        </p:spPr>
        <p:txBody>
          <a:bodyPr anchor="t" rtlCol="false" tIns="0" lIns="0" bIns="0" rIns="0">
            <a:spAutoFit/>
          </a:bodyPr>
          <a:lstStyle/>
          <a:p>
            <a:pPr algn="ctr">
              <a:lnSpc>
                <a:spcPts val="2790"/>
              </a:lnSpc>
            </a:pPr>
            <a:r>
              <a:rPr lang="en-US" b="true" sz="1993">
                <a:solidFill>
                  <a:srgbClr val="F4F9FD"/>
                </a:solidFill>
                <a:latin typeface="Open Sans Bold"/>
                <a:ea typeface="Open Sans Bold"/>
                <a:cs typeface="Open Sans Bold"/>
                <a:sym typeface="Open Sans Bold"/>
              </a:rPr>
              <a:t>1.</a:t>
            </a:r>
            <a:r>
              <a:rPr lang="en-US" b="true" sz="1993">
                <a:solidFill>
                  <a:srgbClr val="F4F9FD"/>
                </a:solidFill>
                <a:latin typeface="Open Sans Bold"/>
                <a:ea typeface="Open Sans Bold"/>
                <a:cs typeface="Open Sans Bold"/>
                <a:sym typeface="Open Sans Bold"/>
              </a:rPr>
              <a:t> Multi-seed experiment</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10 random seeds</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Seeds 0–9</a:t>
            </a:r>
          </a:p>
          <a:p>
            <a:pPr algn="ctr">
              <a:lnSpc>
                <a:spcPts val="2790"/>
              </a:lnSpc>
            </a:pPr>
          </a:p>
        </p:txBody>
      </p:sp>
      <p:sp>
        <p:nvSpPr>
          <p:cNvPr name="TextBox 20" id="20"/>
          <p:cNvSpPr txBox="true"/>
          <p:nvPr/>
        </p:nvSpPr>
        <p:spPr>
          <a:xfrm rot="0">
            <a:off x="1028700" y="5779069"/>
            <a:ext cx="8063081" cy="2781158"/>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Limitations identified</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One</a:t>
            </a:r>
            <a:r>
              <a:rPr lang="en-US" sz="2630">
                <a:solidFill>
                  <a:srgbClr val="1E293B"/>
                </a:solidFill>
                <a:latin typeface="Open Sans"/>
                <a:ea typeface="Open Sans"/>
                <a:cs typeface="Open Sans"/>
                <a:sym typeface="Open Sans"/>
              </a:rPr>
              <a:t> random seed per configuration</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No classical numerical baseline</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No direct PINN vs FDM comparison</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Limited evidence about initialization sensitivity</a:t>
            </a:r>
          </a:p>
          <a:p>
            <a:pPr algn="l">
              <a:lnSpc>
                <a:spcPts val="3682"/>
              </a:lnSpc>
            </a:pPr>
          </a:p>
        </p:txBody>
      </p:sp>
      <p:grpSp>
        <p:nvGrpSpPr>
          <p:cNvPr name="Group 21" id="21"/>
          <p:cNvGrpSpPr/>
          <p:nvPr/>
        </p:nvGrpSpPr>
        <p:grpSpPr>
          <a:xfrm rot="0">
            <a:off x="13635303" y="5235420"/>
            <a:ext cx="4180952" cy="2034815"/>
            <a:chOff x="0" y="0"/>
            <a:chExt cx="1381096" cy="672161"/>
          </a:xfrm>
        </p:grpSpPr>
        <p:sp>
          <p:nvSpPr>
            <p:cNvPr name="Freeform 22" id="22"/>
            <p:cNvSpPr/>
            <p:nvPr/>
          </p:nvSpPr>
          <p:spPr>
            <a:xfrm flipH="false" flipV="false" rot="0">
              <a:off x="0" y="0"/>
              <a:ext cx="1381096" cy="672161"/>
            </a:xfrm>
            <a:custGeom>
              <a:avLst/>
              <a:gdLst/>
              <a:ahLst/>
              <a:cxnLst/>
              <a:rect r="r" b="b" t="t" l="l"/>
              <a:pathLst>
                <a:path h="672161" w="1381096">
                  <a:moveTo>
                    <a:pt x="27776" y="0"/>
                  </a:moveTo>
                  <a:lnTo>
                    <a:pt x="1353320" y="0"/>
                  </a:lnTo>
                  <a:cubicBezTo>
                    <a:pt x="1368660" y="0"/>
                    <a:pt x="1381096" y="12436"/>
                    <a:pt x="1381096" y="27776"/>
                  </a:cubicBezTo>
                  <a:lnTo>
                    <a:pt x="1381096" y="644386"/>
                  </a:lnTo>
                  <a:cubicBezTo>
                    <a:pt x="1381096" y="659726"/>
                    <a:pt x="1368660" y="672161"/>
                    <a:pt x="1353320" y="672161"/>
                  </a:cubicBezTo>
                  <a:lnTo>
                    <a:pt x="27776" y="672161"/>
                  </a:lnTo>
                  <a:cubicBezTo>
                    <a:pt x="12436" y="672161"/>
                    <a:pt x="0" y="659726"/>
                    <a:pt x="0" y="644386"/>
                  </a:cubicBezTo>
                  <a:lnTo>
                    <a:pt x="0" y="27776"/>
                  </a:lnTo>
                  <a:cubicBezTo>
                    <a:pt x="0" y="12436"/>
                    <a:pt x="12436" y="0"/>
                    <a:pt x="27776" y="0"/>
                  </a:cubicBezTo>
                  <a:close/>
                </a:path>
              </a:pathLst>
            </a:custGeom>
            <a:solidFill>
              <a:srgbClr val="60A5FA"/>
            </a:solidFill>
          </p:spPr>
        </p:sp>
        <p:sp>
          <p:nvSpPr>
            <p:cNvPr name="TextBox 23" id="23"/>
            <p:cNvSpPr txBox="true"/>
            <p:nvPr/>
          </p:nvSpPr>
          <p:spPr>
            <a:xfrm>
              <a:off x="0" y="-47625"/>
              <a:ext cx="1381096" cy="719786"/>
            </a:xfrm>
            <a:prstGeom prst="rect">
              <a:avLst/>
            </a:prstGeom>
          </p:spPr>
          <p:txBody>
            <a:bodyPr anchor="ctr" rtlCol="false" tIns="50800" lIns="50800" bIns="50800" rIns="50800"/>
            <a:lstStyle/>
            <a:p>
              <a:pPr algn="ctr">
                <a:lnSpc>
                  <a:spcPts val="3499"/>
                </a:lnSpc>
              </a:pPr>
            </a:p>
          </p:txBody>
        </p:sp>
      </p:grpSp>
      <p:grpSp>
        <p:nvGrpSpPr>
          <p:cNvPr name="Group 24" id="24"/>
          <p:cNvGrpSpPr/>
          <p:nvPr/>
        </p:nvGrpSpPr>
        <p:grpSpPr>
          <a:xfrm rot="-5400000">
            <a:off x="13914297" y="5061885"/>
            <a:ext cx="448478" cy="360541"/>
            <a:chOff x="0" y="0"/>
            <a:chExt cx="647700" cy="520700"/>
          </a:xfrm>
        </p:grpSpPr>
        <p:sp>
          <p:nvSpPr>
            <p:cNvPr name="Freeform 25" id="25"/>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26" id="26"/>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TextBox 27" id="27"/>
          <p:cNvSpPr txBox="true"/>
          <p:nvPr/>
        </p:nvSpPr>
        <p:spPr>
          <a:xfrm rot="0">
            <a:off x="13928970" y="5556927"/>
            <a:ext cx="3818161" cy="1734169"/>
          </a:xfrm>
          <a:prstGeom prst="rect">
            <a:avLst/>
          </a:prstGeom>
        </p:spPr>
        <p:txBody>
          <a:bodyPr anchor="t" rtlCol="false" tIns="0" lIns="0" bIns="0" rIns="0">
            <a:spAutoFit/>
          </a:bodyPr>
          <a:lstStyle/>
          <a:p>
            <a:pPr algn="ctr">
              <a:lnSpc>
                <a:spcPts val="2790"/>
              </a:lnSpc>
            </a:pPr>
            <a:r>
              <a:rPr lang="en-US" b="true" sz="1993">
                <a:solidFill>
                  <a:srgbClr val="F4F9FD"/>
                </a:solidFill>
                <a:latin typeface="Open Sans Bold"/>
                <a:ea typeface="Open Sans Bold"/>
                <a:cs typeface="Open Sans Bold"/>
                <a:sym typeface="Open Sans Bold"/>
              </a:rPr>
              <a:t>2.</a:t>
            </a:r>
            <a:r>
              <a:rPr lang="en-US" b="true" sz="1993">
                <a:solidFill>
                  <a:srgbClr val="F4F9FD"/>
                </a:solidFill>
                <a:latin typeface="Open Sans Bold"/>
                <a:ea typeface="Open Sans Bold"/>
                <a:cs typeface="Open Sans Bold"/>
                <a:sym typeface="Open Sans Bold"/>
              </a:rPr>
              <a:t> Larger controlled experiment</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10,000 epochs</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120 PINN training runs</a:t>
            </a:r>
          </a:p>
          <a:p>
            <a:pPr algn="ctr">
              <a:lnSpc>
                <a:spcPts val="2790"/>
              </a:lnSpc>
            </a:pPr>
          </a:p>
        </p:txBody>
      </p:sp>
      <p:grpSp>
        <p:nvGrpSpPr>
          <p:cNvPr name="Group 28" id="28"/>
          <p:cNvGrpSpPr/>
          <p:nvPr/>
        </p:nvGrpSpPr>
        <p:grpSpPr>
          <a:xfrm rot="0">
            <a:off x="9240302" y="7340665"/>
            <a:ext cx="4180952" cy="2034815"/>
            <a:chOff x="0" y="0"/>
            <a:chExt cx="1381096" cy="672161"/>
          </a:xfrm>
        </p:grpSpPr>
        <p:sp>
          <p:nvSpPr>
            <p:cNvPr name="Freeform 29" id="29"/>
            <p:cNvSpPr/>
            <p:nvPr/>
          </p:nvSpPr>
          <p:spPr>
            <a:xfrm flipH="false" flipV="false" rot="0">
              <a:off x="0" y="0"/>
              <a:ext cx="1381096" cy="672161"/>
            </a:xfrm>
            <a:custGeom>
              <a:avLst/>
              <a:gdLst/>
              <a:ahLst/>
              <a:cxnLst/>
              <a:rect r="r" b="b" t="t" l="l"/>
              <a:pathLst>
                <a:path h="672161" w="1381096">
                  <a:moveTo>
                    <a:pt x="27776" y="0"/>
                  </a:moveTo>
                  <a:lnTo>
                    <a:pt x="1353320" y="0"/>
                  </a:lnTo>
                  <a:cubicBezTo>
                    <a:pt x="1368660" y="0"/>
                    <a:pt x="1381096" y="12436"/>
                    <a:pt x="1381096" y="27776"/>
                  </a:cubicBezTo>
                  <a:lnTo>
                    <a:pt x="1381096" y="644386"/>
                  </a:lnTo>
                  <a:cubicBezTo>
                    <a:pt x="1381096" y="659726"/>
                    <a:pt x="1368660" y="672161"/>
                    <a:pt x="1353320" y="672161"/>
                  </a:cubicBezTo>
                  <a:lnTo>
                    <a:pt x="27776" y="672161"/>
                  </a:lnTo>
                  <a:cubicBezTo>
                    <a:pt x="12436" y="672161"/>
                    <a:pt x="0" y="659726"/>
                    <a:pt x="0" y="644386"/>
                  </a:cubicBezTo>
                  <a:lnTo>
                    <a:pt x="0" y="27776"/>
                  </a:lnTo>
                  <a:cubicBezTo>
                    <a:pt x="0" y="12436"/>
                    <a:pt x="12436" y="0"/>
                    <a:pt x="27776" y="0"/>
                  </a:cubicBezTo>
                  <a:close/>
                </a:path>
              </a:pathLst>
            </a:custGeom>
            <a:solidFill>
              <a:srgbClr val="60A5FA"/>
            </a:solidFill>
          </p:spPr>
        </p:sp>
        <p:sp>
          <p:nvSpPr>
            <p:cNvPr name="TextBox 30" id="30"/>
            <p:cNvSpPr txBox="true"/>
            <p:nvPr/>
          </p:nvSpPr>
          <p:spPr>
            <a:xfrm>
              <a:off x="0" y="-47625"/>
              <a:ext cx="1381096" cy="719786"/>
            </a:xfrm>
            <a:prstGeom prst="rect">
              <a:avLst/>
            </a:prstGeom>
          </p:spPr>
          <p:txBody>
            <a:bodyPr anchor="ctr" rtlCol="false" tIns="50800" lIns="50800" bIns="50800" rIns="50800"/>
            <a:lstStyle/>
            <a:p>
              <a:pPr algn="ctr">
                <a:lnSpc>
                  <a:spcPts val="3499"/>
                </a:lnSpc>
              </a:pPr>
            </a:p>
          </p:txBody>
        </p:sp>
      </p:grpSp>
      <p:grpSp>
        <p:nvGrpSpPr>
          <p:cNvPr name="Group 31" id="31"/>
          <p:cNvGrpSpPr/>
          <p:nvPr/>
        </p:nvGrpSpPr>
        <p:grpSpPr>
          <a:xfrm rot="-5400000">
            <a:off x="9490000" y="7160394"/>
            <a:ext cx="448478" cy="360541"/>
            <a:chOff x="0" y="0"/>
            <a:chExt cx="647700" cy="520700"/>
          </a:xfrm>
        </p:grpSpPr>
        <p:sp>
          <p:nvSpPr>
            <p:cNvPr name="Freeform 32" id="32"/>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3" id="33"/>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TextBox 34" id="34"/>
          <p:cNvSpPr txBox="true"/>
          <p:nvPr/>
        </p:nvSpPr>
        <p:spPr>
          <a:xfrm rot="0">
            <a:off x="9533969" y="7836842"/>
            <a:ext cx="3818161" cy="1384830"/>
          </a:xfrm>
          <a:prstGeom prst="rect">
            <a:avLst/>
          </a:prstGeom>
        </p:spPr>
        <p:txBody>
          <a:bodyPr anchor="t" rtlCol="false" tIns="0" lIns="0" bIns="0" rIns="0">
            <a:spAutoFit/>
          </a:bodyPr>
          <a:lstStyle/>
          <a:p>
            <a:pPr algn="ctr">
              <a:lnSpc>
                <a:spcPts val="2790"/>
              </a:lnSpc>
            </a:pPr>
            <a:r>
              <a:rPr lang="en-US" b="true" sz="1993">
                <a:solidFill>
                  <a:srgbClr val="F4F9FD"/>
                </a:solidFill>
                <a:latin typeface="Open Sans Bold"/>
                <a:ea typeface="Open Sans Bold"/>
                <a:cs typeface="Open Sans Bold"/>
                <a:sym typeface="Open Sans Bold"/>
              </a:rPr>
              <a:t>3.</a:t>
            </a:r>
            <a:r>
              <a:rPr lang="en-US" b="true" sz="1993">
                <a:solidFill>
                  <a:srgbClr val="F4F9FD"/>
                </a:solidFill>
                <a:latin typeface="Open Sans Bold"/>
                <a:ea typeface="Open Sans Bold"/>
                <a:cs typeface="Open Sans Bold"/>
                <a:sym typeface="Open Sans Bold"/>
              </a:rPr>
              <a:t> Classical baseline</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Finite Difference Method</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N</a:t>
            </a:r>
            <a:r>
              <a:rPr lang="en-US" b="true" sz="1993">
                <a:solidFill>
                  <a:srgbClr val="F4F9FD"/>
                </a:solidFill>
                <a:latin typeface="Open Sans Bold"/>
                <a:ea typeface="Open Sans Bold"/>
                <a:cs typeface="Open Sans Bold"/>
                <a:sym typeface="Open Sans Bold"/>
              </a:rPr>
              <a:t> = 50, 100, 200, 400</a:t>
            </a:r>
          </a:p>
          <a:p>
            <a:pPr algn="ctr">
              <a:lnSpc>
                <a:spcPts val="2790"/>
              </a:lnSpc>
            </a:pPr>
          </a:p>
        </p:txBody>
      </p:sp>
      <p:grpSp>
        <p:nvGrpSpPr>
          <p:cNvPr name="Group 35" id="35"/>
          <p:cNvGrpSpPr/>
          <p:nvPr/>
        </p:nvGrpSpPr>
        <p:grpSpPr>
          <a:xfrm rot="0">
            <a:off x="13635303" y="7340665"/>
            <a:ext cx="4180952" cy="2579686"/>
            <a:chOff x="0" y="0"/>
            <a:chExt cx="1381096" cy="852149"/>
          </a:xfrm>
        </p:grpSpPr>
        <p:sp>
          <p:nvSpPr>
            <p:cNvPr name="Freeform 36" id="36"/>
            <p:cNvSpPr/>
            <p:nvPr/>
          </p:nvSpPr>
          <p:spPr>
            <a:xfrm flipH="false" flipV="false" rot="0">
              <a:off x="0" y="0"/>
              <a:ext cx="1381096" cy="852149"/>
            </a:xfrm>
            <a:custGeom>
              <a:avLst/>
              <a:gdLst/>
              <a:ahLst/>
              <a:cxnLst/>
              <a:rect r="r" b="b" t="t" l="l"/>
              <a:pathLst>
                <a:path h="852149" w="1381096">
                  <a:moveTo>
                    <a:pt x="27776" y="0"/>
                  </a:moveTo>
                  <a:lnTo>
                    <a:pt x="1353320" y="0"/>
                  </a:lnTo>
                  <a:cubicBezTo>
                    <a:pt x="1368660" y="0"/>
                    <a:pt x="1381096" y="12436"/>
                    <a:pt x="1381096" y="27776"/>
                  </a:cubicBezTo>
                  <a:lnTo>
                    <a:pt x="1381096" y="824373"/>
                  </a:lnTo>
                  <a:cubicBezTo>
                    <a:pt x="1381096" y="839713"/>
                    <a:pt x="1368660" y="852149"/>
                    <a:pt x="1353320" y="852149"/>
                  </a:cubicBezTo>
                  <a:lnTo>
                    <a:pt x="27776" y="852149"/>
                  </a:lnTo>
                  <a:cubicBezTo>
                    <a:pt x="12436" y="852149"/>
                    <a:pt x="0" y="839713"/>
                    <a:pt x="0" y="824373"/>
                  </a:cubicBezTo>
                  <a:lnTo>
                    <a:pt x="0" y="27776"/>
                  </a:lnTo>
                  <a:cubicBezTo>
                    <a:pt x="0" y="12436"/>
                    <a:pt x="12436" y="0"/>
                    <a:pt x="27776" y="0"/>
                  </a:cubicBezTo>
                  <a:close/>
                </a:path>
              </a:pathLst>
            </a:custGeom>
            <a:solidFill>
              <a:srgbClr val="60A5FA"/>
            </a:solidFill>
          </p:spPr>
        </p:sp>
        <p:sp>
          <p:nvSpPr>
            <p:cNvPr name="TextBox 37" id="37"/>
            <p:cNvSpPr txBox="true"/>
            <p:nvPr/>
          </p:nvSpPr>
          <p:spPr>
            <a:xfrm>
              <a:off x="0" y="-47625"/>
              <a:ext cx="1381096" cy="899774"/>
            </a:xfrm>
            <a:prstGeom prst="rect">
              <a:avLst/>
            </a:prstGeom>
          </p:spPr>
          <p:txBody>
            <a:bodyPr anchor="ctr" rtlCol="false" tIns="50800" lIns="50800" bIns="50800" rIns="50800"/>
            <a:lstStyle/>
            <a:p>
              <a:pPr algn="ctr">
                <a:lnSpc>
                  <a:spcPts val="3499"/>
                </a:lnSpc>
              </a:pPr>
            </a:p>
          </p:txBody>
        </p:sp>
      </p:grpSp>
      <p:grpSp>
        <p:nvGrpSpPr>
          <p:cNvPr name="Group 38" id="38"/>
          <p:cNvGrpSpPr/>
          <p:nvPr/>
        </p:nvGrpSpPr>
        <p:grpSpPr>
          <a:xfrm rot="-5400000">
            <a:off x="13885001" y="7160394"/>
            <a:ext cx="448478" cy="360541"/>
            <a:chOff x="0" y="0"/>
            <a:chExt cx="647700" cy="520700"/>
          </a:xfrm>
        </p:grpSpPr>
        <p:sp>
          <p:nvSpPr>
            <p:cNvPr name="Freeform 39" id="3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0" id="40"/>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TextBox 41" id="41"/>
          <p:cNvSpPr txBox="true"/>
          <p:nvPr/>
        </p:nvSpPr>
        <p:spPr>
          <a:xfrm rot="0">
            <a:off x="13928970" y="7836842"/>
            <a:ext cx="3818161" cy="2083509"/>
          </a:xfrm>
          <a:prstGeom prst="rect">
            <a:avLst/>
          </a:prstGeom>
        </p:spPr>
        <p:txBody>
          <a:bodyPr anchor="t" rtlCol="false" tIns="0" lIns="0" bIns="0" rIns="0">
            <a:spAutoFit/>
          </a:bodyPr>
          <a:lstStyle/>
          <a:p>
            <a:pPr algn="ctr">
              <a:lnSpc>
                <a:spcPts val="2790"/>
              </a:lnSpc>
            </a:pPr>
            <a:r>
              <a:rPr lang="en-US" b="true" sz="1993">
                <a:solidFill>
                  <a:srgbClr val="F4F9FD"/>
                </a:solidFill>
                <a:latin typeface="Open Sans Bold"/>
                <a:ea typeface="Open Sans Bold"/>
                <a:cs typeface="Open Sans Bold"/>
                <a:sym typeface="Open Sans Bold"/>
              </a:rPr>
              <a:t>4.</a:t>
            </a:r>
            <a:r>
              <a:rPr lang="en-US" b="true" sz="1993">
                <a:solidFill>
                  <a:srgbClr val="F4F9FD"/>
                </a:solidFill>
                <a:latin typeface="Open Sans Bold"/>
                <a:ea typeface="Open Sans Bold"/>
                <a:cs typeface="Open Sans Bold"/>
                <a:sym typeface="Open Sans Bold"/>
              </a:rPr>
              <a:t> Direct comparison</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Accuracy</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RMSE</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Computat</a:t>
            </a:r>
            <a:r>
              <a:rPr lang="en-US" b="true" sz="1993">
                <a:solidFill>
                  <a:srgbClr val="F4F9FD"/>
                </a:solidFill>
                <a:latin typeface="Open Sans Bold"/>
                <a:ea typeface="Open Sans Bold"/>
                <a:cs typeface="Open Sans Bold"/>
                <a:sym typeface="Open Sans Bold"/>
              </a:rPr>
              <a:t>ional time</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Grid convergence</a:t>
            </a:r>
          </a:p>
          <a:p>
            <a:pPr algn="ctr">
              <a:lnSpc>
                <a:spcPts val="2790"/>
              </a:lnSpc>
            </a:pPr>
          </a:p>
        </p:txBody>
      </p:sp>
      <p:grpSp>
        <p:nvGrpSpPr>
          <p:cNvPr name="Group 42" id="42"/>
          <p:cNvGrpSpPr/>
          <p:nvPr/>
        </p:nvGrpSpPr>
        <p:grpSpPr>
          <a:xfrm rot="0">
            <a:off x="1028700" y="3588879"/>
            <a:ext cx="3928440" cy="1193702"/>
            <a:chOff x="0" y="0"/>
            <a:chExt cx="1034651" cy="314391"/>
          </a:xfrm>
        </p:grpSpPr>
        <p:sp>
          <p:nvSpPr>
            <p:cNvPr name="Freeform 43" id="43"/>
            <p:cNvSpPr/>
            <p:nvPr/>
          </p:nvSpPr>
          <p:spPr>
            <a:xfrm flipH="false" flipV="false" rot="0">
              <a:off x="0" y="0"/>
              <a:ext cx="1034651" cy="314391"/>
            </a:xfrm>
            <a:custGeom>
              <a:avLst/>
              <a:gdLst/>
              <a:ahLst/>
              <a:cxnLst/>
              <a:rect r="r" b="b" t="t" l="l"/>
              <a:pathLst>
                <a:path h="314391" w="1034651">
                  <a:moveTo>
                    <a:pt x="29561" y="0"/>
                  </a:moveTo>
                  <a:lnTo>
                    <a:pt x="1005090" y="0"/>
                  </a:lnTo>
                  <a:cubicBezTo>
                    <a:pt x="1012930" y="0"/>
                    <a:pt x="1020449" y="3114"/>
                    <a:pt x="1025993" y="8658"/>
                  </a:cubicBezTo>
                  <a:cubicBezTo>
                    <a:pt x="1031537" y="14202"/>
                    <a:pt x="1034651" y="21721"/>
                    <a:pt x="1034651" y="29561"/>
                  </a:cubicBezTo>
                  <a:lnTo>
                    <a:pt x="1034651" y="284830"/>
                  </a:lnTo>
                  <a:cubicBezTo>
                    <a:pt x="1034651" y="292670"/>
                    <a:pt x="1031537" y="300189"/>
                    <a:pt x="1025993" y="305732"/>
                  </a:cubicBezTo>
                  <a:cubicBezTo>
                    <a:pt x="1020449" y="311276"/>
                    <a:pt x="1012930" y="314391"/>
                    <a:pt x="1005090" y="314391"/>
                  </a:cubicBezTo>
                  <a:lnTo>
                    <a:pt x="29561" y="314391"/>
                  </a:lnTo>
                  <a:cubicBezTo>
                    <a:pt x="21721" y="314391"/>
                    <a:pt x="14202" y="311276"/>
                    <a:pt x="8658" y="305732"/>
                  </a:cubicBezTo>
                  <a:cubicBezTo>
                    <a:pt x="3114" y="300189"/>
                    <a:pt x="0" y="292670"/>
                    <a:pt x="0" y="284830"/>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44" id="44"/>
            <p:cNvSpPr txBox="true"/>
            <p:nvPr/>
          </p:nvSpPr>
          <p:spPr>
            <a:xfrm>
              <a:off x="0" y="-47625"/>
              <a:ext cx="1034651" cy="362016"/>
            </a:xfrm>
            <a:prstGeom prst="rect">
              <a:avLst/>
            </a:prstGeom>
          </p:spPr>
          <p:txBody>
            <a:bodyPr anchor="ctr" rtlCol="false" tIns="50800" lIns="50800" bIns="50800" rIns="50800"/>
            <a:lstStyle/>
            <a:p>
              <a:pPr algn="ctr">
                <a:lnSpc>
                  <a:spcPts val="3499"/>
                </a:lnSpc>
              </a:pPr>
            </a:p>
          </p:txBody>
        </p:sp>
      </p:grpSp>
      <p:grpSp>
        <p:nvGrpSpPr>
          <p:cNvPr name="Group 45" id="45"/>
          <p:cNvGrpSpPr/>
          <p:nvPr/>
        </p:nvGrpSpPr>
        <p:grpSpPr>
          <a:xfrm rot="0">
            <a:off x="5128590" y="3588879"/>
            <a:ext cx="3871290" cy="1193702"/>
            <a:chOff x="0" y="0"/>
            <a:chExt cx="1019599" cy="314391"/>
          </a:xfrm>
        </p:grpSpPr>
        <p:sp>
          <p:nvSpPr>
            <p:cNvPr name="Freeform 46" id="46"/>
            <p:cNvSpPr/>
            <p:nvPr/>
          </p:nvSpPr>
          <p:spPr>
            <a:xfrm flipH="false" flipV="false" rot="0">
              <a:off x="0" y="0"/>
              <a:ext cx="1019599" cy="314391"/>
            </a:xfrm>
            <a:custGeom>
              <a:avLst/>
              <a:gdLst/>
              <a:ahLst/>
              <a:cxnLst/>
              <a:rect r="r" b="b" t="t" l="l"/>
              <a:pathLst>
                <a:path h="314391" w="1019599">
                  <a:moveTo>
                    <a:pt x="29997" y="0"/>
                  </a:moveTo>
                  <a:lnTo>
                    <a:pt x="989602" y="0"/>
                  </a:lnTo>
                  <a:cubicBezTo>
                    <a:pt x="997558" y="0"/>
                    <a:pt x="1005187" y="3160"/>
                    <a:pt x="1010813" y="8786"/>
                  </a:cubicBezTo>
                  <a:cubicBezTo>
                    <a:pt x="1016439" y="14412"/>
                    <a:pt x="1019599" y="22042"/>
                    <a:pt x="1019599" y="29997"/>
                  </a:cubicBezTo>
                  <a:lnTo>
                    <a:pt x="1019599" y="284393"/>
                  </a:lnTo>
                  <a:cubicBezTo>
                    <a:pt x="1019599" y="292349"/>
                    <a:pt x="1016439" y="299979"/>
                    <a:pt x="1010813" y="305605"/>
                  </a:cubicBezTo>
                  <a:cubicBezTo>
                    <a:pt x="1005187" y="311230"/>
                    <a:pt x="997558" y="314391"/>
                    <a:pt x="989602" y="314391"/>
                  </a:cubicBezTo>
                  <a:lnTo>
                    <a:pt x="29997" y="314391"/>
                  </a:lnTo>
                  <a:cubicBezTo>
                    <a:pt x="22042" y="314391"/>
                    <a:pt x="14412" y="311230"/>
                    <a:pt x="8786" y="305605"/>
                  </a:cubicBezTo>
                  <a:cubicBezTo>
                    <a:pt x="3160" y="299979"/>
                    <a:pt x="0" y="292349"/>
                    <a:pt x="0" y="284393"/>
                  </a:cubicBezTo>
                  <a:lnTo>
                    <a:pt x="0" y="29997"/>
                  </a:lnTo>
                  <a:cubicBezTo>
                    <a:pt x="0" y="22042"/>
                    <a:pt x="3160" y="14412"/>
                    <a:pt x="8786" y="8786"/>
                  </a:cubicBezTo>
                  <a:cubicBezTo>
                    <a:pt x="14412" y="3160"/>
                    <a:pt x="22042" y="0"/>
                    <a:pt x="29997" y="0"/>
                  </a:cubicBezTo>
                  <a:close/>
                </a:path>
              </a:pathLst>
            </a:custGeom>
            <a:solidFill>
              <a:srgbClr val="F4F9FD"/>
            </a:solidFill>
          </p:spPr>
        </p:sp>
        <p:sp>
          <p:nvSpPr>
            <p:cNvPr name="TextBox 47" id="47"/>
            <p:cNvSpPr txBox="true"/>
            <p:nvPr/>
          </p:nvSpPr>
          <p:spPr>
            <a:xfrm>
              <a:off x="0" y="-47625"/>
              <a:ext cx="1019599" cy="362016"/>
            </a:xfrm>
            <a:prstGeom prst="rect">
              <a:avLst/>
            </a:prstGeom>
          </p:spPr>
          <p:txBody>
            <a:bodyPr anchor="ctr" rtlCol="false" tIns="50800" lIns="50800" bIns="50800" rIns="50800"/>
            <a:lstStyle/>
            <a:p>
              <a:pPr algn="ctr">
                <a:lnSpc>
                  <a:spcPts val="3499"/>
                </a:lnSpc>
              </a:pPr>
            </a:p>
          </p:txBody>
        </p:sp>
      </p:grpSp>
      <p:grpSp>
        <p:nvGrpSpPr>
          <p:cNvPr name="Group 48" id="48"/>
          <p:cNvGrpSpPr/>
          <p:nvPr/>
        </p:nvGrpSpPr>
        <p:grpSpPr>
          <a:xfrm rot="0">
            <a:off x="9144000" y="3588879"/>
            <a:ext cx="4012921" cy="1193702"/>
            <a:chOff x="0" y="0"/>
            <a:chExt cx="1056901" cy="314391"/>
          </a:xfrm>
        </p:grpSpPr>
        <p:sp>
          <p:nvSpPr>
            <p:cNvPr name="Freeform 49" id="49"/>
            <p:cNvSpPr/>
            <p:nvPr/>
          </p:nvSpPr>
          <p:spPr>
            <a:xfrm flipH="false" flipV="false" rot="0">
              <a:off x="0" y="0"/>
              <a:ext cx="1056901" cy="314391"/>
            </a:xfrm>
            <a:custGeom>
              <a:avLst/>
              <a:gdLst/>
              <a:ahLst/>
              <a:cxnLst/>
              <a:rect r="r" b="b" t="t" l="l"/>
              <a:pathLst>
                <a:path h="314391" w="1056901">
                  <a:moveTo>
                    <a:pt x="28939" y="0"/>
                  </a:moveTo>
                  <a:lnTo>
                    <a:pt x="1027962" y="0"/>
                  </a:lnTo>
                  <a:cubicBezTo>
                    <a:pt x="1035637" y="0"/>
                    <a:pt x="1042998" y="3049"/>
                    <a:pt x="1048425" y="8476"/>
                  </a:cubicBezTo>
                  <a:cubicBezTo>
                    <a:pt x="1053852" y="13903"/>
                    <a:pt x="1056901" y="21264"/>
                    <a:pt x="1056901" y="28939"/>
                  </a:cubicBezTo>
                  <a:lnTo>
                    <a:pt x="1056901" y="285452"/>
                  </a:lnTo>
                  <a:cubicBezTo>
                    <a:pt x="1056901" y="293127"/>
                    <a:pt x="1053852" y="300488"/>
                    <a:pt x="1048425" y="305915"/>
                  </a:cubicBezTo>
                  <a:cubicBezTo>
                    <a:pt x="1042998" y="311342"/>
                    <a:pt x="1035637" y="314391"/>
                    <a:pt x="1027962" y="314391"/>
                  </a:cubicBezTo>
                  <a:lnTo>
                    <a:pt x="28939" y="314391"/>
                  </a:lnTo>
                  <a:cubicBezTo>
                    <a:pt x="21264" y="314391"/>
                    <a:pt x="13903" y="311342"/>
                    <a:pt x="8476" y="305915"/>
                  </a:cubicBezTo>
                  <a:cubicBezTo>
                    <a:pt x="3049" y="300488"/>
                    <a:pt x="0" y="293127"/>
                    <a:pt x="0" y="285452"/>
                  </a:cubicBezTo>
                  <a:lnTo>
                    <a:pt x="0" y="28939"/>
                  </a:lnTo>
                  <a:cubicBezTo>
                    <a:pt x="0" y="21264"/>
                    <a:pt x="3049" y="13903"/>
                    <a:pt x="8476" y="8476"/>
                  </a:cubicBezTo>
                  <a:cubicBezTo>
                    <a:pt x="13903" y="3049"/>
                    <a:pt x="21264" y="0"/>
                    <a:pt x="28939" y="0"/>
                  </a:cubicBezTo>
                  <a:close/>
                </a:path>
              </a:pathLst>
            </a:custGeom>
            <a:solidFill>
              <a:srgbClr val="F4F9FD"/>
            </a:solidFill>
          </p:spPr>
        </p:sp>
        <p:sp>
          <p:nvSpPr>
            <p:cNvPr name="TextBox 50" id="50"/>
            <p:cNvSpPr txBox="true"/>
            <p:nvPr/>
          </p:nvSpPr>
          <p:spPr>
            <a:xfrm>
              <a:off x="0" y="-47625"/>
              <a:ext cx="1056901" cy="362016"/>
            </a:xfrm>
            <a:prstGeom prst="rect">
              <a:avLst/>
            </a:prstGeom>
          </p:spPr>
          <p:txBody>
            <a:bodyPr anchor="ctr" rtlCol="false" tIns="50800" lIns="50800" bIns="50800" rIns="50800"/>
            <a:lstStyle/>
            <a:p>
              <a:pPr algn="ctr">
                <a:lnSpc>
                  <a:spcPts val="3499"/>
                </a:lnSpc>
              </a:pPr>
            </a:p>
          </p:txBody>
        </p:sp>
      </p:grpSp>
      <p:grpSp>
        <p:nvGrpSpPr>
          <p:cNvPr name="Group 51" id="51"/>
          <p:cNvGrpSpPr/>
          <p:nvPr/>
        </p:nvGrpSpPr>
        <p:grpSpPr>
          <a:xfrm rot="0">
            <a:off x="13330860" y="3588879"/>
            <a:ext cx="3928440" cy="1193702"/>
            <a:chOff x="0" y="0"/>
            <a:chExt cx="1034651" cy="314391"/>
          </a:xfrm>
        </p:grpSpPr>
        <p:sp>
          <p:nvSpPr>
            <p:cNvPr name="Freeform 52" id="52"/>
            <p:cNvSpPr/>
            <p:nvPr/>
          </p:nvSpPr>
          <p:spPr>
            <a:xfrm flipH="false" flipV="false" rot="0">
              <a:off x="0" y="0"/>
              <a:ext cx="1034651" cy="314391"/>
            </a:xfrm>
            <a:custGeom>
              <a:avLst/>
              <a:gdLst/>
              <a:ahLst/>
              <a:cxnLst/>
              <a:rect r="r" b="b" t="t" l="l"/>
              <a:pathLst>
                <a:path h="314391" w="1034651">
                  <a:moveTo>
                    <a:pt x="29561" y="0"/>
                  </a:moveTo>
                  <a:lnTo>
                    <a:pt x="1005090" y="0"/>
                  </a:lnTo>
                  <a:cubicBezTo>
                    <a:pt x="1012930" y="0"/>
                    <a:pt x="1020449" y="3114"/>
                    <a:pt x="1025993" y="8658"/>
                  </a:cubicBezTo>
                  <a:cubicBezTo>
                    <a:pt x="1031537" y="14202"/>
                    <a:pt x="1034651" y="21721"/>
                    <a:pt x="1034651" y="29561"/>
                  </a:cubicBezTo>
                  <a:lnTo>
                    <a:pt x="1034651" y="284830"/>
                  </a:lnTo>
                  <a:cubicBezTo>
                    <a:pt x="1034651" y="292670"/>
                    <a:pt x="1031537" y="300189"/>
                    <a:pt x="1025993" y="305732"/>
                  </a:cubicBezTo>
                  <a:cubicBezTo>
                    <a:pt x="1020449" y="311276"/>
                    <a:pt x="1012930" y="314391"/>
                    <a:pt x="1005090" y="314391"/>
                  </a:cubicBezTo>
                  <a:lnTo>
                    <a:pt x="29561" y="314391"/>
                  </a:lnTo>
                  <a:cubicBezTo>
                    <a:pt x="21721" y="314391"/>
                    <a:pt x="14202" y="311276"/>
                    <a:pt x="8658" y="305732"/>
                  </a:cubicBezTo>
                  <a:cubicBezTo>
                    <a:pt x="3114" y="300189"/>
                    <a:pt x="0" y="292670"/>
                    <a:pt x="0" y="284830"/>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53" id="53"/>
            <p:cNvSpPr txBox="true"/>
            <p:nvPr/>
          </p:nvSpPr>
          <p:spPr>
            <a:xfrm>
              <a:off x="0" y="-47625"/>
              <a:ext cx="1034651" cy="362016"/>
            </a:xfrm>
            <a:prstGeom prst="rect">
              <a:avLst/>
            </a:prstGeom>
          </p:spPr>
          <p:txBody>
            <a:bodyPr anchor="ctr" rtlCol="false" tIns="50800" lIns="50800" bIns="50800" rIns="50800"/>
            <a:lstStyle/>
            <a:p>
              <a:pPr algn="ctr">
                <a:lnSpc>
                  <a:spcPts val="3499"/>
                </a:lnSpc>
              </a:pPr>
            </a:p>
          </p:txBody>
        </p:sp>
      </p:grpSp>
      <p:sp>
        <p:nvSpPr>
          <p:cNvPr name="TextBox 54" id="54"/>
          <p:cNvSpPr txBox="true"/>
          <p:nvPr/>
        </p:nvSpPr>
        <p:spPr>
          <a:xfrm rot="0">
            <a:off x="1432349" y="3922155"/>
            <a:ext cx="3121143" cy="422275"/>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REFERENCE</a:t>
            </a:r>
            <a:r>
              <a:rPr lang="en-US" b="true" sz="2499">
                <a:solidFill>
                  <a:srgbClr val="1E293B"/>
                </a:solidFill>
                <a:latin typeface="Open Sans Bold"/>
                <a:ea typeface="Open Sans Bold"/>
                <a:cs typeface="Open Sans Bold"/>
                <a:sym typeface="Open Sans Bold"/>
              </a:rPr>
              <a:t> PAPER</a:t>
            </a:r>
          </a:p>
        </p:txBody>
      </p:sp>
      <p:sp>
        <p:nvSpPr>
          <p:cNvPr name="TextBox 55" id="55"/>
          <p:cNvSpPr txBox="true"/>
          <p:nvPr/>
        </p:nvSpPr>
        <p:spPr>
          <a:xfrm rot="0">
            <a:off x="5516212" y="3922155"/>
            <a:ext cx="3121143" cy="860425"/>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Our Research</a:t>
            </a:r>
            <a:r>
              <a:rPr lang="en-US" b="true" sz="2499">
                <a:solidFill>
                  <a:srgbClr val="1E293B"/>
                </a:solidFill>
                <a:latin typeface="Open Sans Bold"/>
                <a:ea typeface="Open Sans Bold"/>
                <a:cs typeface="Open Sans Bold"/>
                <a:sym typeface="Open Sans Bold"/>
              </a:rPr>
              <a:t> Questions</a:t>
            </a:r>
          </a:p>
        </p:txBody>
      </p:sp>
      <p:sp>
        <p:nvSpPr>
          <p:cNvPr name="TextBox 56" id="56"/>
          <p:cNvSpPr txBox="true"/>
          <p:nvPr/>
        </p:nvSpPr>
        <p:spPr>
          <a:xfrm rot="0">
            <a:off x="9619006" y="3922155"/>
            <a:ext cx="3121143" cy="422275"/>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OUR</a:t>
            </a:r>
            <a:r>
              <a:rPr lang="en-US" b="true" sz="2499">
                <a:solidFill>
                  <a:srgbClr val="1E293B"/>
                </a:solidFill>
                <a:latin typeface="Open Sans Bold"/>
                <a:ea typeface="Open Sans Bold"/>
                <a:cs typeface="Open Sans Bold"/>
                <a:sym typeface="Open Sans Bold"/>
              </a:rPr>
              <a:t> EXTENSION</a:t>
            </a:r>
          </a:p>
        </p:txBody>
      </p:sp>
      <p:sp>
        <p:nvSpPr>
          <p:cNvPr name="TextBox 57" id="57"/>
          <p:cNvSpPr txBox="true"/>
          <p:nvPr/>
        </p:nvSpPr>
        <p:spPr>
          <a:xfrm rot="0">
            <a:off x="13814146" y="3922155"/>
            <a:ext cx="3121143" cy="422275"/>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Key Categ</a:t>
            </a:r>
            <a:r>
              <a:rPr lang="en-US" b="true" sz="2499">
                <a:solidFill>
                  <a:srgbClr val="1E293B"/>
                </a:solidFill>
                <a:latin typeface="Open Sans Bold"/>
                <a:ea typeface="Open Sans Bold"/>
                <a:cs typeface="Open Sans Bold"/>
                <a:sym typeface="Open Sans Bold"/>
              </a:rPr>
              <a:t>ories</a:t>
            </a:r>
          </a:p>
        </p:txBody>
      </p:sp>
      <p:sp>
        <p:nvSpPr>
          <p:cNvPr name="TextBox 58" id="58"/>
          <p:cNvSpPr txBox="true"/>
          <p:nvPr/>
        </p:nvSpPr>
        <p:spPr>
          <a:xfrm rot="0">
            <a:off x="1028700" y="2233929"/>
            <a:ext cx="15819893"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Research Gap → Our Extension</a:t>
            </a:r>
          </a:p>
        </p:txBody>
      </p:sp>
      <p:grpSp>
        <p:nvGrpSpPr>
          <p:cNvPr name="Group 59" id="59"/>
          <p:cNvGrpSpPr/>
          <p:nvPr/>
        </p:nvGrpSpPr>
        <p:grpSpPr>
          <a:xfrm rot="0">
            <a:off x="4782270" y="3931006"/>
            <a:ext cx="562492" cy="452200"/>
            <a:chOff x="0" y="0"/>
            <a:chExt cx="647700" cy="520700"/>
          </a:xfrm>
        </p:grpSpPr>
        <p:sp>
          <p:nvSpPr>
            <p:cNvPr name="Freeform 60" id="6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61" id="61"/>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62" id="62"/>
          <p:cNvGrpSpPr/>
          <p:nvPr/>
        </p:nvGrpSpPr>
        <p:grpSpPr>
          <a:xfrm rot="0">
            <a:off x="8827914" y="3931006"/>
            <a:ext cx="562492" cy="452200"/>
            <a:chOff x="0" y="0"/>
            <a:chExt cx="647700" cy="520700"/>
          </a:xfrm>
        </p:grpSpPr>
        <p:sp>
          <p:nvSpPr>
            <p:cNvPr name="Freeform 63" id="6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64" id="64"/>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65" id="65"/>
          <p:cNvGrpSpPr/>
          <p:nvPr/>
        </p:nvGrpSpPr>
        <p:grpSpPr>
          <a:xfrm rot="0">
            <a:off x="12968749" y="3931006"/>
            <a:ext cx="562492" cy="452200"/>
            <a:chOff x="0" y="0"/>
            <a:chExt cx="647700" cy="520700"/>
          </a:xfrm>
        </p:grpSpPr>
        <p:sp>
          <p:nvSpPr>
            <p:cNvPr name="Freeform 66" id="6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67" id="67"/>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3919401" y="-139525"/>
            <a:ext cx="4672899" cy="2336449"/>
          </a:xfrm>
          <a:custGeom>
            <a:avLst/>
            <a:gdLst/>
            <a:ahLst/>
            <a:cxnLst/>
            <a:rect r="r" b="b" t="t" l="l"/>
            <a:pathLst>
              <a:path h="2336449" w="4672899">
                <a:moveTo>
                  <a:pt x="0" y="2336450"/>
                </a:moveTo>
                <a:lnTo>
                  <a:pt x="4672899" y="2336450"/>
                </a:lnTo>
                <a:lnTo>
                  <a:pt x="4672899" y="0"/>
                </a:lnTo>
                <a:lnTo>
                  <a:pt x="0" y="0"/>
                </a:lnTo>
                <a:lnTo>
                  <a:pt x="0" y="233645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11804" y="137265"/>
            <a:ext cx="17432941" cy="686333"/>
            <a:chOff x="0" y="0"/>
            <a:chExt cx="23243921" cy="915111"/>
          </a:xfrm>
        </p:grpSpPr>
        <p:sp>
          <p:nvSpPr>
            <p:cNvPr name="Freeform 4" id="4"/>
            <p:cNvSpPr/>
            <p:nvPr/>
          </p:nvSpPr>
          <p:spPr>
            <a:xfrm flipH="false" flipV="false" rot="0">
              <a:off x="0" y="0"/>
              <a:ext cx="23243919" cy="915115"/>
            </a:xfrm>
            <a:custGeom>
              <a:avLst/>
              <a:gdLst/>
              <a:ahLst/>
              <a:cxnLst/>
              <a:rect r="r" b="b" t="t" l="l"/>
              <a:pathLst>
                <a:path h="915115" w="23243919">
                  <a:moveTo>
                    <a:pt x="0" y="0"/>
                  </a:moveTo>
                  <a:lnTo>
                    <a:pt x="23243919" y="0"/>
                  </a:lnTo>
                  <a:lnTo>
                    <a:pt x="23243919" y="915115"/>
                  </a:lnTo>
                  <a:lnTo>
                    <a:pt x="0" y="915115"/>
                  </a:lnTo>
                  <a:close/>
                </a:path>
              </a:pathLst>
            </a:custGeom>
            <a:blipFill>
              <a:blip r:embed="rId4">
                <a:alphaModFix amt="0"/>
              </a:blip>
              <a:stretch>
                <a:fillRect l="0" t="-444920" r="0" b="-444919"/>
              </a:stretch>
            </a:blipFill>
          </p:spPr>
        </p:sp>
        <p:sp>
          <p:nvSpPr>
            <p:cNvPr name="TextBox 5" id="5"/>
            <p:cNvSpPr txBox="true"/>
            <p:nvPr/>
          </p:nvSpPr>
          <p:spPr>
            <a:xfrm>
              <a:off x="0" y="-66675"/>
              <a:ext cx="23243921" cy="981786"/>
            </a:xfrm>
            <a:prstGeom prst="rect">
              <a:avLst/>
            </a:prstGeom>
          </p:spPr>
          <p:txBody>
            <a:bodyPr anchor="ctr" rtlCol="false" tIns="0" lIns="0" bIns="0" rIns="0"/>
            <a:lstStyle/>
            <a:p>
              <a:pPr algn="ctr">
                <a:lnSpc>
                  <a:spcPts val="3963"/>
                </a:lnSpc>
              </a:pPr>
              <a:r>
                <a:rPr lang="en-US" sz="3302" b="true">
                  <a:solidFill>
                    <a:srgbClr val="1F2933"/>
                  </a:solidFill>
                  <a:latin typeface="Calibri (MS) Bold"/>
                  <a:ea typeface="Calibri (MS) Bold"/>
                  <a:cs typeface="Calibri (MS) Bold"/>
                  <a:sym typeface="Calibri (MS) Bold"/>
                </a:rPr>
                <a:t>Architecture: PINN Framework for Singular Three-Point BVPs  +  Finite-Difference Extension</a:t>
              </a:r>
            </a:p>
          </p:txBody>
        </p:sp>
      </p:grpSp>
      <p:grpSp>
        <p:nvGrpSpPr>
          <p:cNvPr name="Group 6" id="6"/>
          <p:cNvGrpSpPr/>
          <p:nvPr/>
        </p:nvGrpSpPr>
        <p:grpSpPr>
          <a:xfrm rot="0">
            <a:off x="397507" y="1297769"/>
            <a:ext cx="2224869" cy="6823329"/>
            <a:chOff x="0" y="0"/>
            <a:chExt cx="2966491" cy="9097772"/>
          </a:xfrm>
        </p:grpSpPr>
        <p:sp>
          <p:nvSpPr>
            <p:cNvPr name="Freeform 7" id="7"/>
            <p:cNvSpPr/>
            <p:nvPr/>
          </p:nvSpPr>
          <p:spPr>
            <a:xfrm flipH="false" flipV="false" rot="0">
              <a:off x="0" y="0"/>
              <a:ext cx="2966466" cy="9097772"/>
            </a:xfrm>
            <a:custGeom>
              <a:avLst/>
              <a:gdLst/>
              <a:ahLst/>
              <a:cxnLst/>
              <a:rect r="r" b="b" t="t" l="l"/>
              <a:pathLst>
                <a:path h="9097772" w="2966466">
                  <a:moveTo>
                    <a:pt x="0" y="355981"/>
                  </a:moveTo>
                  <a:cubicBezTo>
                    <a:pt x="0" y="159385"/>
                    <a:pt x="159385" y="0"/>
                    <a:pt x="355981" y="0"/>
                  </a:cubicBezTo>
                  <a:lnTo>
                    <a:pt x="2610485" y="0"/>
                  </a:lnTo>
                  <a:cubicBezTo>
                    <a:pt x="2807081" y="0"/>
                    <a:pt x="2966466" y="159385"/>
                    <a:pt x="2966466" y="355981"/>
                  </a:cubicBezTo>
                  <a:lnTo>
                    <a:pt x="2966466" y="8741791"/>
                  </a:lnTo>
                  <a:cubicBezTo>
                    <a:pt x="2966466" y="8938387"/>
                    <a:pt x="2807081" y="9097772"/>
                    <a:pt x="2610485" y="9097772"/>
                  </a:cubicBezTo>
                  <a:lnTo>
                    <a:pt x="355981" y="9097772"/>
                  </a:lnTo>
                  <a:cubicBezTo>
                    <a:pt x="159385" y="9097772"/>
                    <a:pt x="0" y="8938387"/>
                    <a:pt x="0" y="8741791"/>
                  </a:cubicBezTo>
                  <a:close/>
                </a:path>
              </a:pathLst>
            </a:custGeom>
            <a:solidFill>
              <a:srgbClr val="EDEDED"/>
            </a:solidFill>
            <a:ln w="28597" cap="sq">
              <a:solidFill>
                <a:srgbClr val="6B6B6B"/>
              </a:solidFill>
              <a:prstDash val="solid"/>
              <a:miter/>
            </a:ln>
          </p:spPr>
        </p:sp>
        <p:sp>
          <p:nvSpPr>
            <p:cNvPr name="TextBox 8" id="8"/>
            <p:cNvSpPr txBox="true"/>
            <p:nvPr/>
          </p:nvSpPr>
          <p:spPr>
            <a:xfrm>
              <a:off x="0" y="-38100"/>
              <a:ext cx="2966491" cy="9135872"/>
            </a:xfrm>
            <a:prstGeom prst="rect">
              <a:avLst/>
            </a:prstGeom>
          </p:spPr>
          <p:txBody>
            <a:bodyPr anchor="ctr" rtlCol="false" tIns="50800" lIns="50800" bIns="50800" rIns="50800"/>
            <a:lstStyle/>
            <a:p>
              <a:pPr algn="ctr">
                <a:lnSpc>
                  <a:spcPts val="2161"/>
                </a:lnSpc>
              </a:pPr>
              <a:r>
                <a:rPr lang="en-US" sz="1801" b="true">
                  <a:solidFill>
                    <a:srgbClr val="1F2933"/>
                  </a:solidFill>
                  <a:latin typeface="Calibri (MS) Bold"/>
                  <a:ea typeface="Calibri (MS) Bold"/>
                  <a:cs typeface="Calibri (MS) Bold"/>
                  <a:sym typeface="Calibri (MS) Bold"/>
                </a:rPr>
                <a:t>Singular TPS-BVP</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Ex 3.1: y = sin πt</a:t>
              </a:r>
            </a:p>
            <a:p>
              <a:pPr algn="ctr">
                <a:lnSpc>
                  <a:spcPts val="1801"/>
                </a:lnSpc>
              </a:pPr>
              <a:r>
                <a:rPr lang="en-US" sz="1501">
                  <a:solidFill>
                    <a:srgbClr val="1F2933"/>
                  </a:solidFill>
                  <a:latin typeface="Calibri (MS)"/>
                  <a:ea typeface="Calibri (MS)"/>
                  <a:cs typeface="Calibri (MS)"/>
                  <a:sym typeface="Calibri (MS)"/>
                </a:rPr>
                <a:t>Ex 3.2: y = sinh t</a:t>
              </a:r>
            </a:p>
            <a:p>
              <a:pPr algn="ctr">
                <a:lnSpc>
                  <a:spcPts val="1801"/>
                </a:lnSpc>
              </a:pPr>
              <a:r>
                <a:rPr lang="en-US" sz="1501">
                  <a:solidFill>
                    <a:srgbClr val="1F2933"/>
                  </a:solidFill>
                  <a:latin typeface="Calibri (MS)"/>
                  <a:ea typeface="Calibri (MS)"/>
                  <a:cs typeface="Calibri (MS)"/>
                  <a:sym typeface="Calibri (MS)"/>
                </a:rPr>
                <a:t>Ex 3.3: nonlinear, y = sinh t</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Singular coeffs:</a:t>
              </a:r>
            </a:p>
            <a:p>
              <a:pPr algn="ctr">
                <a:lnSpc>
                  <a:spcPts val="1801"/>
                </a:lnSpc>
              </a:pPr>
              <a:r>
                <a:rPr lang="en-US" sz="1501">
                  <a:solidFill>
                    <a:srgbClr val="1F2933"/>
                  </a:solidFill>
                  <a:latin typeface="Calibri (MS)"/>
                  <a:ea typeface="Calibri (MS)"/>
                  <a:cs typeface="Calibri (MS)"/>
                  <a:sym typeface="Calibri (MS)"/>
                </a:rPr>
                <a:t>1/t, 1/[t(1−t)]</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Three-point BC:</a:t>
              </a:r>
            </a:p>
            <a:p>
              <a:pPr algn="ctr">
                <a:lnSpc>
                  <a:spcPts val="1801"/>
                </a:lnSpc>
              </a:pPr>
              <a:r>
                <a:rPr lang="en-US" sz="1501">
                  <a:solidFill>
                    <a:srgbClr val="1F2933"/>
                  </a:solidFill>
                  <a:latin typeface="Calibri (MS)"/>
                  <a:ea typeface="Calibri (MS)"/>
                  <a:cs typeface="Calibri (MS)"/>
                  <a:sym typeface="Calibri (MS)"/>
                </a:rPr>
                <a:t>y(0)=α</a:t>
              </a:r>
            </a:p>
            <a:p>
              <a:pPr algn="ctr">
                <a:lnSpc>
                  <a:spcPts val="1801"/>
                </a:lnSpc>
              </a:pPr>
              <a:r>
                <a:rPr lang="en-US" sz="1501">
                  <a:solidFill>
                    <a:srgbClr val="1F2933"/>
                  </a:solidFill>
                  <a:latin typeface="Calibri (MS)"/>
                  <a:ea typeface="Calibri (MS)"/>
                  <a:cs typeface="Calibri (MS)"/>
                  <a:sym typeface="Calibri (MS)"/>
                </a:rPr>
                <a:t>y(1)=ε·y(θ)+β</a:t>
              </a:r>
            </a:p>
          </p:txBody>
        </p:sp>
      </p:grpSp>
      <p:grpSp>
        <p:nvGrpSpPr>
          <p:cNvPr name="Group 9" id="9"/>
          <p:cNvGrpSpPr/>
          <p:nvPr/>
        </p:nvGrpSpPr>
        <p:grpSpPr>
          <a:xfrm rot="0">
            <a:off x="2873083" y="1088603"/>
            <a:ext cx="11618147" cy="4246893"/>
            <a:chOff x="0" y="0"/>
            <a:chExt cx="15490863" cy="5662524"/>
          </a:xfrm>
        </p:grpSpPr>
        <p:sp>
          <p:nvSpPr>
            <p:cNvPr name="Freeform 10" id="10"/>
            <p:cNvSpPr/>
            <p:nvPr/>
          </p:nvSpPr>
          <p:spPr>
            <a:xfrm flipH="false" flipV="false" rot="0">
              <a:off x="0" y="0"/>
              <a:ext cx="15490825" cy="5662549"/>
            </a:xfrm>
            <a:custGeom>
              <a:avLst/>
              <a:gdLst/>
              <a:ahLst/>
              <a:cxnLst/>
              <a:rect r="r" b="b" t="t" l="l"/>
              <a:pathLst>
                <a:path h="5662549" w="15490825">
                  <a:moveTo>
                    <a:pt x="0" y="0"/>
                  </a:moveTo>
                  <a:lnTo>
                    <a:pt x="15490825" y="0"/>
                  </a:lnTo>
                  <a:lnTo>
                    <a:pt x="15490825" y="5662549"/>
                  </a:lnTo>
                  <a:lnTo>
                    <a:pt x="0" y="5662549"/>
                  </a:lnTo>
                  <a:close/>
                </a:path>
              </a:pathLst>
            </a:custGeom>
            <a:blipFill>
              <a:blip r:embed="rId4">
                <a:alphaModFix amt="0"/>
              </a:blip>
              <a:stretch>
                <a:fillRect l="0" t="-3304" r="0" b="-3304"/>
              </a:stretch>
            </a:blipFill>
            <a:ln w="19065" cap="sq">
              <a:solidFill>
                <a:srgbClr val="2F6DB5"/>
              </a:solidFill>
              <a:prstDash val="dash"/>
              <a:miter/>
            </a:ln>
          </p:spPr>
        </p:sp>
      </p:grpSp>
      <p:sp>
        <p:nvSpPr>
          <p:cNvPr name="TextBox 11" id="11"/>
          <p:cNvSpPr txBox="true"/>
          <p:nvPr/>
        </p:nvSpPr>
        <p:spPr>
          <a:xfrm rot="0">
            <a:off x="2996965" y="1073744"/>
            <a:ext cx="11507638" cy="326403"/>
          </a:xfrm>
          <a:prstGeom prst="rect">
            <a:avLst/>
          </a:prstGeom>
        </p:spPr>
        <p:txBody>
          <a:bodyPr anchor="t" rtlCol="false" tIns="0" lIns="0" bIns="0" rIns="0">
            <a:spAutoFit/>
          </a:bodyPr>
          <a:lstStyle/>
          <a:p>
            <a:pPr algn="l">
              <a:lnSpc>
                <a:spcPts val="1801"/>
              </a:lnSpc>
            </a:pPr>
            <a:r>
              <a:rPr lang="en-US" sz="1501" b="true">
                <a:solidFill>
                  <a:srgbClr val="2F6DB5"/>
                </a:solidFill>
                <a:latin typeface="Calibri (MS) Bold"/>
                <a:ea typeface="Calibri (MS) Bold"/>
                <a:cs typeface="Calibri (MS) Bold"/>
                <a:sym typeface="Calibri (MS) Bold"/>
              </a:rPr>
              <a:t>LANE 1 · PINN (paper framework + our modifications)</a:t>
            </a:r>
          </a:p>
        </p:txBody>
      </p:sp>
      <p:grpSp>
        <p:nvGrpSpPr>
          <p:cNvPr name="Group 12" id="12"/>
          <p:cNvGrpSpPr/>
          <p:nvPr/>
        </p:nvGrpSpPr>
        <p:grpSpPr>
          <a:xfrm rot="0">
            <a:off x="3074213" y="1564272"/>
            <a:ext cx="1950339" cy="1401270"/>
            <a:chOff x="0" y="0"/>
            <a:chExt cx="2600452" cy="1868360"/>
          </a:xfrm>
        </p:grpSpPr>
        <p:sp>
          <p:nvSpPr>
            <p:cNvPr name="Freeform 13" id="13"/>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FDE6CF"/>
            </a:solidFill>
            <a:ln w="28597" cap="sq">
              <a:solidFill>
                <a:srgbClr val="D9731A"/>
              </a:solidFill>
              <a:prstDash val="solid"/>
              <a:miter/>
            </a:ln>
          </p:spPr>
        </p:sp>
        <p:sp>
          <p:nvSpPr>
            <p:cNvPr name="TextBox 14" id="14"/>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Stabilized residual</a:t>
              </a:r>
            </a:p>
            <a:p>
              <a:pPr algn="ctr">
                <a:lnSpc>
                  <a:spcPts val="1801"/>
                </a:lnSpc>
              </a:pPr>
              <a:r>
                <a:rPr lang="en-US" sz="1501">
                  <a:solidFill>
                    <a:srgbClr val="1F2933"/>
                  </a:solidFill>
                  <a:latin typeface="Calibri (MS)"/>
                  <a:ea typeface="Calibri (MS)"/>
                  <a:cs typeface="Calibri (MS)"/>
                  <a:sym typeface="Calibri (MS)"/>
                </a:rPr>
                <a:t>× t  or  × t(1−t)</a:t>
              </a:r>
            </a:p>
            <a:p>
              <a:pPr algn="ctr">
                <a:lnSpc>
                  <a:spcPts val="1801"/>
                </a:lnSpc>
              </a:pPr>
              <a:r>
                <a:rPr lang="en-US" sz="1501">
                  <a:solidFill>
                    <a:srgbClr val="1F2933"/>
                  </a:solidFill>
                  <a:latin typeface="Calibri (MS)"/>
                  <a:ea typeface="Calibri (MS)"/>
                  <a:cs typeface="Calibri (MS)"/>
                  <a:sym typeface="Calibri (MS)"/>
                </a:rPr>
                <a:t>(equivalent on (0,1))</a:t>
              </a:r>
            </a:p>
          </p:txBody>
        </p:sp>
      </p:grpSp>
      <p:grpSp>
        <p:nvGrpSpPr>
          <p:cNvPr name="Group 15" id="15"/>
          <p:cNvGrpSpPr/>
          <p:nvPr/>
        </p:nvGrpSpPr>
        <p:grpSpPr>
          <a:xfrm rot="0">
            <a:off x="5407762" y="1564272"/>
            <a:ext cx="1950339" cy="1401270"/>
            <a:chOff x="0" y="0"/>
            <a:chExt cx="2600452" cy="1868360"/>
          </a:xfrm>
        </p:grpSpPr>
        <p:sp>
          <p:nvSpPr>
            <p:cNvPr name="Freeform 16" id="16"/>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FDE6CF"/>
            </a:solidFill>
            <a:ln w="28597" cap="sq">
              <a:solidFill>
                <a:srgbClr val="D9731A"/>
              </a:solidFill>
              <a:prstDash val="solid"/>
              <a:miter/>
            </a:ln>
          </p:spPr>
        </p:sp>
        <p:sp>
          <p:nvSpPr>
            <p:cNvPr name="TextBox 17" id="17"/>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Collocation points</a:t>
              </a:r>
            </a:p>
            <a:p>
              <a:pPr algn="ctr">
                <a:lnSpc>
                  <a:spcPts val="1801"/>
                </a:lnSpc>
              </a:pPr>
              <a:r>
                <a:rPr lang="en-US" sz="1501">
                  <a:solidFill>
                    <a:srgbClr val="1F2933"/>
                  </a:solidFill>
                  <a:latin typeface="Calibri (MS)"/>
                  <a:ea typeface="Calibri (MS)"/>
                  <a:cs typeface="Calibri (MS)"/>
                  <a:sym typeface="Calibri (MS)"/>
                </a:rPr>
                <a:t>N = 500</a:t>
              </a:r>
            </a:p>
            <a:p>
              <a:pPr algn="ctr">
                <a:lnSpc>
                  <a:spcPts val="1801"/>
                </a:lnSpc>
              </a:pPr>
              <a:r>
                <a:rPr lang="en-US" sz="1501">
                  <a:solidFill>
                    <a:srgbClr val="1F2933"/>
                  </a:solidFill>
                  <a:latin typeface="Calibri (MS)"/>
                  <a:ea typeface="Calibri (MS)"/>
                  <a:cs typeface="Calibri (MS)"/>
                  <a:sym typeface="Calibri (MS)"/>
                </a:rPr>
                <a:t>in [1e-3, 1−1e-3]</a:t>
              </a:r>
            </a:p>
            <a:p>
              <a:pPr algn="ctr">
                <a:lnSpc>
                  <a:spcPts val="1801"/>
                </a:lnSpc>
              </a:pPr>
              <a:r>
                <a:rPr lang="en-US" sz="1501">
                  <a:solidFill>
                    <a:srgbClr val="1F2933"/>
                  </a:solidFill>
                  <a:latin typeface="Calibri (MS)"/>
                  <a:ea typeface="Calibri (MS)"/>
                  <a:cs typeface="Calibri (MS)"/>
                  <a:sym typeface="Calibri (MS)"/>
                </a:rPr>
                <a:t>(paper: 1500)</a:t>
              </a:r>
            </a:p>
          </p:txBody>
        </p:sp>
      </p:grpSp>
      <p:grpSp>
        <p:nvGrpSpPr>
          <p:cNvPr name="Group 18" id="18"/>
          <p:cNvGrpSpPr/>
          <p:nvPr/>
        </p:nvGrpSpPr>
        <p:grpSpPr>
          <a:xfrm rot="0">
            <a:off x="7741301" y="1564272"/>
            <a:ext cx="1950339" cy="1401270"/>
            <a:chOff x="0" y="0"/>
            <a:chExt cx="2600452" cy="1868360"/>
          </a:xfrm>
        </p:grpSpPr>
        <p:sp>
          <p:nvSpPr>
            <p:cNvPr name="Freeform 19" id="19"/>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DCE9F7"/>
            </a:solidFill>
            <a:ln w="28597" cap="sq">
              <a:solidFill>
                <a:srgbClr val="2F6DB5"/>
              </a:solidFill>
              <a:prstDash val="solid"/>
              <a:miter/>
            </a:ln>
          </p:spPr>
        </p:sp>
        <p:sp>
          <p:nvSpPr>
            <p:cNvPr name="TextBox 20" id="20"/>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MLP</a:t>
              </a:r>
            </a:p>
            <a:p>
              <a:pPr algn="ctr">
                <a:lnSpc>
                  <a:spcPts val="1801"/>
                </a:lnSpc>
              </a:pPr>
              <a:r>
                <a:rPr lang="en-US" sz="1501">
                  <a:solidFill>
                    <a:srgbClr val="1F2933"/>
                  </a:solidFill>
                  <a:latin typeface="Calibri (MS)"/>
                  <a:ea typeface="Calibri (MS)"/>
                  <a:cs typeface="Calibri (MS)"/>
                  <a:sym typeface="Calibri (MS)"/>
                </a:rPr>
                <a:t>1→20→20→20→1</a:t>
              </a:r>
            </a:p>
            <a:p>
              <a:pPr algn="ctr">
                <a:lnSpc>
                  <a:spcPts val="1801"/>
                </a:lnSpc>
              </a:pPr>
              <a:r>
                <a:rPr lang="en-US" sz="1501">
                  <a:solidFill>
                    <a:srgbClr val="1F2933"/>
                  </a:solidFill>
                  <a:latin typeface="Calibri (MS)"/>
                  <a:ea typeface="Calibri (MS)"/>
                  <a:cs typeface="Calibri (MS)"/>
                  <a:sym typeface="Calibri (MS)"/>
                </a:rPr>
                <a:t>tanh, PyTorch,</a:t>
              </a:r>
            </a:p>
            <a:p>
              <a:pPr algn="ctr">
                <a:lnSpc>
                  <a:spcPts val="1801"/>
                </a:lnSpc>
              </a:pPr>
              <a:r>
                <a:rPr lang="en-US" sz="1501">
                  <a:solidFill>
                    <a:srgbClr val="1F2933"/>
                  </a:solidFill>
                  <a:latin typeface="Calibri (MS)"/>
                  <a:ea typeface="Calibri (MS)"/>
                  <a:cs typeface="Calibri (MS)"/>
                  <a:sym typeface="Calibri (MS)"/>
                </a:rPr>
                <a:t>CUDA / MPS / CPU</a:t>
              </a:r>
            </a:p>
          </p:txBody>
        </p:sp>
      </p:grpSp>
      <p:grpSp>
        <p:nvGrpSpPr>
          <p:cNvPr name="Group 21" id="21"/>
          <p:cNvGrpSpPr/>
          <p:nvPr/>
        </p:nvGrpSpPr>
        <p:grpSpPr>
          <a:xfrm rot="0">
            <a:off x="10074840" y="1564272"/>
            <a:ext cx="1950339" cy="1401270"/>
            <a:chOff x="0" y="0"/>
            <a:chExt cx="2600452" cy="1868360"/>
          </a:xfrm>
        </p:grpSpPr>
        <p:sp>
          <p:nvSpPr>
            <p:cNvPr name="Freeform 22" id="22"/>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DCE9F7"/>
            </a:solidFill>
            <a:ln w="28597" cap="sq">
              <a:solidFill>
                <a:srgbClr val="2F6DB5"/>
              </a:solidFill>
              <a:prstDash val="solid"/>
              <a:miter/>
            </a:ln>
          </p:spPr>
        </p:sp>
        <p:sp>
          <p:nvSpPr>
            <p:cNvPr name="TextBox 23" id="23"/>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Autograd</a:t>
              </a:r>
            </a:p>
            <a:p>
              <a:pPr algn="ctr">
                <a:lnSpc>
                  <a:spcPts val="1801"/>
                </a:lnSpc>
              </a:pPr>
              <a:r>
                <a:rPr lang="en-US" sz="1501">
                  <a:solidFill>
                    <a:srgbClr val="1F2933"/>
                  </a:solidFill>
                  <a:latin typeface="Calibri (MS)"/>
                  <a:ea typeface="Calibri (MS)"/>
                  <a:cs typeface="Calibri (MS)"/>
                  <a:sym typeface="Calibri (MS)"/>
                </a:rPr>
                <a:t>ŷ → ŷ′ → ŷ″</a:t>
              </a:r>
            </a:p>
          </p:txBody>
        </p:sp>
      </p:grpSp>
      <p:grpSp>
        <p:nvGrpSpPr>
          <p:cNvPr name="Group 24" id="24"/>
          <p:cNvGrpSpPr/>
          <p:nvPr/>
        </p:nvGrpSpPr>
        <p:grpSpPr>
          <a:xfrm rot="0">
            <a:off x="12408389" y="1564272"/>
            <a:ext cx="1950339" cy="1401270"/>
            <a:chOff x="0" y="0"/>
            <a:chExt cx="2600452" cy="1868360"/>
          </a:xfrm>
        </p:grpSpPr>
        <p:sp>
          <p:nvSpPr>
            <p:cNvPr name="Freeform 25" id="25"/>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DCE9F7"/>
            </a:solidFill>
            <a:ln w="28597" cap="sq">
              <a:solidFill>
                <a:srgbClr val="2F6DB5"/>
              </a:solidFill>
              <a:prstDash val="solid"/>
              <a:miter/>
            </a:ln>
          </p:spPr>
        </p:sp>
        <p:sp>
          <p:nvSpPr>
            <p:cNvPr name="TextBox 26" id="26"/>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Loss terms</a:t>
              </a:r>
            </a:p>
            <a:p>
              <a:pPr algn="ctr">
                <a:lnSpc>
                  <a:spcPts val="1801"/>
                </a:lnSpc>
              </a:pPr>
              <a:r>
                <a:rPr lang="en-US" sz="1501">
                  <a:solidFill>
                    <a:srgbClr val="1F2933"/>
                  </a:solidFill>
                  <a:latin typeface="Calibri (MS)"/>
                  <a:ea typeface="Calibri (MS)"/>
                  <a:cs typeface="Calibri (MS)"/>
                  <a:sym typeface="Calibri (MS)"/>
                </a:rPr>
                <a:t>L_f : residual MSE</a:t>
              </a:r>
            </a:p>
            <a:p>
              <a:pPr algn="ctr">
                <a:lnSpc>
                  <a:spcPts val="1801"/>
                </a:lnSpc>
              </a:pPr>
              <a:r>
                <a:rPr lang="en-US" sz="1501">
                  <a:solidFill>
                    <a:srgbClr val="1F2933"/>
                  </a:solidFill>
                  <a:latin typeface="Calibri (MS)"/>
                  <a:ea typeface="Calibri (MS)"/>
                  <a:cs typeface="Calibri (MS)"/>
                  <a:sym typeface="Calibri (MS)"/>
                </a:rPr>
                <a:t>L_bc : t = 0, θ, 1</a:t>
              </a:r>
            </a:p>
          </p:txBody>
        </p:sp>
      </p:grpSp>
      <p:sp>
        <p:nvSpPr>
          <p:cNvPr name="AutoShape 27" id="27"/>
          <p:cNvSpPr/>
          <p:nvPr/>
        </p:nvSpPr>
        <p:spPr>
          <a:xfrm rot="-222900">
            <a:off x="4995491" y="2255387"/>
            <a:ext cx="441322" cy="19050"/>
          </a:xfrm>
          <a:prstGeom prst="line">
            <a:avLst/>
          </a:prstGeom>
          <a:ln cap="rnd" w="19050">
            <a:solidFill>
              <a:srgbClr val="444444"/>
            </a:solidFill>
            <a:prstDash val="solid"/>
            <a:headEnd type="none" len="sm" w="sm"/>
            <a:tailEnd type="triangle" len="med" w="lg"/>
          </a:ln>
        </p:spPr>
      </p:sp>
      <p:sp>
        <p:nvSpPr>
          <p:cNvPr name="AutoShape 28" id="28"/>
          <p:cNvSpPr/>
          <p:nvPr/>
        </p:nvSpPr>
        <p:spPr>
          <a:xfrm rot="-222900">
            <a:off x="7329030" y="2255387"/>
            <a:ext cx="441322" cy="19050"/>
          </a:xfrm>
          <a:prstGeom prst="line">
            <a:avLst/>
          </a:prstGeom>
          <a:ln cap="rnd" w="19050">
            <a:solidFill>
              <a:srgbClr val="444444"/>
            </a:solidFill>
            <a:prstDash val="solid"/>
            <a:headEnd type="none" len="sm" w="sm"/>
            <a:tailEnd type="triangle" len="med" w="lg"/>
          </a:ln>
        </p:spPr>
      </p:sp>
      <p:sp>
        <p:nvSpPr>
          <p:cNvPr name="AutoShape 29" id="29"/>
          <p:cNvSpPr/>
          <p:nvPr/>
        </p:nvSpPr>
        <p:spPr>
          <a:xfrm rot="-222900">
            <a:off x="9662579" y="2255387"/>
            <a:ext cx="441322" cy="19050"/>
          </a:xfrm>
          <a:prstGeom prst="line">
            <a:avLst/>
          </a:prstGeom>
          <a:ln cap="rnd" w="19050">
            <a:solidFill>
              <a:srgbClr val="444444"/>
            </a:solidFill>
            <a:prstDash val="solid"/>
            <a:headEnd type="none" len="sm" w="sm"/>
            <a:tailEnd type="triangle" len="med" w="lg"/>
          </a:ln>
        </p:spPr>
      </p:sp>
      <p:sp>
        <p:nvSpPr>
          <p:cNvPr name="AutoShape 30" id="30"/>
          <p:cNvSpPr/>
          <p:nvPr/>
        </p:nvSpPr>
        <p:spPr>
          <a:xfrm rot="-222900">
            <a:off x="11996118" y="2255387"/>
            <a:ext cx="441322" cy="19050"/>
          </a:xfrm>
          <a:prstGeom prst="line">
            <a:avLst/>
          </a:prstGeom>
          <a:ln cap="rnd" w="19050">
            <a:solidFill>
              <a:srgbClr val="444444"/>
            </a:solidFill>
            <a:prstDash val="solid"/>
            <a:headEnd type="none" len="sm" w="sm"/>
            <a:tailEnd type="triangle" len="med" w="lg"/>
          </a:ln>
        </p:spPr>
      </p:sp>
      <p:grpSp>
        <p:nvGrpSpPr>
          <p:cNvPr name="Group 31" id="31"/>
          <p:cNvGrpSpPr/>
          <p:nvPr/>
        </p:nvGrpSpPr>
        <p:grpSpPr>
          <a:xfrm rot="0">
            <a:off x="3074213" y="3486017"/>
            <a:ext cx="3872084" cy="1469908"/>
            <a:chOff x="0" y="0"/>
            <a:chExt cx="5162779" cy="1959877"/>
          </a:xfrm>
        </p:grpSpPr>
        <p:sp>
          <p:nvSpPr>
            <p:cNvPr name="Freeform 32" id="32"/>
            <p:cNvSpPr/>
            <p:nvPr/>
          </p:nvSpPr>
          <p:spPr>
            <a:xfrm flipH="false" flipV="false" rot="0">
              <a:off x="0" y="0"/>
              <a:ext cx="5162804" cy="1959864"/>
            </a:xfrm>
            <a:custGeom>
              <a:avLst/>
              <a:gdLst/>
              <a:ahLst/>
              <a:cxnLst/>
              <a:rect r="r" b="b" t="t" l="l"/>
              <a:pathLst>
                <a:path h="1959864" w="5162804">
                  <a:moveTo>
                    <a:pt x="0" y="235204"/>
                  </a:moveTo>
                  <a:cubicBezTo>
                    <a:pt x="0" y="105283"/>
                    <a:pt x="105283" y="0"/>
                    <a:pt x="235204" y="0"/>
                  </a:cubicBezTo>
                  <a:lnTo>
                    <a:pt x="4927600" y="0"/>
                  </a:lnTo>
                  <a:cubicBezTo>
                    <a:pt x="5057521" y="0"/>
                    <a:pt x="5162804" y="105283"/>
                    <a:pt x="5162804" y="235204"/>
                  </a:cubicBezTo>
                  <a:lnTo>
                    <a:pt x="5162804" y="1724660"/>
                  </a:lnTo>
                  <a:cubicBezTo>
                    <a:pt x="5162804" y="1854581"/>
                    <a:pt x="5057521" y="1959864"/>
                    <a:pt x="4927600" y="1959864"/>
                  </a:cubicBezTo>
                  <a:lnTo>
                    <a:pt x="235204" y="1959864"/>
                  </a:lnTo>
                  <a:cubicBezTo>
                    <a:pt x="105283" y="1959864"/>
                    <a:pt x="0" y="1854581"/>
                    <a:pt x="0" y="1724660"/>
                  </a:cubicBezTo>
                  <a:close/>
                </a:path>
              </a:pathLst>
            </a:custGeom>
            <a:solidFill>
              <a:srgbClr val="DCE9F7"/>
            </a:solidFill>
            <a:ln w="28597" cap="sq">
              <a:solidFill>
                <a:srgbClr val="2F6DB5"/>
              </a:solidFill>
              <a:prstDash val="solid"/>
              <a:miter/>
            </a:ln>
          </p:spPr>
        </p:sp>
        <p:sp>
          <p:nvSpPr>
            <p:cNvPr name="TextBox 33" id="33"/>
            <p:cNvSpPr txBox="true"/>
            <p:nvPr/>
          </p:nvSpPr>
          <p:spPr>
            <a:xfrm>
              <a:off x="0" y="-38100"/>
              <a:ext cx="5162779" cy="1997977"/>
            </a:xfrm>
            <a:prstGeom prst="rect">
              <a:avLst/>
            </a:prstGeom>
          </p:spPr>
          <p:txBody>
            <a:bodyPr anchor="t"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Training variants (λ = 1e-3)</a:t>
              </a:r>
            </a:p>
          </p:txBody>
        </p:sp>
      </p:grpSp>
      <p:grpSp>
        <p:nvGrpSpPr>
          <p:cNvPr name="Group 34" id="34"/>
          <p:cNvGrpSpPr/>
          <p:nvPr/>
        </p:nvGrpSpPr>
        <p:grpSpPr>
          <a:xfrm rot="0">
            <a:off x="3188799" y="3930034"/>
            <a:ext cx="870118" cy="1007393"/>
            <a:chOff x="0" y="0"/>
            <a:chExt cx="1160158" cy="1343190"/>
          </a:xfrm>
        </p:grpSpPr>
        <p:sp>
          <p:nvSpPr>
            <p:cNvPr name="Freeform 35" id="35"/>
            <p:cNvSpPr/>
            <p:nvPr/>
          </p:nvSpPr>
          <p:spPr>
            <a:xfrm flipH="false" flipV="false" rot="0">
              <a:off x="0" y="0"/>
              <a:ext cx="1160272" cy="1343279"/>
            </a:xfrm>
            <a:custGeom>
              <a:avLst/>
              <a:gdLst/>
              <a:ahLst/>
              <a:cxnLst/>
              <a:rect r="r" b="b" t="t" l="l"/>
              <a:pathLst>
                <a:path h="1343279" w="1160272">
                  <a:moveTo>
                    <a:pt x="0" y="193421"/>
                  </a:moveTo>
                  <a:cubicBezTo>
                    <a:pt x="0" y="86614"/>
                    <a:pt x="86614" y="0"/>
                    <a:pt x="193421" y="0"/>
                  </a:cubicBezTo>
                  <a:lnTo>
                    <a:pt x="966851" y="0"/>
                  </a:lnTo>
                  <a:cubicBezTo>
                    <a:pt x="1073658" y="0"/>
                    <a:pt x="1160272" y="86614"/>
                    <a:pt x="1160272" y="193421"/>
                  </a:cubicBezTo>
                  <a:lnTo>
                    <a:pt x="1160272" y="1149858"/>
                  </a:lnTo>
                  <a:cubicBezTo>
                    <a:pt x="1160272" y="1256665"/>
                    <a:pt x="1073658" y="1343279"/>
                    <a:pt x="966851" y="1343279"/>
                  </a:cubicBezTo>
                  <a:lnTo>
                    <a:pt x="193421" y="1343279"/>
                  </a:lnTo>
                  <a:cubicBezTo>
                    <a:pt x="86614" y="1343152"/>
                    <a:pt x="0" y="1256665"/>
                    <a:pt x="0" y="1149858"/>
                  </a:cubicBezTo>
                  <a:close/>
                </a:path>
              </a:pathLst>
            </a:custGeom>
            <a:solidFill>
              <a:srgbClr val="FFFFFF"/>
            </a:solidFill>
            <a:ln w="19065" cap="sq">
              <a:solidFill>
                <a:srgbClr val="2F6DB5"/>
              </a:solidFill>
              <a:prstDash val="solid"/>
              <a:miter/>
            </a:ln>
          </p:spPr>
        </p:sp>
        <p:sp>
          <p:nvSpPr>
            <p:cNvPr name="TextBox 36" id="36"/>
            <p:cNvSpPr txBox="true"/>
            <p:nvPr/>
          </p:nvSpPr>
          <p:spPr>
            <a:xfrm>
              <a:off x="0" y="-19050"/>
              <a:ext cx="1160158" cy="1362240"/>
            </a:xfrm>
            <a:prstGeom prst="rect">
              <a:avLst/>
            </a:prstGeom>
          </p:spPr>
          <p:txBody>
            <a:bodyPr anchor="ctr" rtlCol="false" tIns="50800" lIns="50800" bIns="50800" rIns="50800"/>
            <a:lstStyle/>
            <a:p>
              <a:pPr algn="ctr">
                <a:lnSpc>
                  <a:spcPts val="1441"/>
                </a:lnSpc>
              </a:pPr>
              <a:r>
                <a:rPr lang="en-US" sz="1200" b="true">
                  <a:solidFill>
                    <a:srgbClr val="1F2933"/>
                  </a:solidFill>
                  <a:latin typeface="Calibri (MS) Bold"/>
                  <a:ea typeface="Calibri (MS) Bold"/>
                  <a:cs typeface="Calibri (MS) Bold"/>
                  <a:sym typeface="Calibri (MS) Bold"/>
                </a:rPr>
                <a:t>Standard</a:t>
              </a:r>
            </a:p>
            <a:p>
              <a:pPr algn="ctr">
                <a:lnSpc>
                  <a:spcPts val="1441"/>
                </a:lnSpc>
              </a:pPr>
              <a:r>
                <a:rPr lang="en-US" sz="1200">
                  <a:solidFill>
                    <a:srgbClr val="1F2933"/>
                  </a:solidFill>
                  <a:latin typeface="Calibri (MS)"/>
                  <a:ea typeface="Calibri (MS)"/>
                  <a:cs typeface="Calibri (MS)"/>
                  <a:sym typeface="Calibri (MS)"/>
                </a:rPr>
                <a:t>L_f+L_bc</a:t>
              </a:r>
            </a:p>
          </p:txBody>
        </p:sp>
      </p:grpSp>
      <p:grpSp>
        <p:nvGrpSpPr>
          <p:cNvPr name="Group 37" id="37"/>
          <p:cNvGrpSpPr/>
          <p:nvPr/>
        </p:nvGrpSpPr>
        <p:grpSpPr>
          <a:xfrm rot="0">
            <a:off x="4094759" y="3930034"/>
            <a:ext cx="870118" cy="1007393"/>
            <a:chOff x="0" y="0"/>
            <a:chExt cx="1160158" cy="1343190"/>
          </a:xfrm>
        </p:grpSpPr>
        <p:sp>
          <p:nvSpPr>
            <p:cNvPr name="Freeform 38" id="38"/>
            <p:cNvSpPr/>
            <p:nvPr/>
          </p:nvSpPr>
          <p:spPr>
            <a:xfrm flipH="false" flipV="false" rot="0">
              <a:off x="0" y="0"/>
              <a:ext cx="1160272" cy="1343279"/>
            </a:xfrm>
            <a:custGeom>
              <a:avLst/>
              <a:gdLst/>
              <a:ahLst/>
              <a:cxnLst/>
              <a:rect r="r" b="b" t="t" l="l"/>
              <a:pathLst>
                <a:path h="1343279" w="1160272">
                  <a:moveTo>
                    <a:pt x="0" y="193421"/>
                  </a:moveTo>
                  <a:cubicBezTo>
                    <a:pt x="0" y="86614"/>
                    <a:pt x="86614" y="0"/>
                    <a:pt x="193421" y="0"/>
                  </a:cubicBezTo>
                  <a:lnTo>
                    <a:pt x="966851" y="0"/>
                  </a:lnTo>
                  <a:cubicBezTo>
                    <a:pt x="1073658" y="0"/>
                    <a:pt x="1160272" y="86614"/>
                    <a:pt x="1160272" y="193421"/>
                  </a:cubicBezTo>
                  <a:lnTo>
                    <a:pt x="1160272" y="1149858"/>
                  </a:lnTo>
                  <a:cubicBezTo>
                    <a:pt x="1160272" y="1256665"/>
                    <a:pt x="1073658" y="1343279"/>
                    <a:pt x="966851" y="1343279"/>
                  </a:cubicBezTo>
                  <a:lnTo>
                    <a:pt x="193421" y="1343279"/>
                  </a:lnTo>
                  <a:cubicBezTo>
                    <a:pt x="86614" y="1343152"/>
                    <a:pt x="0" y="1256665"/>
                    <a:pt x="0" y="1149858"/>
                  </a:cubicBezTo>
                  <a:close/>
                </a:path>
              </a:pathLst>
            </a:custGeom>
            <a:solidFill>
              <a:srgbClr val="FFFFFF"/>
            </a:solidFill>
            <a:ln w="19065" cap="sq">
              <a:solidFill>
                <a:srgbClr val="2F6DB5"/>
              </a:solidFill>
              <a:prstDash val="solid"/>
              <a:miter/>
            </a:ln>
          </p:spPr>
        </p:sp>
        <p:sp>
          <p:nvSpPr>
            <p:cNvPr name="TextBox 39" id="39"/>
            <p:cNvSpPr txBox="true"/>
            <p:nvPr/>
          </p:nvSpPr>
          <p:spPr>
            <a:xfrm>
              <a:off x="0" y="-19050"/>
              <a:ext cx="1160158" cy="1362240"/>
            </a:xfrm>
            <a:prstGeom prst="rect">
              <a:avLst/>
            </a:prstGeom>
          </p:spPr>
          <p:txBody>
            <a:bodyPr anchor="ctr" rtlCol="false" tIns="50800" lIns="50800" bIns="50800" rIns="50800"/>
            <a:lstStyle/>
            <a:p>
              <a:pPr algn="ctr">
                <a:lnSpc>
                  <a:spcPts val="1441"/>
                </a:lnSpc>
              </a:pPr>
              <a:r>
                <a:rPr lang="en-US" sz="1200" b="true">
                  <a:solidFill>
                    <a:srgbClr val="1F2933"/>
                  </a:solidFill>
                  <a:latin typeface="Calibri (MS) Bold"/>
                  <a:ea typeface="Calibri (MS) Bold"/>
                  <a:cs typeface="Calibri (MS) Bold"/>
                  <a:sym typeface="Calibri (MS) Bold"/>
                </a:rPr>
                <a:t>+ L1</a:t>
              </a:r>
            </a:p>
            <a:p>
              <a:pPr algn="ctr">
                <a:lnSpc>
                  <a:spcPts val="1441"/>
                </a:lnSpc>
              </a:pPr>
              <a:r>
                <a:rPr lang="en-US" sz="1200">
                  <a:solidFill>
                    <a:srgbClr val="1F2933"/>
                  </a:solidFill>
                  <a:latin typeface="Calibri (MS)"/>
                  <a:ea typeface="Calibri (MS)"/>
                  <a:cs typeface="Calibri (MS)"/>
                  <a:sym typeface="Calibri (MS)"/>
                </a:rPr>
                <a:t>λ·Σ|W|</a:t>
              </a:r>
            </a:p>
          </p:txBody>
        </p:sp>
      </p:grpSp>
      <p:grpSp>
        <p:nvGrpSpPr>
          <p:cNvPr name="Group 40" id="40"/>
          <p:cNvGrpSpPr/>
          <p:nvPr/>
        </p:nvGrpSpPr>
        <p:grpSpPr>
          <a:xfrm rot="0">
            <a:off x="5000720" y="3930034"/>
            <a:ext cx="870118" cy="1007393"/>
            <a:chOff x="0" y="0"/>
            <a:chExt cx="1160158" cy="1343190"/>
          </a:xfrm>
        </p:grpSpPr>
        <p:sp>
          <p:nvSpPr>
            <p:cNvPr name="Freeform 41" id="41"/>
            <p:cNvSpPr/>
            <p:nvPr/>
          </p:nvSpPr>
          <p:spPr>
            <a:xfrm flipH="false" flipV="false" rot="0">
              <a:off x="0" y="0"/>
              <a:ext cx="1160272" cy="1343279"/>
            </a:xfrm>
            <a:custGeom>
              <a:avLst/>
              <a:gdLst/>
              <a:ahLst/>
              <a:cxnLst/>
              <a:rect r="r" b="b" t="t" l="l"/>
              <a:pathLst>
                <a:path h="1343279" w="1160272">
                  <a:moveTo>
                    <a:pt x="0" y="193421"/>
                  </a:moveTo>
                  <a:cubicBezTo>
                    <a:pt x="0" y="86614"/>
                    <a:pt x="86614" y="0"/>
                    <a:pt x="193421" y="0"/>
                  </a:cubicBezTo>
                  <a:lnTo>
                    <a:pt x="966851" y="0"/>
                  </a:lnTo>
                  <a:cubicBezTo>
                    <a:pt x="1073658" y="0"/>
                    <a:pt x="1160272" y="86614"/>
                    <a:pt x="1160272" y="193421"/>
                  </a:cubicBezTo>
                  <a:lnTo>
                    <a:pt x="1160272" y="1149858"/>
                  </a:lnTo>
                  <a:cubicBezTo>
                    <a:pt x="1160272" y="1256665"/>
                    <a:pt x="1073658" y="1343279"/>
                    <a:pt x="966851" y="1343279"/>
                  </a:cubicBezTo>
                  <a:lnTo>
                    <a:pt x="193421" y="1343279"/>
                  </a:lnTo>
                  <a:cubicBezTo>
                    <a:pt x="86614" y="1343152"/>
                    <a:pt x="0" y="1256665"/>
                    <a:pt x="0" y="1149858"/>
                  </a:cubicBezTo>
                  <a:close/>
                </a:path>
              </a:pathLst>
            </a:custGeom>
            <a:solidFill>
              <a:srgbClr val="FFFFFF"/>
            </a:solidFill>
            <a:ln w="19065" cap="sq">
              <a:solidFill>
                <a:srgbClr val="2F6DB5"/>
              </a:solidFill>
              <a:prstDash val="solid"/>
              <a:miter/>
            </a:ln>
          </p:spPr>
        </p:sp>
        <p:sp>
          <p:nvSpPr>
            <p:cNvPr name="TextBox 42" id="42"/>
            <p:cNvSpPr txBox="true"/>
            <p:nvPr/>
          </p:nvSpPr>
          <p:spPr>
            <a:xfrm>
              <a:off x="0" y="-19050"/>
              <a:ext cx="1160158" cy="1362240"/>
            </a:xfrm>
            <a:prstGeom prst="rect">
              <a:avLst/>
            </a:prstGeom>
          </p:spPr>
          <p:txBody>
            <a:bodyPr anchor="ctr" rtlCol="false" tIns="50800" lIns="50800" bIns="50800" rIns="50800"/>
            <a:lstStyle/>
            <a:p>
              <a:pPr algn="ctr">
                <a:lnSpc>
                  <a:spcPts val="1441"/>
                </a:lnSpc>
              </a:pPr>
              <a:r>
                <a:rPr lang="en-US" sz="1200" b="true">
                  <a:solidFill>
                    <a:srgbClr val="1F2933"/>
                  </a:solidFill>
                  <a:latin typeface="Calibri (MS) Bold"/>
                  <a:ea typeface="Calibri (MS) Bold"/>
                  <a:cs typeface="Calibri (MS) Bold"/>
                  <a:sym typeface="Calibri (MS) Bold"/>
                </a:rPr>
                <a:t>+ L2</a:t>
              </a:r>
            </a:p>
            <a:p>
              <a:pPr algn="ctr">
                <a:lnSpc>
                  <a:spcPts val="1441"/>
                </a:lnSpc>
              </a:pPr>
              <a:r>
                <a:rPr lang="en-US" sz="1200">
                  <a:solidFill>
                    <a:srgbClr val="1F2933"/>
                  </a:solidFill>
                  <a:latin typeface="Calibri (MS)"/>
                  <a:ea typeface="Calibri (MS)"/>
                  <a:cs typeface="Calibri (MS)"/>
                  <a:sym typeface="Calibri (MS)"/>
                </a:rPr>
                <a:t>λ·ΣW²</a:t>
              </a:r>
            </a:p>
          </p:txBody>
        </p:sp>
      </p:grpSp>
      <p:grpSp>
        <p:nvGrpSpPr>
          <p:cNvPr name="Group 43" id="43"/>
          <p:cNvGrpSpPr/>
          <p:nvPr/>
        </p:nvGrpSpPr>
        <p:grpSpPr>
          <a:xfrm rot="0">
            <a:off x="5906681" y="3930034"/>
            <a:ext cx="870118" cy="1007393"/>
            <a:chOff x="0" y="0"/>
            <a:chExt cx="1160158" cy="1343190"/>
          </a:xfrm>
        </p:grpSpPr>
        <p:sp>
          <p:nvSpPr>
            <p:cNvPr name="Freeform 44" id="44"/>
            <p:cNvSpPr/>
            <p:nvPr/>
          </p:nvSpPr>
          <p:spPr>
            <a:xfrm flipH="false" flipV="false" rot="0">
              <a:off x="0" y="0"/>
              <a:ext cx="1160272" cy="1343279"/>
            </a:xfrm>
            <a:custGeom>
              <a:avLst/>
              <a:gdLst/>
              <a:ahLst/>
              <a:cxnLst/>
              <a:rect r="r" b="b" t="t" l="l"/>
              <a:pathLst>
                <a:path h="1343279" w="1160272">
                  <a:moveTo>
                    <a:pt x="0" y="193421"/>
                  </a:moveTo>
                  <a:cubicBezTo>
                    <a:pt x="0" y="86614"/>
                    <a:pt x="86614" y="0"/>
                    <a:pt x="193421" y="0"/>
                  </a:cubicBezTo>
                  <a:lnTo>
                    <a:pt x="966851" y="0"/>
                  </a:lnTo>
                  <a:cubicBezTo>
                    <a:pt x="1073658" y="0"/>
                    <a:pt x="1160272" y="86614"/>
                    <a:pt x="1160272" y="193421"/>
                  </a:cubicBezTo>
                  <a:lnTo>
                    <a:pt x="1160272" y="1149858"/>
                  </a:lnTo>
                  <a:cubicBezTo>
                    <a:pt x="1160272" y="1256665"/>
                    <a:pt x="1073658" y="1343279"/>
                    <a:pt x="966851" y="1343279"/>
                  </a:cubicBezTo>
                  <a:lnTo>
                    <a:pt x="193421" y="1343279"/>
                  </a:lnTo>
                  <a:cubicBezTo>
                    <a:pt x="86614" y="1343152"/>
                    <a:pt x="0" y="1256665"/>
                    <a:pt x="0" y="1149858"/>
                  </a:cubicBezTo>
                  <a:close/>
                </a:path>
              </a:pathLst>
            </a:custGeom>
            <a:solidFill>
              <a:srgbClr val="FFFFFF"/>
            </a:solidFill>
            <a:ln w="19065" cap="sq">
              <a:solidFill>
                <a:srgbClr val="2F6DB5"/>
              </a:solidFill>
              <a:prstDash val="solid"/>
              <a:miter/>
            </a:ln>
          </p:spPr>
        </p:sp>
        <p:sp>
          <p:nvSpPr>
            <p:cNvPr name="TextBox 45" id="45"/>
            <p:cNvSpPr txBox="true"/>
            <p:nvPr/>
          </p:nvSpPr>
          <p:spPr>
            <a:xfrm>
              <a:off x="0" y="-19050"/>
              <a:ext cx="1160158" cy="1362240"/>
            </a:xfrm>
            <a:prstGeom prst="rect">
              <a:avLst/>
            </a:prstGeom>
          </p:spPr>
          <p:txBody>
            <a:bodyPr anchor="ctr" rtlCol="false" tIns="50800" lIns="50800" bIns="50800" rIns="50800"/>
            <a:lstStyle/>
            <a:p>
              <a:pPr algn="ctr">
                <a:lnSpc>
                  <a:spcPts val="1441"/>
                </a:lnSpc>
              </a:pPr>
              <a:r>
                <a:rPr lang="en-US" sz="1200" b="true">
                  <a:solidFill>
                    <a:srgbClr val="1F2933"/>
                  </a:solidFill>
                  <a:latin typeface="Calibri (MS) Bold"/>
                  <a:ea typeface="Calibri (MS) Bold"/>
                  <a:cs typeface="Calibri (MS) Bold"/>
                  <a:sym typeface="Calibri (MS) Bold"/>
                </a:rPr>
                <a:t>A-PINN</a:t>
              </a:r>
            </a:p>
            <a:p>
              <a:pPr algn="ctr">
                <a:lnSpc>
                  <a:spcPts val="1441"/>
                </a:lnSpc>
              </a:pPr>
              <a:r>
                <a:rPr lang="en-US" sz="1200">
                  <a:solidFill>
                    <a:srgbClr val="1F2933"/>
                  </a:solidFill>
                  <a:latin typeface="Calibri (MS)"/>
                  <a:ea typeface="Calibri (MS)"/>
                  <a:cs typeface="Calibri (MS)"/>
                  <a:sym typeface="Calibri (MS)"/>
                </a:rPr>
                <a:t>adaptive ω</a:t>
              </a:r>
            </a:p>
          </p:txBody>
        </p:sp>
      </p:grpSp>
      <p:grpSp>
        <p:nvGrpSpPr>
          <p:cNvPr name="Group 46" id="46"/>
          <p:cNvGrpSpPr/>
          <p:nvPr/>
        </p:nvGrpSpPr>
        <p:grpSpPr>
          <a:xfrm rot="0">
            <a:off x="7329497" y="3525498"/>
            <a:ext cx="2156241" cy="1469908"/>
            <a:chOff x="0" y="0"/>
            <a:chExt cx="2874988" cy="1959877"/>
          </a:xfrm>
        </p:grpSpPr>
        <p:sp>
          <p:nvSpPr>
            <p:cNvPr name="Freeform 47" id="47"/>
            <p:cNvSpPr/>
            <p:nvPr/>
          </p:nvSpPr>
          <p:spPr>
            <a:xfrm flipH="false" flipV="false" rot="0">
              <a:off x="0" y="0"/>
              <a:ext cx="2875026" cy="1959864"/>
            </a:xfrm>
            <a:custGeom>
              <a:avLst/>
              <a:gdLst/>
              <a:ahLst/>
              <a:cxnLst/>
              <a:rect r="r" b="b" t="t" l="l"/>
              <a:pathLst>
                <a:path h="1959864" w="2875026">
                  <a:moveTo>
                    <a:pt x="0" y="235204"/>
                  </a:moveTo>
                  <a:cubicBezTo>
                    <a:pt x="0" y="105283"/>
                    <a:pt x="105283" y="0"/>
                    <a:pt x="235204" y="0"/>
                  </a:cubicBezTo>
                  <a:lnTo>
                    <a:pt x="2639822" y="0"/>
                  </a:lnTo>
                  <a:cubicBezTo>
                    <a:pt x="2769743" y="0"/>
                    <a:pt x="2875026" y="105283"/>
                    <a:pt x="2875026" y="235204"/>
                  </a:cubicBezTo>
                  <a:lnTo>
                    <a:pt x="2875026" y="1724660"/>
                  </a:lnTo>
                  <a:cubicBezTo>
                    <a:pt x="2875026" y="1854581"/>
                    <a:pt x="2769743" y="1959864"/>
                    <a:pt x="2639822" y="1959864"/>
                  </a:cubicBezTo>
                  <a:lnTo>
                    <a:pt x="235204" y="1959864"/>
                  </a:lnTo>
                  <a:cubicBezTo>
                    <a:pt x="105283" y="1959864"/>
                    <a:pt x="0" y="1854581"/>
                    <a:pt x="0" y="1724660"/>
                  </a:cubicBezTo>
                  <a:close/>
                </a:path>
              </a:pathLst>
            </a:custGeom>
            <a:solidFill>
              <a:srgbClr val="FDE6CF"/>
            </a:solidFill>
            <a:ln w="28597" cap="sq">
              <a:solidFill>
                <a:srgbClr val="D9731A"/>
              </a:solidFill>
              <a:prstDash val="solid"/>
              <a:miter/>
            </a:ln>
          </p:spPr>
        </p:sp>
        <p:sp>
          <p:nvSpPr>
            <p:cNvPr name="TextBox 48" id="48"/>
            <p:cNvSpPr txBox="true"/>
            <p:nvPr/>
          </p:nvSpPr>
          <p:spPr>
            <a:xfrm>
              <a:off x="0" y="-28575"/>
              <a:ext cx="2874988" cy="1988452"/>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Adam</a:t>
              </a:r>
            </a:p>
            <a:p>
              <a:pPr algn="ctr">
                <a:lnSpc>
                  <a:spcPts val="1621"/>
                </a:lnSpc>
              </a:pPr>
              <a:r>
                <a:rPr lang="en-US" sz="1351">
                  <a:solidFill>
                    <a:srgbClr val="1F2933"/>
                  </a:solidFill>
                  <a:latin typeface="Calibri (MS)"/>
                  <a:ea typeface="Calibri (MS)"/>
                  <a:cs typeface="Calibri (MS)"/>
                  <a:sym typeface="Calibri (MS)"/>
                </a:rPr>
                <a:t>lr 1e-3</a:t>
              </a:r>
            </a:p>
            <a:p>
              <a:pPr algn="ctr">
                <a:lnSpc>
                  <a:spcPts val="1621"/>
                </a:lnSpc>
              </a:pPr>
              <a:r>
                <a:rPr lang="en-US" sz="1351">
                  <a:solidFill>
                    <a:srgbClr val="1F2933"/>
                  </a:solidFill>
                  <a:latin typeface="Calibri (MS)"/>
                  <a:ea typeface="Calibri (MS)"/>
                  <a:cs typeface="Calibri (MS)"/>
                  <a:sym typeface="Calibri (MS)"/>
                </a:rPr>
                <a:t>10,000 epochs</a:t>
              </a:r>
            </a:p>
            <a:p>
              <a:pPr algn="ctr">
                <a:lnSpc>
                  <a:spcPts val="1621"/>
                </a:lnSpc>
              </a:pPr>
              <a:r>
                <a:rPr lang="en-US" sz="1351">
                  <a:solidFill>
                    <a:srgbClr val="1F2933"/>
                  </a:solidFill>
                  <a:latin typeface="Calibri (MS)"/>
                  <a:ea typeface="Calibri (MS)"/>
                  <a:cs typeface="Calibri (MS)"/>
                  <a:sym typeface="Calibri (MS)"/>
                </a:rPr>
                <a:t>10 seeds (0–9)</a:t>
              </a:r>
            </a:p>
            <a:p>
              <a:pPr algn="ctr">
                <a:lnSpc>
                  <a:spcPts val="1621"/>
                </a:lnSpc>
              </a:pPr>
              <a:r>
                <a:rPr lang="en-US" sz="1351">
                  <a:solidFill>
                    <a:srgbClr val="1F2933"/>
                  </a:solidFill>
                  <a:latin typeface="Calibri (MS)"/>
                  <a:ea typeface="Calibri (MS)"/>
                  <a:cs typeface="Calibri (MS)"/>
                  <a:sym typeface="Calibri (MS)"/>
                </a:rPr>
                <a:t>checkpoint + resume</a:t>
              </a:r>
            </a:p>
          </p:txBody>
        </p:sp>
      </p:grpSp>
      <p:grpSp>
        <p:nvGrpSpPr>
          <p:cNvPr name="Group 49" id="49"/>
          <p:cNvGrpSpPr/>
          <p:nvPr/>
        </p:nvGrpSpPr>
        <p:grpSpPr>
          <a:xfrm rot="0">
            <a:off x="9868938" y="3486017"/>
            <a:ext cx="2224869" cy="1469908"/>
            <a:chOff x="0" y="0"/>
            <a:chExt cx="2966491" cy="1959877"/>
          </a:xfrm>
        </p:grpSpPr>
        <p:sp>
          <p:nvSpPr>
            <p:cNvPr name="Freeform 50" id="50"/>
            <p:cNvSpPr/>
            <p:nvPr/>
          </p:nvSpPr>
          <p:spPr>
            <a:xfrm flipH="false" flipV="false" rot="0">
              <a:off x="0" y="0"/>
              <a:ext cx="2966466" cy="1959864"/>
            </a:xfrm>
            <a:custGeom>
              <a:avLst/>
              <a:gdLst/>
              <a:ahLst/>
              <a:cxnLst/>
              <a:rect r="r" b="b" t="t" l="l"/>
              <a:pathLst>
                <a:path h="1959864" w="2966466">
                  <a:moveTo>
                    <a:pt x="0" y="235204"/>
                  </a:moveTo>
                  <a:cubicBezTo>
                    <a:pt x="0" y="105283"/>
                    <a:pt x="105283" y="0"/>
                    <a:pt x="235204" y="0"/>
                  </a:cubicBezTo>
                  <a:lnTo>
                    <a:pt x="2731262" y="0"/>
                  </a:lnTo>
                  <a:cubicBezTo>
                    <a:pt x="2861183" y="0"/>
                    <a:pt x="2966466" y="105283"/>
                    <a:pt x="2966466" y="235204"/>
                  </a:cubicBezTo>
                  <a:lnTo>
                    <a:pt x="2966466" y="1724660"/>
                  </a:lnTo>
                  <a:cubicBezTo>
                    <a:pt x="2966466" y="1854581"/>
                    <a:pt x="2861183" y="1959864"/>
                    <a:pt x="2731262" y="1959864"/>
                  </a:cubicBezTo>
                  <a:lnTo>
                    <a:pt x="235204" y="1959864"/>
                  </a:lnTo>
                  <a:cubicBezTo>
                    <a:pt x="105283" y="1959864"/>
                    <a:pt x="0" y="1854581"/>
                    <a:pt x="0" y="1724660"/>
                  </a:cubicBezTo>
                  <a:close/>
                </a:path>
              </a:pathLst>
            </a:custGeom>
            <a:solidFill>
              <a:srgbClr val="DCE9F7"/>
            </a:solidFill>
            <a:ln w="28597" cap="sq">
              <a:solidFill>
                <a:srgbClr val="2F6DB5"/>
              </a:solidFill>
              <a:prstDash val="solid"/>
              <a:miter/>
            </a:ln>
          </p:spPr>
        </p:sp>
        <p:sp>
          <p:nvSpPr>
            <p:cNvPr name="TextBox 51" id="51"/>
            <p:cNvSpPr txBox="true"/>
            <p:nvPr/>
          </p:nvSpPr>
          <p:spPr>
            <a:xfrm>
              <a:off x="0" y="-28575"/>
              <a:ext cx="2966491" cy="1988452"/>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Evaluate vs exact</a:t>
              </a:r>
            </a:p>
            <a:p>
              <a:pPr algn="ctr">
                <a:lnSpc>
                  <a:spcPts val="1621"/>
                </a:lnSpc>
              </a:pPr>
              <a:r>
                <a:rPr lang="en-US" sz="1351">
                  <a:solidFill>
                    <a:srgbClr val="1F2933"/>
                  </a:solidFill>
                  <a:latin typeface="Calibri (MS)"/>
                  <a:ea typeface="Calibri (MS)"/>
                  <a:cs typeface="Calibri (MS)"/>
                  <a:sym typeface="Calibri (MS)"/>
                </a:rPr>
                <a:t>1000 test pts</a:t>
              </a:r>
            </a:p>
            <a:p>
              <a:pPr algn="ctr">
                <a:lnSpc>
                  <a:spcPts val="1621"/>
                </a:lnSpc>
              </a:pPr>
              <a:r>
                <a:rPr lang="en-US" sz="1351">
                  <a:solidFill>
                    <a:srgbClr val="1F2933"/>
                  </a:solidFill>
                  <a:latin typeface="Calibri (MS)"/>
                  <a:ea typeface="Calibri (MS)"/>
                  <a:cs typeface="Calibri (MS)"/>
                  <a:sym typeface="Calibri (MS)"/>
                </a:rPr>
                <a:t>RMSE, MAE, MAPE, R²,</a:t>
              </a:r>
            </a:p>
            <a:p>
              <a:pPr algn="ctr">
                <a:lnSpc>
                  <a:spcPts val="1621"/>
                </a:lnSpc>
              </a:pPr>
              <a:r>
                <a:rPr lang="en-US" sz="1351">
                  <a:solidFill>
                    <a:srgbClr val="1F2933"/>
                  </a:solidFill>
                  <a:latin typeface="Calibri (MS)"/>
                  <a:ea typeface="Calibri (MS)"/>
                  <a:cs typeface="Calibri (MS)"/>
                  <a:sym typeface="Calibri (MS)"/>
                </a:rPr>
                <a:t>R, rSD, NSE, RE</a:t>
              </a:r>
            </a:p>
          </p:txBody>
        </p:sp>
      </p:grpSp>
      <p:grpSp>
        <p:nvGrpSpPr>
          <p:cNvPr name="Group 52" id="52"/>
          <p:cNvGrpSpPr/>
          <p:nvPr/>
        </p:nvGrpSpPr>
        <p:grpSpPr>
          <a:xfrm rot="0">
            <a:off x="12477017" y="3486017"/>
            <a:ext cx="1881702" cy="1469908"/>
            <a:chOff x="0" y="0"/>
            <a:chExt cx="2508936" cy="1959877"/>
          </a:xfrm>
        </p:grpSpPr>
        <p:sp>
          <p:nvSpPr>
            <p:cNvPr name="Freeform 53" id="53"/>
            <p:cNvSpPr/>
            <p:nvPr/>
          </p:nvSpPr>
          <p:spPr>
            <a:xfrm flipH="false" flipV="false" rot="0">
              <a:off x="0" y="0"/>
              <a:ext cx="2509012" cy="1959864"/>
            </a:xfrm>
            <a:custGeom>
              <a:avLst/>
              <a:gdLst/>
              <a:ahLst/>
              <a:cxnLst/>
              <a:rect r="r" b="b" t="t" l="l"/>
              <a:pathLst>
                <a:path h="1959864" w="2509012">
                  <a:moveTo>
                    <a:pt x="0" y="235204"/>
                  </a:moveTo>
                  <a:cubicBezTo>
                    <a:pt x="0" y="105283"/>
                    <a:pt x="105283" y="0"/>
                    <a:pt x="235204" y="0"/>
                  </a:cubicBezTo>
                  <a:lnTo>
                    <a:pt x="2273808" y="0"/>
                  </a:lnTo>
                  <a:cubicBezTo>
                    <a:pt x="2403729" y="0"/>
                    <a:pt x="2509012" y="105283"/>
                    <a:pt x="2509012" y="235204"/>
                  </a:cubicBezTo>
                  <a:lnTo>
                    <a:pt x="2509012" y="1724660"/>
                  </a:lnTo>
                  <a:cubicBezTo>
                    <a:pt x="2509012" y="1854581"/>
                    <a:pt x="2403729" y="1959864"/>
                    <a:pt x="2273808" y="1959864"/>
                  </a:cubicBezTo>
                  <a:lnTo>
                    <a:pt x="235204" y="1959864"/>
                  </a:lnTo>
                  <a:cubicBezTo>
                    <a:pt x="105283" y="1959864"/>
                    <a:pt x="0" y="1854581"/>
                    <a:pt x="0" y="1724660"/>
                  </a:cubicBezTo>
                  <a:close/>
                </a:path>
              </a:pathLst>
            </a:custGeom>
            <a:solidFill>
              <a:srgbClr val="FDE6CF"/>
            </a:solidFill>
            <a:ln w="28597" cap="sq">
              <a:solidFill>
                <a:srgbClr val="D9731A"/>
              </a:solidFill>
              <a:prstDash val="solid"/>
              <a:miter/>
            </a:ln>
          </p:spPr>
        </p:sp>
        <p:sp>
          <p:nvSpPr>
            <p:cNvPr name="TextBox 54" id="54"/>
            <p:cNvSpPr txBox="true"/>
            <p:nvPr/>
          </p:nvSpPr>
          <p:spPr>
            <a:xfrm>
              <a:off x="0" y="-38100"/>
              <a:ext cx="2508936" cy="1997977"/>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Aggregate</a:t>
              </a:r>
            </a:p>
            <a:p>
              <a:pPr algn="ctr">
                <a:lnSpc>
                  <a:spcPts val="1801"/>
                </a:lnSpc>
              </a:pPr>
              <a:r>
                <a:rPr lang="en-US" sz="1501">
                  <a:solidFill>
                    <a:srgbClr val="1F2933"/>
                  </a:solidFill>
                  <a:latin typeface="Calibri (MS)"/>
                  <a:ea typeface="Calibri (MS)"/>
                  <a:cs typeface="Calibri (MS)"/>
                  <a:sym typeface="Calibri (MS)"/>
                </a:rPr>
                <a:t>mean ± std,</a:t>
              </a:r>
            </a:p>
            <a:p>
              <a:pPr algn="ctr">
                <a:lnSpc>
                  <a:spcPts val="1801"/>
                </a:lnSpc>
              </a:pPr>
              <a:r>
                <a:rPr lang="en-US" sz="1501">
                  <a:solidFill>
                    <a:srgbClr val="1F2933"/>
                  </a:solidFill>
                  <a:latin typeface="Calibri (MS)"/>
                  <a:ea typeface="Calibri (MS)"/>
                  <a:cs typeface="Calibri (MS)"/>
                  <a:sym typeface="Calibri (MS)"/>
                </a:rPr>
                <a:t>best / worst seed</a:t>
              </a:r>
            </a:p>
            <a:p>
              <a:pPr algn="ctr">
                <a:lnSpc>
                  <a:spcPts val="1801"/>
                </a:lnSpc>
              </a:pPr>
              <a:r>
                <a:rPr lang="en-US" sz="1501">
                  <a:solidFill>
                    <a:srgbClr val="1F2933"/>
                  </a:solidFill>
                  <a:latin typeface="Calibri (MS)"/>
                  <a:ea typeface="Calibri (MS)"/>
                  <a:cs typeface="Calibri (MS)"/>
                  <a:sym typeface="Calibri (MS)"/>
                </a:rPr>
                <a:t>→ best PINN</a:t>
              </a:r>
            </a:p>
          </p:txBody>
        </p:sp>
      </p:grpSp>
      <p:sp>
        <p:nvSpPr>
          <p:cNvPr name="AutoShape 55" id="55"/>
          <p:cNvSpPr/>
          <p:nvPr/>
        </p:nvSpPr>
        <p:spPr>
          <a:xfrm rot="10564020">
            <a:off x="4986042" y="3216259"/>
            <a:ext cx="8421738" cy="19050"/>
          </a:xfrm>
          <a:prstGeom prst="line">
            <a:avLst/>
          </a:prstGeom>
          <a:ln cap="rnd" w="19050">
            <a:solidFill>
              <a:srgbClr val="444444"/>
            </a:solidFill>
            <a:prstDash val="solid"/>
            <a:headEnd type="none" len="sm" w="sm"/>
            <a:tailEnd type="triangle" len="med" w="lg"/>
          </a:ln>
        </p:spPr>
      </p:sp>
      <p:sp>
        <p:nvSpPr>
          <p:cNvPr name="AutoShape 56" id="56"/>
          <p:cNvSpPr/>
          <p:nvPr/>
        </p:nvSpPr>
        <p:spPr>
          <a:xfrm>
            <a:off x="6946297" y="4220970"/>
            <a:ext cx="383200" cy="39481"/>
          </a:xfrm>
          <a:prstGeom prst="line">
            <a:avLst/>
          </a:prstGeom>
          <a:ln cap="rnd" w="19050">
            <a:solidFill>
              <a:srgbClr val="444444"/>
            </a:solidFill>
            <a:prstDash val="solid"/>
            <a:headEnd type="none" len="sm" w="sm"/>
            <a:tailEnd type="triangle" len="med" w="lg"/>
          </a:ln>
        </p:spPr>
      </p:sp>
      <p:sp>
        <p:nvSpPr>
          <p:cNvPr name="AutoShape 57" id="57"/>
          <p:cNvSpPr/>
          <p:nvPr/>
        </p:nvSpPr>
        <p:spPr>
          <a:xfrm flipV="true">
            <a:off x="9485738" y="4220970"/>
            <a:ext cx="383200" cy="39481"/>
          </a:xfrm>
          <a:prstGeom prst="line">
            <a:avLst/>
          </a:prstGeom>
          <a:ln cap="rnd" w="19050">
            <a:solidFill>
              <a:srgbClr val="444444"/>
            </a:solidFill>
            <a:prstDash val="solid"/>
            <a:headEnd type="none" len="sm" w="sm"/>
            <a:tailEnd type="triangle" len="med" w="lg"/>
          </a:ln>
        </p:spPr>
      </p:sp>
      <p:sp>
        <p:nvSpPr>
          <p:cNvPr name="AutoShape 58" id="58"/>
          <p:cNvSpPr/>
          <p:nvPr/>
        </p:nvSpPr>
        <p:spPr>
          <a:xfrm rot="-222900">
            <a:off x="12064756" y="4211441"/>
            <a:ext cx="441322" cy="19050"/>
          </a:xfrm>
          <a:prstGeom prst="line">
            <a:avLst/>
          </a:prstGeom>
          <a:ln cap="rnd" w="19050">
            <a:solidFill>
              <a:srgbClr val="444444"/>
            </a:solidFill>
            <a:prstDash val="solid"/>
            <a:headEnd type="none" len="sm" w="sm"/>
            <a:tailEnd type="triangle" len="med" w="lg"/>
          </a:ln>
        </p:spPr>
      </p:sp>
      <p:grpSp>
        <p:nvGrpSpPr>
          <p:cNvPr name="Group 59" id="59"/>
          <p:cNvGrpSpPr/>
          <p:nvPr/>
        </p:nvGrpSpPr>
        <p:grpSpPr>
          <a:xfrm rot="0">
            <a:off x="2951245" y="5023980"/>
            <a:ext cx="11393176" cy="274539"/>
            <a:chOff x="0" y="0"/>
            <a:chExt cx="15190902" cy="366052"/>
          </a:xfrm>
        </p:grpSpPr>
        <p:sp>
          <p:nvSpPr>
            <p:cNvPr name="Freeform 60" id="60"/>
            <p:cNvSpPr/>
            <p:nvPr/>
          </p:nvSpPr>
          <p:spPr>
            <a:xfrm flipH="false" flipV="false" rot="0">
              <a:off x="0" y="0"/>
              <a:ext cx="15190908" cy="366046"/>
            </a:xfrm>
            <a:custGeom>
              <a:avLst/>
              <a:gdLst/>
              <a:ahLst/>
              <a:cxnLst/>
              <a:rect r="r" b="b" t="t" l="l"/>
              <a:pathLst>
                <a:path h="366046" w="15190908">
                  <a:moveTo>
                    <a:pt x="0" y="0"/>
                  </a:moveTo>
                  <a:lnTo>
                    <a:pt x="15190908" y="0"/>
                  </a:lnTo>
                  <a:lnTo>
                    <a:pt x="15190908" y="366046"/>
                  </a:lnTo>
                  <a:lnTo>
                    <a:pt x="0" y="366046"/>
                  </a:lnTo>
                  <a:close/>
                </a:path>
              </a:pathLst>
            </a:custGeom>
            <a:blipFill>
              <a:blip r:embed="rId4">
                <a:alphaModFix amt="0"/>
              </a:blip>
              <a:stretch>
                <a:fillRect l="0" t="-758627" r="0" b="-758629"/>
              </a:stretch>
            </a:blipFill>
          </p:spPr>
        </p:sp>
        <p:sp>
          <p:nvSpPr>
            <p:cNvPr name="TextBox 61" id="61"/>
            <p:cNvSpPr txBox="true"/>
            <p:nvPr/>
          </p:nvSpPr>
          <p:spPr>
            <a:xfrm>
              <a:off x="0" y="-28575"/>
              <a:ext cx="15190902" cy="394627"/>
            </a:xfrm>
            <a:prstGeom prst="rect">
              <a:avLst/>
            </a:prstGeom>
          </p:spPr>
          <p:txBody>
            <a:bodyPr anchor="ctr" rtlCol="false" tIns="0" lIns="0" bIns="0" rIns="0"/>
            <a:lstStyle/>
            <a:p>
              <a:pPr algn="ctr">
                <a:lnSpc>
                  <a:spcPts val="1621"/>
                </a:lnSpc>
              </a:pPr>
              <a:r>
                <a:rPr lang="en-US" sz="1351">
                  <a:solidFill>
                    <a:srgbClr val="B35A0F"/>
                  </a:solidFill>
                  <a:latin typeface="Calibri (MS)"/>
                  <a:ea typeface="Calibri (MS)"/>
                  <a:cs typeface="Calibri (MS)"/>
                  <a:sym typeface="Calibri (MS)"/>
                </a:rPr>
                <a:t>12 configurations (3 examples × 4 variants) × 10 seeds = 120 PINN runs</a:t>
              </a:r>
            </a:p>
          </p:txBody>
        </p:sp>
      </p:grpSp>
      <p:grpSp>
        <p:nvGrpSpPr>
          <p:cNvPr name="Group 62" id="62"/>
          <p:cNvGrpSpPr/>
          <p:nvPr/>
        </p:nvGrpSpPr>
        <p:grpSpPr>
          <a:xfrm rot="0">
            <a:off x="2873083" y="5481161"/>
            <a:ext cx="11618147" cy="1666275"/>
            <a:chOff x="0" y="0"/>
            <a:chExt cx="15490863" cy="2221700"/>
          </a:xfrm>
        </p:grpSpPr>
        <p:sp>
          <p:nvSpPr>
            <p:cNvPr name="Freeform 63" id="63"/>
            <p:cNvSpPr/>
            <p:nvPr/>
          </p:nvSpPr>
          <p:spPr>
            <a:xfrm flipH="false" flipV="false" rot="0">
              <a:off x="0" y="0"/>
              <a:ext cx="15490825" cy="2221738"/>
            </a:xfrm>
            <a:custGeom>
              <a:avLst/>
              <a:gdLst/>
              <a:ahLst/>
              <a:cxnLst/>
              <a:rect r="r" b="b" t="t" l="l"/>
              <a:pathLst>
                <a:path h="2221738" w="15490825">
                  <a:moveTo>
                    <a:pt x="0" y="0"/>
                  </a:moveTo>
                  <a:lnTo>
                    <a:pt x="15490825" y="0"/>
                  </a:lnTo>
                  <a:lnTo>
                    <a:pt x="15490825" y="2221738"/>
                  </a:lnTo>
                  <a:lnTo>
                    <a:pt x="0" y="2221738"/>
                  </a:lnTo>
                  <a:close/>
                </a:path>
              </a:pathLst>
            </a:custGeom>
            <a:blipFill>
              <a:blip r:embed="rId4">
                <a:alphaModFix amt="0"/>
              </a:blip>
              <a:stretch>
                <a:fillRect l="0" t="-85858" r="0" b="-85856"/>
              </a:stretch>
            </a:blipFill>
            <a:ln w="19065" cap="sq">
              <a:solidFill>
                <a:srgbClr val="D9731A"/>
              </a:solidFill>
              <a:prstDash val="dash"/>
              <a:miter/>
            </a:ln>
          </p:spPr>
        </p:sp>
      </p:grpSp>
      <p:sp>
        <p:nvSpPr>
          <p:cNvPr name="TextBox 64" id="64"/>
          <p:cNvSpPr txBox="true"/>
          <p:nvPr/>
        </p:nvSpPr>
        <p:spPr>
          <a:xfrm rot="0">
            <a:off x="2996965" y="5466293"/>
            <a:ext cx="11507638" cy="326403"/>
          </a:xfrm>
          <a:prstGeom prst="rect">
            <a:avLst/>
          </a:prstGeom>
        </p:spPr>
        <p:txBody>
          <a:bodyPr anchor="t" rtlCol="false" tIns="0" lIns="0" bIns="0" rIns="0">
            <a:spAutoFit/>
          </a:bodyPr>
          <a:lstStyle/>
          <a:p>
            <a:pPr algn="l">
              <a:lnSpc>
                <a:spcPts val="1801"/>
              </a:lnSpc>
            </a:pPr>
            <a:r>
              <a:rPr lang="en-US" sz="1501" b="true">
                <a:solidFill>
                  <a:srgbClr val="D9731A"/>
                </a:solidFill>
                <a:latin typeface="Calibri (MS) Bold"/>
                <a:ea typeface="Calibri (MS) Bold"/>
                <a:cs typeface="Calibri (MS) Bold"/>
                <a:sym typeface="Calibri (MS) Bold"/>
              </a:rPr>
              <a:t>LANE 2 · Finite-difference baseline (new)</a:t>
            </a:r>
          </a:p>
        </p:txBody>
      </p:sp>
      <p:grpSp>
        <p:nvGrpSpPr>
          <p:cNvPr name="Group 65" id="65"/>
          <p:cNvGrpSpPr/>
          <p:nvPr/>
        </p:nvGrpSpPr>
        <p:grpSpPr>
          <a:xfrm rot="0">
            <a:off x="3074213" y="5847007"/>
            <a:ext cx="1950339" cy="1195368"/>
            <a:chOff x="0" y="0"/>
            <a:chExt cx="2600452" cy="1593825"/>
          </a:xfrm>
        </p:grpSpPr>
        <p:sp>
          <p:nvSpPr>
            <p:cNvPr name="Freeform 66" id="66"/>
            <p:cNvSpPr/>
            <p:nvPr/>
          </p:nvSpPr>
          <p:spPr>
            <a:xfrm flipH="false" flipV="false" rot="0">
              <a:off x="0" y="0"/>
              <a:ext cx="2600452" cy="1593850"/>
            </a:xfrm>
            <a:custGeom>
              <a:avLst/>
              <a:gdLst/>
              <a:ahLst/>
              <a:cxnLst/>
              <a:rect r="r" b="b" t="t" l="l"/>
              <a:pathLst>
                <a:path h="1593850"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2"/>
                    <a:pt x="2514854" y="1593850"/>
                    <a:pt x="2409190" y="1593850"/>
                  </a:cubicBezTo>
                  <a:lnTo>
                    <a:pt x="191262" y="1593850"/>
                  </a:lnTo>
                  <a:cubicBezTo>
                    <a:pt x="85598" y="1593850"/>
                    <a:pt x="0" y="1508252"/>
                    <a:pt x="0" y="1402588"/>
                  </a:cubicBezTo>
                  <a:close/>
                </a:path>
              </a:pathLst>
            </a:custGeom>
            <a:solidFill>
              <a:srgbClr val="FDE6CF"/>
            </a:solidFill>
            <a:ln w="28597" cap="sq">
              <a:solidFill>
                <a:srgbClr val="D9731A"/>
              </a:solidFill>
              <a:prstDash val="solid"/>
              <a:miter/>
            </a:ln>
          </p:spPr>
        </p:sp>
        <p:sp>
          <p:nvSpPr>
            <p:cNvPr name="TextBox 67" id="67"/>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Grid</a:t>
              </a:r>
            </a:p>
            <a:p>
              <a:pPr algn="ctr">
                <a:lnSpc>
                  <a:spcPts val="1621"/>
                </a:lnSpc>
              </a:pPr>
              <a:r>
                <a:rPr lang="en-US" sz="1351">
                  <a:solidFill>
                    <a:srgbClr val="1F2933"/>
                  </a:solidFill>
                  <a:latin typeface="Calibri (MS)"/>
                  <a:ea typeface="Calibri (MS)"/>
                  <a:cs typeface="Calibri (MS)"/>
                  <a:sym typeface="Calibri (MS)"/>
                </a:rPr>
                <a:t>N = 400, h = 1/N</a:t>
              </a:r>
            </a:p>
            <a:p>
              <a:pPr algn="ctr">
                <a:lnSpc>
                  <a:spcPts val="1621"/>
                </a:lnSpc>
              </a:pPr>
              <a:r>
                <a:rPr lang="en-US" sz="1351">
                  <a:solidFill>
                    <a:srgbClr val="1F2933"/>
                  </a:solidFill>
                  <a:latin typeface="Calibri (MS)"/>
                  <a:ea typeface="Calibri (MS)"/>
                  <a:cs typeface="Calibri (MS)"/>
                  <a:sym typeface="Calibri (MS)"/>
                </a:rPr>
                <a:t>θ on a grid node</a:t>
              </a:r>
            </a:p>
          </p:txBody>
        </p:sp>
      </p:grpSp>
      <p:grpSp>
        <p:nvGrpSpPr>
          <p:cNvPr name="Group 68" id="68"/>
          <p:cNvGrpSpPr/>
          <p:nvPr/>
        </p:nvGrpSpPr>
        <p:grpSpPr>
          <a:xfrm rot="0">
            <a:off x="5407762" y="5847007"/>
            <a:ext cx="1950339" cy="1195368"/>
            <a:chOff x="0" y="0"/>
            <a:chExt cx="2600452" cy="1593825"/>
          </a:xfrm>
        </p:grpSpPr>
        <p:sp>
          <p:nvSpPr>
            <p:cNvPr name="Freeform 69" id="69"/>
            <p:cNvSpPr/>
            <p:nvPr/>
          </p:nvSpPr>
          <p:spPr>
            <a:xfrm flipH="false" flipV="false" rot="0">
              <a:off x="0" y="0"/>
              <a:ext cx="2600452" cy="1593850"/>
            </a:xfrm>
            <a:custGeom>
              <a:avLst/>
              <a:gdLst/>
              <a:ahLst/>
              <a:cxnLst/>
              <a:rect r="r" b="b" t="t" l="l"/>
              <a:pathLst>
                <a:path h="1593850"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2"/>
                    <a:pt x="2514854" y="1593850"/>
                    <a:pt x="2409190" y="1593850"/>
                  </a:cubicBezTo>
                  <a:lnTo>
                    <a:pt x="191262" y="1593850"/>
                  </a:lnTo>
                  <a:cubicBezTo>
                    <a:pt x="85598" y="1593850"/>
                    <a:pt x="0" y="1508252"/>
                    <a:pt x="0" y="1402588"/>
                  </a:cubicBezTo>
                  <a:close/>
                </a:path>
              </a:pathLst>
            </a:custGeom>
            <a:solidFill>
              <a:srgbClr val="FDE6CF"/>
            </a:solidFill>
            <a:ln w="28597" cap="sq">
              <a:solidFill>
                <a:srgbClr val="D9731A"/>
              </a:solidFill>
              <a:prstDash val="solid"/>
              <a:miter/>
            </a:ln>
          </p:spPr>
        </p:sp>
        <p:sp>
          <p:nvSpPr>
            <p:cNvPr name="TextBox 70" id="70"/>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Discretize</a:t>
              </a:r>
            </a:p>
            <a:p>
              <a:pPr algn="ctr">
                <a:lnSpc>
                  <a:spcPts val="1621"/>
                </a:lnSpc>
              </a:pPr>
              <a:r>
                <a:rPr lang="en-US" sz="1351">
                  <a:solidFill>
                    <a:srgbClr val="1F2933"/>
                  </a:solidFill>
                  <a:latin typeface="Calibri (MS)"/>
                  <a:ea typeface="Calibri (MS)"/>
                  <a:cs typeface="Calibri (MS)"/>
                  <a:sym typeface="Calibri (MS)"/>
                </a:rPr>
                <a:t>central differences,</a:t>
              </a:r>
            </a:p>
            <a:p>
              <a:pPr algn="ctr">
                <a:lnSpc>
                  <a:spcPts val="1621"/>
                </a:lnSpc>
              </a:pPr>
              <a:r>
                <a:rPr lang="en-US" sz="1351">
                  <a:solidFill>
                    <a:srgbClr val="1F2933"/>
                  </a:solidFill>
                  <a:latin typeface="Calibri (MS)"/>
                  <a:ea typeface="Calibri (MS)"/>
                  <a:cs typeface="Calibri (MS)"/>
                  <a:sym typeface="Calibri (MS)"/>
                </a:rPr>
                <a:t>ODE at interior nodes</a:t>
              </a:r>
            </a:p>
          </p:txBody>
        </p:sp>
      </p:grpSp>
      <p:grpSp>
        <p:nvGrpSpPr>
          <p:cNvPr name="Group 71" id="71"/>
          <p:cNvGrpSpPr/>
          <p:nvPr/>
        </p:nvGrpSpPr>
        <p:grpSpPr>
          <a:xfrm rot="0">
            <a:off x="7775615" y="5847007"/>
            <a:ext cx="1950339" cy="1195369"/>
            <a:chOff x="0" y="0"/>
            <a:chExt cx="2600452" cy="1593825"/>
          </a:xfrm>
        </p:grpSpPr>
        <p:sp>
          <p:nvSpPr>
            <p:cNvPr name="Freeform 72" id="72"/>
            <p:cNvSpPr/>
            <p:nvPr/>
          </p:nvSpPr>
          <p:spPr>
            <a:xfrm flipH="false" flipV="false" rot="0">
              <a:off x="0" y="0"/>
              <a:ext cx="2600452" cy="1593851"/>
            </a:xfrm>
            <a:custGeom>
              <a:avLst/>
              <a:gdLst/>
              <a:ahLst/>
              <a:cxnLst/>
              <a:rect r="r" b="b" t="t" l="l"/>
              <a:pathLst>
                <a:path h="1593851"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3"/>
                    <a:pt x="2514854" y="1593851"/>
                    <a:pt x="2409190" y="1593851"/>
                  </a:cubicBezTo>
                  <a:lnTo>
                    <a:pt x="191262" y="1593851"/>
                  </a:lnTo>
                  <a:cubicBezTo>
                    <a:pt x="85598" y="1593851"/>
                    <a:pt x="0" y="1508253"/>
                    <a:pt x="0" y="1402589"/>
                  </a:cubicBezTo>
                  <a:close/>
                </a:path>
              </a:pathLst>
            </a:custGeom>
            <a:solidFill>
              <a:srgbClr val="FDE6CF"/>
            </a:solidFill>
            <a:ln w="28597" cap="sq">
              <a:solidFill>
                <a:srgbClr val="D9731A"/>
              </a:solidFill>
              <a:prstDash val="solid"/>
              <a:miter/>
            </a:ln>
          </p:spPr>
        </p:sp>
        <p:sp>
          <p:nvSpPr>
            <p:cNvPr name="TextBox 73" id="73"/>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BC </a:t>
              </a:r>
            </a:p>
          </p:txBody>
        </p:sp>
      </p:grpSp>
      <p:grpSp>
        <p:nvGrpSpPr>
          <p:cNvPr name="Group 74" id="74"/>
          <p:cNvGrpSpPr/>
          <p:nvPr/>
        </p:nvGrpSpPr>
        <p:grpSpPr>
          <a:xfrm rot="0">
            <a:off x="10074840" y="5847007"/>
            <a:ext cx="1950339" cy="1195368"/>
            <a:chOff x="0" y="0"/>
            <a:chExt cx="2600452" cy="1593825"/>
          </a:xfrm>
        </p:grpSpPr>
        <p:sp>
          <p:nvSpPr>
            <p:cNvPr name="Freeform 75" id="75"/>
            <p:cNvSpPr/>
            <p:nvPr/>
          </p:nvSpPr>
          <p:spPr>
            <a:xfrm flipH="false" flipV="false" rot="0">
              <a:off x="0" y="0"/>
              <a:ext cx="2600452" cy="1593850"/>
            </a:xfrm>
            <a:custGeom>
              <a:avLst/>
              <a:gdLst/>
              <a:ahLst/>
              <a:cxnLst/>
              <a:rect r="r" b="b" t="t" l="l"/>
              <a:pathLst>
                <a:path h="1593850"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2"/>
                    <a:pt x="2514854" y="1593850"/>
                    <a:pt x="2409190" y="1593850"/>
                  </a:cubicBezTo>
                  <a:lnTo>
                    <a:pt x="191262" y="1593850"/>
                  </a:lnTo>
                  <a:cubicBezTo>
                    <a:pt x="85598" y="1593850"/>
                    <a:pt x="0" y="1508252"/>
                    <a:pt x="0" y="1402588"/>
                  </a:cubicBezTo>
                  <a:close/>
                </a:path>
              </a:pathLst>
            </a:custGeom>
            <a:solidFill>
              <a:srgbClr val="FDE6CF"/>
            </a:solidFill>
            <a:ln w="28597" cap="sq">
              <a:solidFill>
                <a:srgbClr val="D9731A"/>
              </a:solidFill>
              <a:prstDash val="solid"/>
              <a:miter/>
            </a:ln>
          </p:spPr>
        </p:sp>
        <p:sp>
          <p:nvSpPr>
            <p:cNvPr name="TextBox 76" id="76"/>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Sparse Newton</a:t>
              </a:r>
            </a:p>
            <a:p>
              <a:pPr algn="ctr">
                <a:lnSpc>
                  <a:spcPts val="1621"/>
                </a:lnSpc>
              </a:pPr>
              <a:r>
                <a:rPr lang="en-US" sz="1351">
                  <a:solidFill>
                    <a:srgbClr val="1F2933"/>
                  </a:solidFill>
                  <a:latin typeface="Calibri (MS)"/>
                  <a:ea typeface="Calibri (MS)"/>
                  <a:cs typeface="Calibri (MS)"/>
                  <a:sym typeface="Calibri (MS)"/>
                </a:rPr>
                <a:t>analytic Jacobian,</a:t>
              </a:r>
            </a:p>
            <a:p>
              <a:pPr algn="ctr">
                <a:lnSpc>
                  <a:spcPts val="1621"/>
                </a:lnSpc>
              </a:pPr>
              <a:r>
                <a:rPr lang="en-US" sz="1351">
                  <a:solidFill>
                    <a:srgbClr val="1F2933"/>
                  </a:solidFill>
                  <a:latin typeface="Calibri (MS)"/>
                  <a:ea typeface="Calibri (MS)"/>
                  <a:cs typeface="Calibri (MS)"/>
                  <a:sym typeface="Calibri (MS)"/>
                </a:rPr>
                <a:t>backtracking, tol 1e-10</a:t>
              </a:r>
            </a:p>
          </p:txBody>
        </p:sp>
      </p:grpSp>
      <p:grpSp>
        <p:nvGrpSpPr>
          <p:cNvPr name="Group 77" id="77"/>
          <p:cNvGrpSpPr/>
          <p:nvPr/>
        </p:nvGrpSpPr>
        <p:grpSpPr>
          <a:xfrm rot="0">
            <a:off x="12408389" y="5847007"/>
            <a:ext cx="1950339" cy="1195368"/>
            <a:chOff x="0" y="0"/>
            <a:chExt cx="2600452" cy="1593825"/>
          </a:xfrm>
        </p:grpSpPr>
        <p:sp>
          <p:nvSpPr>
            <p:cNvPr name="Freeform 78" id="78"/>
            <p:cNvSpPr/>
            <p:nvPr/>
          </p:nvSpPr>
          <p:spPr>
            <a:xfrm flipH="false" flipV="false" rot="0">
              <a:off x="0" y="0"/>
              <a:ext cx="2600452" cy="1593850"/>
            </a:xfrm>
            <a:custGeom>
              <a:avLst/>
              <a:gdLst/>
              <a:ahLst/>
              <a:cxnLst/>
              <a:rect r="r" b="b" t="t" l="l"/>
              <a:pathLst>
                <a:path h="1593850"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2"/>
                    <a:pt x="2514854" y="1593850"/>
                    <a:pt x="2409190" y="1593850"/>
                  </a:cubicBezTo>
                  <a:lnTo>
                    <a:pt x="191262" y="1593850"/>
                  </a:lnTo>
                  <a:cubicBezTo>
                    <a:pt x="85598" y="1593850"/>
                    <a:pt x="0" y="1508252"/>
                    <a:pt x="0" y="1402588"/>
                  </a:cubicBezTo>
                  <a:close/>
                </a:path>
              </a:pathLst>
            </a:custGeom>
            <a:solidFill>
              <a:srgbClr val="FDE6CF"/>
            </a:solidFill>
            <a:ln w="28597" cap="sq">
              <a:solidFill>
                <a:srgbClr val="D9731A"/>
              </a:solidFill>
              <a:prstDash val="solid"/>
              <a:miter/>
            </a:ln>
          </p:spPr>
        </p:sp>
        <p:sp>
          <p:nvSpPr>
            <p:cNvPr name="TextBox 79" id="79"/>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Evaluate</a:t>
              </a:r>
            </a:p>
            <a:p>
              <a:pPr algn="ctr">
                <a:lnSpc>
                  <a:spcPts val="1621"/>
                </a:lnSpc>
              </a:pPr>
              <a:r>
                <a:rPr lang="en-US" sz="1351">
                  <a:solidFill>
                    <a:srgbClr val="1F2933"/>
                  </a:solidFill>
                  <a:latin typeface="Calibri (MS)"/>
                  <a:ea typeface="Calibri (MS)"/>
                  <a:cs typeface="Calibri (MS)"/>
                  <a:sym typeface="Calibri (MS)"/>
                </a:rPr>
                <a:t>same metrics vs exact</a:t>
              </a:r>
            </a:p>
            <a:p>
              <a:pPr algn="ctr">
                <a:lnSpc>
                  <a:spcPts val="1621"/>
                </a:lnSpc>
              </a:pPr>
              <a:r>
                <a:rPr lang="en-US" sz="1351">
                  <a:solidFill>
                    <a:srgbClr val="1F2933"/>
                  </a:solidFill>
                  <a:latin typeface="Calibri (MS)"/>
                  <a:ea typeface="Calibri (MS)"/>
                  <a:cs typeface="Calibri (MS)"/>
                  <a:sym typeface="Calibri (MS)"/>
                </a:rPr>
                <a:t>+ N = 50…400 study</a:t>
              </a:r>
            </a:p>
          </p:txBody>
        </p:sp>
      </p:grpSp>
      <p:sp>
        <p:nvSpPr>
          <p:cNvPr name="AutoShape 80" id="80"/>
          <p:cNvSpPr/>
          <p:nvPr/>
        </p:nvSpPr>
        <p:spPr>
          <a:xfrm rot="-222900">
            <a:off x="4995491" y="6435166"/>
            <a:ext cx="441322" cy="19050"/>
          </a:xfrm>
          <a:prstGeom prst="line">
            <a:avLst/>
          </a:prstGeom>
          <a:ln cap="rnd" w="19050">
            <a:solidFill>
              <a:srgbClr val="444444"/>
            </a:solidFill>
            <a:prstDash val="solid"/>
            <a:headEnd type="none" len="sm" w="sm"/>
            <a:tailEnd type="triangle" len="med" w="lg"/>
          </a:ln>
        </p:spPr>
      </p:sp>
      <p:sp>
        <p:nvSpPr>
          <p:cNvPr name="AutoShape 81" id="81"/>
          <p:cNvSpPr/>
          <p:nvPr/>
        </p:nvSpPr>
        <p:spPr>
          <a:xfrm>
            <a:off x="7358101" y="6444691"/>
            <a:ext cx="417514" cy="0"/>
          </a:xfrm>
          <a:prstGeom prst="line">
            <a:avLst/>
          </a:prstGeom>
          <a:ln cap="rnd" w="19050">
            <a:solidFill>
              <a:srgbClr val="444444"/>
            </a:solidFill>
            <a:prstDash val="solid"/>
            <a:headEnd type="none" len="sm" w="sm"/>
            <a:tailEnd type="triangle" len="med" w="lg"/>
          </a:ln>
        </p:spPr>
      </p:sp>
      <p:sp>
        <p:nvSpPr>
          <p:cNvPr name="AutoShape 82" id="82"/>
          <p:cNvSpPr/>
          <p:nvPr/>
        </p:nvSpPr>
        <p:spPr>
          <a:xfrm flipV="true">
            <a:off x="9725954" y="6444691"/>
            <a:ext cx="348886" cy="0"/>
          </a:xfrm>
          <a:prstGeom prst="line">
            <a:avLst/>
          </a:prstGeom>
          <a:ln cap="rnd" w="19050">
            <a:solidFill>
              <a:srgbClr val="444444"/>
            </a:solidFill>
            <a:prstDash val="solid"/>
            <a:headEnd type="none" len="sm" w="sm"/>
            <a:tailEnd type="triangle" len="med" w="lg"/>
          </a:ln>
        </p:spPr>
      </p:sp>
      <p:sp>
        <p:nvSpPr>
          <p:cNvPr name="AutoShape 83" id="83"/>
          <p:cNvSpPr/>
          <p:nvPr/>
        </p:nvSpPr>
        <p:spPr>
          <a:xfrm rot="-222900">
            <a:off x="11996118" y="6435166"/>
            <a:ext cx="441322" cy="19050"/>
          </a:xfrm>
          <a:prstGeom prst="line">
            <a:avLst/>
          </a:prstGeom>
          <a:ln cap="rnd" w="19050">
            <a:solidFill>
              <a:srgbClr val="444444"/>
            </a:solidFill>
            <a:prstDash val="solid"/>
            <a:headEnd type="none" len="sm" w="sm"/>
            <a:tailEnd type="triangle" len="med" w="lg"/>
          </a:ln>
        </p:spPr>
      </p:sp>
      <p:grpSp>
        <p:nvGrpSpPr>
          <p:cNvPr name="Group 84" id="84"/>
          <p:cNvGrpSpPr/>
          <p:nvPr/>
        </p:nvGrpSpPr>
        <p:grpSpPr>
          <a:xfrm rot="0">
            <a:off x="2873083" y="7265632"/>
            <a:ext cx="11618147" cy="1117206"/>
            <a:chOff x="0" y="0"/>
            <a:chExt cx="15490863" cy="1489608"/>
          </a:xfrm>
        </p:grpSpPr>
        <p:sp>
          <p:nvSpPr>
            <p:cNvPr name="Freeform 85" id="85"/>
            <p:cNvSpPr/>
            <p:nvPr/>
          </p:nvSpPr>
          <p:spPr>
            <a:xfrm flipH="false" flipV="false" rot="0">
              <a:off x="0" y="0"/>
              <a:ext cx="15490825" cy="1489583"/>
            </a:xfrm>
            <a:custGeom>
              <a:avLst/>
              <a:gdLst/>
              <a:ahLst/>
              <a:cxnLst/>
              <a:rect r="r" b="b" t="t" l="l"/>
              <a:pathLst>
                <a:path h="1489583" w="15490825">
                  <a:moveTo>
                    <a:pt x="0" y="0"/>
                  </a:moveTo>
                  <a:lnTo>
                    <a:pt x="15490825" y="0"/>
                  </a:lnTo>
                  <a:lnTo>
                    <a:pt x="15490825" y="1489583"/>
                  </a:lnTo>
                  <a:lnTo>
                    <a:pt x="0" y="1489583"/>
                  </a:lnTo>
                  <a:close/>
                </a:path>
              </a:pathLst>
            </a:custGeom>
            <a:blipFill>
              <a:blip r:embed="rId4">
                <a:alphaModFix amt="0"/>
              </a:blip>
              <a:stretch>
                <a:fillRect l="0" t="-152633" r="0" b="-152634"/>
              </a:stretch>
            </a:blipFill>
            <a:ln w="19065" cap="sq">
              <a:solidFill>
                <a:srgbClr val="6B6B6B"/>
              </a:solidFill>
              <a:prstDash val="dash"/>
              <a:miter/>
            </a:ln>
          </p:spPr>
        </p:sp>
      </p:grpSp>
      <p:sp>
        <p:nvSpPr>
          <p:cNvPr name="TextBox 86" id="86"/>
          <p:cNvSpPr txBox="true"/>
          <p:nvPr/>
        </p:nvSpPr>
        <p:spPr>
          <a:xfrm rot="0">
            <a:off x="2996965" y="7250773"/>
            <a:ext cx="11507638" cy="326403"/>
          </a:xfrm>
          <a:prstGeom prst="rect">
            <a:avLst/>
          </a:prstGeom>
        </p:spPr>
        <p:txBody>
          <a:bodyPr anchor="t" rtlCol="false" tIns="0" lIns="0" bIns="0" rIns="0">
            <a:spAutoFit/>
          </a:bodyPr>
          <a:lstStyle/>
          <a:p>
            <a:pPr algn="l">
              <a:lnSpc>
                <a:spcPts val="1801"/>
              </a:lnSpc>
            </a:pPr>
            <a:r>
              <a:rPr lang="en-US" sz="1501" b="true">
                <a:solidFill>
                  <a:srgbClr val="6B6B6B"/>
                </a:solidFill>
                <a:latin typeface="Calibri (MS) Bold"/>
                <a:ea typeface="Calibri (MS) Bold"/>
                <a:cs typeface="Calibri (MS) Bold"/>
                <a:sym typeface="Calibri (MS) Bold"/>
              </a:rPr>
              <a:t>LANE 3 · Auxiliary paper-style sweeps (1 seed × 3000 epochs)</a:t>
            </a:r>
          </a:p>
        </p:txBody>
      </p:sp>
      <p:grpSp>
        <p:nvGrpSpPr>
          <p:cNvPr name="Group 87" id="87"/>
          <p:cNvGrpSpPr/>
          <p:nvPr/>
        </p:nvGrpSpPr>
        <p:grpSpPr>
          <a:xfrm rot="0">
            <a:off x="3074213" y="7604036"/>
            <a:ext cx="3597545" cy="714937"/>
            <a:chOff x="0" y="0"/>
            <a:chExt cx="4796726" cy="953249"/>
          </a:xfrm>
        </p:grpSpPr>
        <p:sp>
          <p:nvSpPr>
            <p:cNvPr name="Freeform 88" id="88"/>
            <p:cNvSpPr/>
            <p:nvPr/>
          </p:nvSpPr>
          <p:spPr>
            <a:xfrm flipH="false" flipV="false" rot="0">
              <a:off x="0" y="0"/>
              <a:ext cx="4796790" cy="953262"/>
            </a:xfrm>
            <a:custGeom>
              <a:avLst/>
              <a:gdLst/>
              <a:ahLst/>
              <a:cxnLst/>
              <a:rect r="r" b="b" t="t" l="l"/>
              <a:pathLst>
                <a:path h="953262" w="4796790">
                  <a:moveTo>
                    <a:pt x="0" y="114427"/>
                  </a:moveTo>
                  <a:cubicBezTo>
                    <a:pt x="0" y="51181"/>
                    <a:pt x="51181" y="0"/>
                    <a:pt x="114427" y="0"/>
                  </a:cubicBezTo>
                  <a:lnTo>
                    <a:pt x="4682363" y="0"/>
                  </a:lnTo>
                  <a:cubicBezTo>
                    <a:pt x="4745482" y="0"/>
                    <a:pt x="4796790" y="51181"/>
                    <a:pt x="4796790" y="114427"/>
                  </a:cubicBezTo>
                  <a:lnTo>
                    <a:pt x="4796790" y="838835"/>
                  </a:lnTo>
                  <a:cubicBezTo>
                    <a:pt x="4796790" y="901954"/>
                    <a:pt x="4745609" y="953262"/>
                    <a:pt x="4682363" y="953262"/>
                  </a:cubicBezTo>
                  <a:lnTo>
                    <a:pt x="114427" y="953262"/>
                  </a:lnTo>
                  <a:cubicBezTo>
                    <a:pt x="51181" y="953262"/>
                    <a:pt x="0" y="902081"/>
                    <a:pt x="0" y="838835"/>
                  </a:cubicBezTo>
                  <a:close/>
                </a:path>
              </a:pathLst>
            </a:custGeom>
            <a:solidFill>
              <a:srgbClr val="EDEDED"/>
            </a:solidFill>
            <a:ln w="28597" cap="sq">
              <a:solidFill>
                <a:srgbClr val="6B6B6B"/>
              </a:solidFill>
              <a:prstDash val="solid"/>
              <a:miter/>
            </a:ln>
          </p:spPr>
        </p:sp>
        <p:sp>
          <p:nvSpPr>
            <p:cNvPr name="TextBox 89" id="89"/>
            <p:cNvSpPr txBox="true"/>
            <p:nvPr/>
          </p:nvSpPr>
          <p:spPr>
            <a:xfrm>
              <a:off x="0" y="-28575"/>
              <a:ext cx="4796726" cy="981824"/>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Depth sweep: 3, 6, 9, 12, 15 layers</a:t>
              </a:r>
            </a:p>
          </p:txBody>
        </p:sp>
      </p:grpSp>
      <p:grpSp>
        <p:nvGrpSpPr>
          <p:cNvPr name="Group 90" id="90"/>
          <p:cNvGrpSpPr/>
          <p:nvPr/>
        </p:nvGrpSpPr>
        <p:grpSpPr>
          <a:xfrm rot="0">
            <a:off x="6917693" y="7604036"/>
            <a:ext cx="3597545" cy="714937"/>
            <a:chOff x="0" y="0"/>
            <a:chExt cx="4796726" cy="953249"/>
          </a:xfrm>
        </p:grpSpPr>
        <p:sp>
          <p:nvSpPr>
            <p:cNvPr name="Freeform 91" id="91"/>
            <p:cNvSpPr/>
            <p:nvPr/>
          </p:nvSpPr>
          <p:spPr>
            <a:xfrm flipH="false" flipV="false" rot="0">
              <a:off x="0" y="0"/>
              <a:ext cx="4796790" cy="953262"/>
            </a:xfrm>
            <a:custGeom>
              <a:avLst/>
              <a:gdLst/>
              <a:ahLst/>
              <a:cxnLst/>
              <a:rect r="r" b="b" t="t" l="l"/>
              <a:pathLst>
                <a:path h="953262" w="4796790">
                  <a:moveTo>
                    <a:pt x="0" y="114427"/>
                  </a:moveTo>
                  <a:cubicBezTo>
                    <a:pt x="0" y="51181"/>
                    <a:pt x="51181" y="0"/>
                    <a:pt x="114427" y="0"/>
                  </a:cubicBezTo>
                  <a:lnTo>
                    <a:pt x="4682363" y="0"/>
                  </a:lnTo>
                  <a:cubicBezTo>
                    <a:pt x="4745482" y="0"/>
                    <a:pt x="4796790" y="51181"/>
                    <a:pt x="4796790" y="114427"/>
                  </a:cubicBezTo>
                  <a:lnTo>
                    <a:pt x="4796790" y="838835"/>
                  </a:lnTo>
                  <a:cubicBezTo>
                    <a:pt x="4796790" y="901954"/>
                    <a:pt x="4745609" y="953262"/>
                    <a:pt x="4682363" y="953262"/>
                  </a:cubicBezTo>
                  <a:lnTo>
                    <a:pt x="114427" y="953262"/>
                  </a:lnTo>
                  <a:cubicBezTo>
                    <a:pt x="51181" y="953262"/>
                    <a:pt x="0" y="902081"/>
                    <a:pt x="0" y="838835"/>
                  </a:cubicBezTo>
                  <a:close/>
                </a:path>
              </a:pathLst>
            </a:custGeom>
            <a:solidFill>
              <a:srgbClr val="EDEDED"/>
            </a:solidFill>
            <a:ln w="28597" cap="sq">
              <a:solidFill>
                <a:srgbClr val="6B6B6B"/>
              </a:solidFill>
              <a:prstDash val="solid"/>
              <a:miter/>
            </a:ln>
          </p:spPr>
        </p:sp>
        <p:sp>
          <p:nvSpPr>
            <p:cNvPr name="TextBox 92" id="92"/>
            <p:cNvSpPr txBox="true"/>
            <p:nvPr/>
          </p:nvSpPr>
          <p:spPr>
            <a:xfrm>
              <a:off x="0" y="-28575"/>
              <a:ext cx="4796726" cy="981824"/>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Activation: tanh, sigmoid, ReLU, SeLU</a:t>
              </a:r>
            </a:p>
          </p:txBody>
        </p:sp>
      </p:grpSp>
      <p:grpSp>
        <p:nvGrpSpPr>
          <p:cNvPr name="Group 93" id="93"/>
          <p:cNvGrpSpPr/>
          <p:nvPr/>
        </p:nvGrpSpPr>
        <p:grpSpPr>
          <a:xfrm rot="0">
            <a:off x="10761183" y="7604036"/>
            <a:ext cx="3528908" cy="714937"/>
            <a:chOff x="0" y="0"/>
            <a:chExt cx="4705210" cy="953249"/>
          </a:xfrm>
        </p:grpSpPr>
        <p:sp>
          <p:nvSpPr>
            <p:cNvPr name="Freeform 94" id="94"/>
            <p:cNvSpPr/>
            <p:nvPr/>
          </p:nvSpPr>
          <p:spPr>
            <a:xfrm flipH="false" flipV="false" rot="0">
              <a:off x="0" y="0"/>
              <a:ext cx="4705223" cy="953262"/>
            </a:xfrm>
            <a:custGeom>
              <a:avLst/>
              <a:gdLst/>
              <a:ahLst/>
              <a:cxnLst/>
              <a:rect r="r" b="b" t="t" l="l"/>
              <a:pathLst>
                <a:path h="953262" w="4705223">
                  <a:moveTo>
                    <a:pt x="0" y="114427"/>
                  </a:moveTo>
                  <a:cubicBezTo>
                    <a:pt x="0" y="51181"/>
                    <a:pt x="51181" y="0"/>
                    <a:pt x="114427" y="0"/>
                  </a:cubicBezTo>
                  <a:lnTo>
                    <a:pt x="4590796" y="0"/>
                  </a:lnTo>
                  <a:cubicBezTo>
                    <a:pt x="4653915" y="0"/>
                    <a:pt x="4705223" y="51181"/>
                    <a:pt x="4705223" y="114427"/>
                  </a:cubicBezTo>
                  <a:lnTo>
                    <a:pt x="4705223" y="838835"/>
                  </a:lnTo>
                  <a:cubicBezTo>
                    <a:pt x="4705223" y="901954"/>
                    <a:pt x="4654042" y="953262"/>
                    <a:pt x="4590796" y="953262"/>
                  </a:cubicBezTo>
                  <a:lnTo>
                    <a:pt x="114427" y="953262"/>
                  </a:lnTo>
                  <a:cubicBezTo>
                    <a:pt x="51181" y="953262"/>
                    <a:pt x="0" y="902081"/>
                    <a:pt x="0" y="838835"/>
                  </a:cubicBezTo>
                  <a:close/>
                </a:path>
              </a:pathLst>
            </a:custGeom>
            <a:solidFill>
              <a:srgbClr val="EDEDED"/>
            </a:solidFill>
            <a:ln w="28597" cap="sq">
              <a:solidFill>
                <a:srgbClr val="6B6B6B"/>
              </a:solidFill>
              <a:prstDash val="solid"/>
              <a:miter/>
            </a:ln>
          </p:spPr>
        </p:sp>
        <p:sp>
          <p:nvSpPr>
            <p:cNvPr name="TextBox 95" id="95"/>
            <p:cNvSpPr txBox="true"/>
            <p:nvPr/>
          </p:nvSpPr>
          <p:spPr>
            <a:xfrm>
              <a:off x="0" y="-28575"/>
              <a:ext cx="4705210" cy="981824"/>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Recreate paper Figs 1–12</a:t>
              </a:r>
            </a:p>
          </p:txBody>
        </p:sp>
      </p:grpSp>
      <p:sp>
        <p:nvSpPr>
          <p:cNvPr name="AutoShape 96" id="96"/>
          <p:cNvSpPr/>
          <p:nvPr/>
        </p:nvSpPr>
        <p:spPr>
          <a:xfrm rot="-323340">
            <a:off x="6642487" y="7951975"/>
            <a:ext cx="304476" cy="19050"/>
          </a:xfrm>
          <a:prstGeom prst="line">
            <a:avLst/>
          </a:prstGeom>
          <a:ln cap="rnd" w="19050">
            <a:solidFill>
              <a:srgbClr val="444444"/>
            </a:solidFill>
            <a:prstDash val="solid"/>
            <a:headEnd type="none" len="sm" w="sm"/>
            <a:tailEnd type="triangle" len="med" w="lg"/>
          </a:ln>
        </p:spPr>
      </p:sp>
      <p:sp>
        <p:nvSpPr>
          <p:cNvPr name="AutoShape 97" id="97"/>
          <p:cNvSpPr/>
          <p:nvPr/>
        </p:nvSpPr>
        <p:spPr>
          <a:xfrm rot="-323340">
            <a:off x="10485968" y="7951975"/>
            <a:ext cx="304476" cy="19050"/>
          </a:xfrm>
          <a:prstGeom prst="line">
            <a:avLst/>
          </a:prstGeom>
          <a:ln cap="rnd" w="19050">
            <a:solidFill>
              <a:srgbClr val="444444"/>
            </a:solidFill>
            <a:prstDash val="solid"/>
            <a:headEnd type="none" len="sm" w="sm"/>
            <a:tailEnd type="triangle" len="med" w="lg"/>
          </a:ln>
        </p:spPr>
      </p:sp>
      <p:grpSp>
        <p:nvGrpSpPr>
          <p:cNvPr name="Group 98" id="98"/>
          <p:cNvGrpSpPr/>
          <p:nvPr/>
        </p:nvGrpSpPr>
        <p:grpSpPr>
          <a:xfrm rot="0">
            <a:off x="14879193" y="3966448"/>
            <a:ext cx="3048476" cy="2087604"/>
            <a:chOff x="0" y="0"/>
            <a:chExt cx="4064635" cy="2783472"/>
          </a:xfrm>
        </p:grpSpPr>
        <p:sp>
          <p:nvSpPr>
            <p:cNvPr name="Freeform 99" id="99"/>
            <p:cNvSpPr/>
            <p:nvPr/>
          </p:nvSpPr>
          <p:spPr>
            <a:xfrm flipH="false" flipV="false" rot="0">
              <a:off x="0" y="0"/>
              <a:ext cx="4064635" cy="2783459"/>
            </a:xfrm>
            <a:custGeom>
              <a:avLst/>
              <a:gdLst/>
              <a:ahLst/>
              <a:cxnLst/>
              <a:rect r="r" b="b" t="t" l="l"/>
              <a:pathLst>
                <a:path h="2783459" w="4064635">
                  <a:moveTo>
                    <a:pt x="0" y="334010"/>
                  </a:moveTo>
                  <a:cubicBezTo>
                    <a:pt x="0" y="149606"/>
                    <a:pt x="149606" y="0"/>
                    <a:pt x="334010" y="0"/>
                  </a:cubicBezTo>
                  <a:lnTo>
                    <a:pt x="3730625" y="0"/>
                  </a:lnTo>
                  <a:cubicBezTo>
                    <a:pt x="3915156" y="0"/>
                    <a:pt x="4064635" y="149606"/>
                    <a:pt x="4064635" y="334010"/>
                  </a:cubicBezTo>
                  <a:lnTo>
                    <a:pt x="4064635" y="2449449"/>
                  </a:lnTo>
                  <a:cubicBezTo>
                    <a:pt x="4064635" y="2633980"/>
                    <a:pt x="3915029" y="2783459"/>
                    <a:pt x="3730625" y="2783459"/>
                  </a:cubicBezTo>
                  <a:lnTo>
                    <a:pt x="334010" y="2783459"/>
                  </a:lnTo>
                  <a:cubicBezTo>
                    <a:pt x="149606" y="2783459"/>
                    <a:pt x="0" y="2633980"/>
                    <a:pt x="0" y="2449449"/>
                  </a:cubicBezTo>
                  <a:close/>
                </a:path>
              </a:pathLst>
            </a:custGeom>
            <a:solidFill>
              <a:srgbClr val="FDE6CF"/>
            </a:solidFill>
            <a:ln w="28597" cap="sq">
              <a:solidFill>
                <a:srgbClr val="D9731A"/>
              </a:solidFill>
              <a:prstDash val="solid"/>
              <a:miter/>
            </a:ln>
          </p:spPr>
        </p:sp>
        <p:sp>
          <p:nvSpPr>
            <p:cNvPr name="TextBox 100" id="100"/>
            <p:cNvSpPr txBox="true"/>
            <p:nvPr/>
          </p:nvSpPr>
          <p:spPr>
            <a:xfrm>
              <a:off x="0" y="-38100"/>
              <a:ext cx="4064635" cy="2821572"/>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PINN vs FD comparison</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RMSE, RE</a:t>
              </a:r>
            </a:p>
            <a:p>
              <a:pPr algn="ctr">
                <a:lnSpc>
                  <a:spcPts val="1801"/>
                </a:lnSpc>
              </a:pPr>
              <a:r>
                <a:rPr lang="en-US" sz="1501">
                  <a:solidFill>
                    <a:srgbClr val="1F2933"/>
                  </a:solidFill>
                  <a:latin typeface="Calibri (MS)"/>
                  <a:ea typeface="Calibri (MS)"/>
                  <a:cs typeface="Calibri (MS)"/>
                  <a:sym typeface="Calibri (MS)"/>
                </a:rPr>
                <a:t>wall-clock time</a:t>
              </a:r>
            </a:p>
            <a:p>
              <a:pPr algn="ctr">
                <a:lnSpc>
                  <a:spcPts val="1801"/>
                </a:lnSpc>
              </a:pPr>
              <a:r>
                <a:rPr lang="en-US" sz="1501">
                  <a:solidFill>
                    <a:srgbClr val="1F2933"/>
                  </a:solidFill>
                  <a:latin typeface="Calibri (MS)"/>
                  <a:ea typeface="Calibri (MS)"/>
                  <a:cs typeface="Calibri (MS)"/>
                  <a:sym typeface="Calibri (MS)"/>
                </a:rPr>
                <a:t>PINN/FD ratios</a:t>
              </a:r>
            </a:p>
            <a:p>
              <a:pPr algn="ctr">
                <a:lnSpc>
                  <a:spcPts val="1801"/>
                </a:lnSpc>
              </a:pPr>
              <a:r>
                <a:rPr lang="en-US" sz="1501">
                  <a:solidFill>
                    <a:srgbClr val="1F2933"/>
                  </a:solidFill>
                  <a:latin typeface="Calibri (MS)"/>
                  <a:ea typeface="Calibri (MS)"/>
                  <a:cs typeface="Calibri (MS)"/>
                  <a:sym typeface="Calibri (MS)"/>
                </a:rPr>
                <a:t>(best PINN vs FD, N=400)</a:t>
              </a:r>
            </a:p>
          </p:txBody>
        </p:sp>
      </p:grpSp>
      <p:sp>
        <p:nvSpPr>
          <p:cNvPr name="Freeform 101" id="101"/>
          <p:cNvSpPr/>
          <p:nvPr/>
        </p:nvSpPr>
        <p:spPr>
          <a:xfrm flipH="false" flipV="false" rot="0">
            <a:off x="15835407" y="8090075"/>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2" id="102"/>
          <p:cNvGrpSpPr/>
          <p:nvPr/>
        </p:nvGrpSpPr>
        <p:grpSpPr>
          <a:xfrm rot="0">
            <a:off x="14879193" y="6787577"/>
            <a:ext cx="3048476" cy="1675800"/>
            <a:chOff x="0" y="0"/>
            <a:chExt cx="4064635" cy="2234400"/>
          </a:xfrm>
        </p:grpSpPr>
        <p:sp>
          <p:nvSpPr>
            <p:cNvPr name="Freeform 103" id="103"/>
            <p:cNvSpPr/>
            <p:nvPr/>
          </p:nvSpPr>
          <p:spPr>
            <a:xfrm flipH="false" flipV="false" rot="0">
              <a:off x="0" y="0"/>
              <a:ext cx="4064635" cy="2234311"/>
            </a:xfrm>
            <a:custGeom>
              <a:avLst/>
              <a:gdLst/>
              <a:ahLst/>
              <a:cxnLst/>
              <a:rect r="r" b="b" t="t" l="l"/>
              <a:pathLst>
                <a:path h="2234311" w="4064635">
                  <a:moveTo>
                    <a:pt x="0" y="268097"/>
                  </a:moveTo>
                  <a:cubicBezTo>
                    <a:pt x="0" y="120015"/>
                    <a:pt x="120015" y="0"/>
                    <a:pt x="268097" y="0"/>
                  </a:cubicBezTo>
                  <a:lnTo>
                    <a:pt x="3796538" y="0"/>
                  </a:lnTo>
                  <a:cubicBezTo>
                    <a:pt x="3944620" y="0"/>
                    <a:pt x="4064635" y="120015"/>
                    <a:pt x="4064635" y="268097"/>
                  </a:cubicBezTo>
                  <a:lnTo>
                    <a:pt x="4064635" y="1966214"/>
                  </a:lnTo>
                  <a:cubicBezTo>
                    <a:pt x="4064635" y="2114296"/>
                    <a:pt x="3944620" y="2234311"/>
                    <a:pt x="3796538" y="2234311"/>
                  </a:cubicBezTo>
                  <a:lnTo>
                    <a:pt x="268097" y="2234311"/>
                  </a:lnTo>
                  <a:cubicBezTo>
                    <a:pt x="120015" y="2234438"/>
                    <a:pt x="0" y="2114423"/>
                    <a:pt x="0" y="1966214"/>
                  </a:cubicBezTo>
                  <a:close/>
                </a:path>
              </a:pathLst>
            </a:custGeom>
            <a:solidFill>
              <a:srgbClr val="FDE6CF"/>
            </a:solidFill>
            <a:ln w="28597" cap="sq">
              <a:solidFill>
                <a:srgbClr val="D9731A"/>
              </a:solidFill>
              <a:prstDash val="solid"/>
              <a:miter/>
            </a:ln>
          </p:spPr>
        </p:sp>
        <p:sp>
          <p:nvSpPr>
            <p:cNvPr name="TextBox 104" id="104"/>
            <p:cNvSpPr txBox="true"/>
            <p:nvPr/>
          </p:nvSpPr>
          <p:spPr>
            <a:xfrm>
              <a:off x="0" y="-38100"/>
              <a:ext cx="4064635" cy="227250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Final interpretation</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FD is strong on smooth 1-D</a:t>
              </a:r>
            </a:p>
            <a:p>
              <a:pPr algn="ctr">
                <a:lnSpc>
                  <a:spcPts val="1801"/>
                </a:lnSpc>
              </a:pPr>
              <a:r>
                <a:rPr lang="en-US" sz="1501">
                  <a:solidFill>
                    <a:srgbClr val="1F2933"/>
                  </a:solidFill>
                  <a:latin typeface="Calibri (MS)"/>
                  <a:ea typeface="Calibri (MS)"/>
                  <a:cs typeface="Calibri (MS)"/>
                  <a:sym typeface="Calibri (MS)"/>
                </a:rPr>
                <a:t>problems; PINN trade-offs</a:t>
              </a:r>
            </a:p>
            <a:p>
              <a:pPr algn="ctr">
                <a:lnSpc>
                  <a:spcPts val="1801"/>
                </a:lnSpc>
              </a:pPr>
              <a:r>
                <a:rPr lang="en-US" sz="1501">
                  <a:solidFill>
                    <a:srgbClr val="1F2933"/>
                  </a:solidFill>
                  <a:latin typeface="Calibri (MS)"/>
                  <a:ea typeface="Calibri (MS)"/>
                  <a:cs typeface="Calibri (MS)"/>
                  <a:sym typeface="Calibri (MS)"/>
                </a:rPr>
                <a:t>discussed honestly</a:t>
              </a:r>
            </a:p>
          </p:txBody>
        </p:sp>
      </p:grpSp>
      <p:sp>
        <p:nvSpPr>
          <p:cNvPr name="AutoShape 105" id="105"/>
          <p:cNvSpPr/>
          <p:nvPr/>
        </p:nvSpPr>
        <p:spPr>
          <a:xfrm rot="3286020">
            <a:off x="14118307" y="4606090"/>
            <a:ext cx="1001316" cy="19050"/>
          </a:xfrm>
          <a:prstGeom prst="line">
            <a:avLst/>
          </a:prstGeom>
          <a:ln cap="rnd" w="19050">
            <a:solidFill>
              <a:srgbClr val="444444"/>
            </a:solidFill>
            <a:prstDash val="solid"/>
            <a:headEnd type="none" len="sm" w="sm"/>
            <a:tailEnd type="triangle" len="med" w="lg"/>
          </a:ln>
        </p:spPr>
      </p:sp>
      <p:sp>
        <p:nvSpPr>
          <p:cNvPr name="AutoShape 106" id="106"/>
          <p:cNvSpPr/>
          <p:nvPr/>
        </p:nvSpPr>
        <p:spPr>
          <a:xfrm rot="-4107239">
            <a:off x="13832481" y="5717953"/>
            <a:ext cx="1572949" cy="19050"/>
          </a:xfrm>
          <a:prstGeom prst="line">
            <a:avLst/>
          </a:prstGeom>
          <a:ln cap="rnd" w="19050">
            <a:solidFill>
              <a:srgbClr val="444444"/>
            </a:solidFill>
            <a:prstDash val="solid"/>
            <a:headEnd type="none" len="sm" w="sm"/>
            <a:tailEnd type="triangle" len="med" w="lg"/>
          </a:ln>
        </p:spPr>
      </p:sp>
      <p:sp>
        <p:nvSpPr>
          <p:cNvPr name="AutoShape 107" id="107"/>
          <p:cNvSpPr/>
          <p:nvPr/>
        </p:nvSpPr>
        <p:spPr>
          <a:xfrm>
            <a:off x="16403431" y="6054042"/>
            <a:ext cx="0" cy="733535"/>
          </a:xfrm>
          <a:prstGeom prst="line">
            <a:avLst/>
          </a:prstGeom>
          <a:ln cap="rnd" w="19050">
            <a:solidFill>
              <a:srgbClr val="444444"/>
            </a:solidFill>
            <a:prstDash val="solid"/>
            <a:headEnd type="none" len="sm" w="sm"/>
            <a:tailEnd type="triangle" len="med" w="lg"/>
          </a:ln>
        </p:spPr>
      </p:sp>
      <p:sp>
        <p:nvSpPr>
          <p:cNvPr name="AutoShape 108" id="108"/>
          <p:cNvSpPr/>
          <p:nvPr/>
        </p:nvSpPr>
        <p:spPr>
          <a:xfrm flipV="true">
            <a:off x="2622356" y="2264907"/>
            <a:ext cx="451856" cy="2444526"/>
          </a:xfrm>
          <a:prstGeom prst="line">
            <a:avLst/>
          </a:prstGeom>
          <a:ln cap="rnd" w="19050">
            <a:solidFill>
              <a:srgbClr val="444444"/>
            </a:solidFill>
            <a:prstDash val="solid"/>
            <a:headEnd type="none" len="sm" w="sm"/>
            <a:tailEnd type="triangle" len="med" w="lg"/>
          </a:ln>
        </p:spPr>
      </p:sp>
      <p:sp>
        <p:nvSpPr>
          <p:cNvPr name="AutoShape 109" id="109"/>
          <p:cNvSpPr/>
          <p:nvPr/>
        </p:nvSpPr>
        <p:spPr>
          <a:xfrm>
            <a:off x="2622356" y="4709433"/>
            <a:ext cx="451856" cy="1735258"/>
          </a:xfrm>
          <a:prstGeom prst="line">
            <a:avLst/>
          </a:prstGeom>
          <a:ln cap="rnd" w="19050">
            <a:solidFill>
              <a:srgbClr val="444444"/>
            </a:solidFill>
            <a:prstDash val="solid"/>
            <a:headEnd type="none" len="sm" w="sm"/>
            <a:tailEnd type="triangle" len="med" w="lg"/>
          </a:ln>
        </p:spPr>
      </p:sp>
      <p:sp>
        <p:nvSpPr>
          <p:cNvPr name="AutoShape 110" id="110"/>
          <p:cNvSpPr/>
          <p:nvPr/>
        </p:nvSpPr>
        <p:spPr>
          <a:xfrm>
            <a:off x="2622356" y="4709433"/>
            <a:ext cx="451856" cy="3252072"/>
          </a:xfrm>
          <a:prstGeom prst="line">
            <a:avLst/>
          </a:prstGeom>
          <a:ln cap="rnd" w="19050">
            <a:solidFill>
              <a:srgbClr val="444444"/>
            </a:solidFill>
            <a:prstDash val="solid"/>
            <a:headEnd type="none" len="sm" w="sm"/>
            <a:tailEnd type="triangle" len="med" w="lg"/>
          </a:ln>
        </p:spPr>
      </p:sp>
      <p:grpSp>
        <p:nvGrpSpPr>
          <p:cNvPr name="Group 111" id="111"/>
          <p:cNvGrpSpPr/>
          <p:nvPr/>
        </p:nvGrpSpPr>
        <p:grpSpPr>
          <a:xfrm rot="0">
            <a:off x="534772" y="8702173"/>
            <a:ext cx="509035" cy="330584"/>
            <a:chOff x="0" y="0"/>
            <a:chExt cx="678713" cy="440779"/>
          </a:xfrm>
        </p:grpSpPr>
        <p:sp>
          <p:nvSpPr>
            <p:cNvPr name="Freeform 112" id="112"/>
            <p:cNvSpPr/>
            <p:nvPr/>
          </p:nvSpPr>
          <p:spPr>
            <a:xfrm flipH="false" flipV="false" rot="0">
              <a:off x="0" y="0"/>
              <a:ext cx="678688" cy="440690"/>
            </a:xfrm>
            <a:custGeom>
              <a:avLst/>
              <a:gdLst/>
              <a:ahLst/>
              <a:cxnLst/>
              <a:rect r="r" b="b" t="t" l="l"/>
              <a:pathLst>
                <a:path h="440690" w="678688">
                  <a:moveTo>
                    <a:pt x="0" y="73406"/>
                  </a:moveTo>
                  <a:cubicBezTo>
                    <a:pt x="0" y="32893"/>
                    <a:pt x="32893" y="0"/>
                    <a:pt x="73406" y="0"/>
                  </a:cubicBezTo>
                  <a:lnTo>
                    <a:pt x="605282" y="0"/>
                  </a:lnTo>
                  <a:cubicBezTo>
                    <a:pt x="645795" y="0"/>
                    <a:pt x="678688" y="32893"/>
                    <a:pt x="678688" y="73406"/>
                  </a:cubicBezTo>
                  <a:lnTo>
                    <a:pt x="678688" y="367284"/>
                  </a:lnTo>
                  <a:cubicBezTo>
                    <a:pt x="678688" y="407797"/>
                    <a:pt x="645795" y="440690"/>
                    <a:pt x="605282" y="440690"/>
                  </a:cubicBezTo>
                  <a:lnTo>
                    <a:pt x="73406" y="440690"/>
                  </a:lnTo>
                  <a:cubicBezTo>
                    <a:pt x="32893" y="440817"/>
                    <a:pt x="0" y="407924"/>
                    <a:pt x="0" y="367284"/>
                  </a:cubicBezTo>
                  <a:close/>
                </a:path>
              </a:pathLst>
            </a:custGeom>
            <a:solidFill>
              <a:srgbClr val="DCE9F7"/>
            </a:solidFill>
            <a:ln w="28597" cap="sq">
              <a:solidFill>
                <a:srgbClr val="2F6DB5"/>
              </a:solidFill>
              <a:prstDash val="solid"/>
              <a:miter/>
            </a:ln>
          </p:spPr>
        </p:sp>
      </p:grpSp>
      <p:grpSp>
        <p:nvGrpSpPr>
          <p:cNvPr name="Group 113" id="113"/>
          <p:cNvGrpSpPr/>
          <p:nvPr/>
        </p:nvGrpSpPr>
        <p:grpSpPr>
          <a:xfrm rot="0">
            <a:off x="1098137" y="8649538"/>
            <a:ext cx="3568951" cy="410099"/>
            <a:chOff x="0" y="0"/>
            <a:chExt cx="4758601" cy="546798"/>
          </a:xfrm>
        </p:grpSpPr>
        <p:sp>
          <p:nvSpPr>
            <p:cNvPr name="Freeform 114" id="114"/>
            <p:cNvSpPr/>
            <p:nvPr/>
          </p:nvSpPr>
          <p:spPr>
            <a:xfrm flipH="false" flipV="false" rot="0">
              <a:off x="0" y="0"/>
              <a:ext cx="4758598" cy="546792"/>
            </a:xfrm>
            <a:custGeom>
              <a:avLst/>
              <a:gdLst/>
              <a:ahLst/>
              <a:cxnLst/>
              <a:rect r="r" b="b" t="t" l="l"/>
              <a:pathLst>
                <a:path h="546792" w="4758598">
                  <a:moveTo>
                    <a:pt x="0" y="0"/>
                  </a:moveTo>
                  <a:lnTo>
                    <a:pt x="4758598" y="0"/>
                  </a:lnTo>
                  <a:lnTo>
                    <a:pt x="4758598" y="546792"/>
                  </a:lnTo>
                  <a:lnTo>
                    <a:pt x="0" y="546792"/>
                  </a:lnTo>
                  <a:close/>
                </a:path>
              </a:pathLst>
            </a:custGeom>
            <a:blipFill>
              <a:blip r:embed="rId4">
                <a:alphaModFix amt="0"/>
              </a:blip>
              <a:stretch>
                <a:fillRect l="0" t="-122712" r="0" b="-116435"/>
              </a:stretch>
            </a:blipFill>
          </p:spPr>
        </p:sp>
        <p:sp>
          <p:nvSpPr>
            <p:cNvPr name="TextBox 115" id="115"/>
            <p:cNvSpPr txBox="true"/>
            <p:nvPr/>
          </p:nvSpPr>
          <p:spPr>
            <a:xfrm>
              <a:off x="0" y="-38100"/>
              <a:ext cx="4758601" cy="584898"/>
            </a:xfrm>
            <a:prstGeom prst="rect">
              <a:avLst/>
            </a:prstGeom>
          </p:spPr>
          <p:txBody>
            <a:bodyPr anchor="ctr" rtlCol="false" tIns="0" lIns="0" bIns="0" rIns="0"/>
            <a:lstStyle/>
            <a:p>
              <a:pPr algn="l">
                <a:lnSpc>
                  <a:spcPts val="1801"/>
                </a:lnSpc>
              </a:pPr>
              <a:r>
                <a:rPr lang="en-US" sz="1501">
                  <a:solidFill>
                    <a:srgbClr val="1F2933"/>
                  </a:solidFill>
                  <a:latin typeface="Calibri (MS)"/>
                  <a:ea typeface="Calibri (MS)"/>
                  <a:cs typeface="Calibri (MS)"/>
                  <a:sym typeface="Calibri (MS)"/>
                </a:rPr>
                <a:t>From the paper</a:t>
              </a:r>
            </a:p>
          </p:txBody>
        </p:sp>
      </p:grpSp>
      <p:grpSp>
        <p:nvGrpSpPr>
          <p:cNvPr name="Group 116" id="116"/>
          <p:cNvGrpSpPr/>
          <p:nvPr/>
        </p:nvGrpSpPr>
        <p:grpSpPr>
          <a:xfrm rot="0">
            <a:off x="4927321" y="8702173"/>
            <a:ext cx="509035" cy="330584"/>
            <a:chOff x="0" y="0"/>
            <a:chExt cx="678713" cy="440779"/>
          </a:xfrm>
        </p:grpSpPr>
        <p:sp>
          <p:nvSpPr>
            <p:cNvPr name="Freeform 117" id="117"/>
            <p:cNvSpPr/>
            <p:nvPr/>
          </p:nvSpPr>
          <p:spPr>
            <a:xfrm flipH="false" flipV="false" rot="0">
              <a:off x="0" y="0"/>
              <a:ext cx="678688" cy="440690"/>
            </a:xfrm>
            <a:custGeom>
              <a:avLst/>
              <a:gdLst/>
              <a:ahLst/>
              <a:cxnLst/>
              <a:rect r="r" b="b" t="t" l="l"/>
              <a:pathLst>
                <a:path h="440690" w="678688">
                  <a:moveTo>
                    <a:pt x="0" y="73406"/>
                  </a:moveTo>
                  <a:cubicBezTo>
                    <a:pt x="0" y="32893"/>
                    <a:pt x="32893" y="0"/>
                    <a:pt x="73406" y="0"/>
                  </a:cubicBezTo>
                  <a:lnTo>
                    <a:pt x="605282" y="0"/>
                  </a:lnTo>
                  <a:cubicBezTo>
                    <a:pt x="645795" y="0"/>
                    <a:pt x="678688" y="32893"/>
                    <a:pt x="678688" y="73406"/>
                  </a:cubicBezTo>
                  <a:lnTo>
                    <a:pt x="678688" y="367284"/>
                  </a:lnTo>
                  <a:cubicBezTo>
                    <a:pt x="678688" y="407797"/>
                    <a:pt x="645795" y="440690"/>
                    <a:pt x="605282" y="440690"/>
                  </a:cubicBezTo>
                  <a:lnTo>
                    <a:pt x="73406" y="440690"/>
                  </a:lnTo>
                  <a:cubicBezTo>
                    <a:pt x="32893" y="440817"/>
                    <a:pt x="0" y="407924"/>
                    <a:pt x="0" y="367284"/>
                  </a:cubicBezTo>
                  <a:close/>
                </a:path>
              </a:pathLst>
            </a:custGeom>
            <a:solidFill>
              <a:srgbClr val="FDE6CF"/>
            </a:solidFill>
            <a:ln w="28597" cap="sq">
              <a:solidFill>
                <a:srgbClr val="D9731A"/>
              </a:solidFill>
              <a:prstDash val="solid"/>
              <a:miter/>
            </a:ln>
          </p:spPr>
        </p:sp>
      </p:grpSp>
      <p:grpSp>
        <p:nvGrpSpPr>
          <p:cNvPr name="Group 118" id="118"/>
          <p:cNvGrpSpPr/>
          <p:nvPr/>
        </p:nvGrpSpPr>
        <p:grpSpPr>
          <a:xfrm rot="0">
            <a:off x="5490686" y="8675284"/>
            <a:ext cx="3568951" cy="384353"/>
            <a:chOff x="0" y="0"/>
            <a:chExt cx="4758601" cy="512470"/>
          </a:xfrm>
        </p:grpSpPr>
        <p:sp>
          <p:nvSpPr>
            <p:cNvPr name="Freeform 119" id="119"/>
            <p:cNvSpPr/>
            <p:nvPr/>
          </p:nvSpPr>
          <p:spPr>
            <a:xfrm flipH="false" flipV="false" rot="0">
              <a:off x="0" y="0"/>
              <a:ext cx="4758598" cy="512464"/>
            </a:xfrm>
            <a:custGeom>
              <a:avLst/>
              <a:gdLst/>
              <a:ahLst/>
              <a:cxnLst/>
              <a:rect r="r" b="b" t="t" l="l"/>
              <a:pathLst>
                <a:path h="512464" w="4758598">
                  <a:moveTo>
                    <a:pt x="0" y="0"/>
                  </a:moveTo>
                  <a:lnTo>
                    <a:pt x="4758598" y="0"/>
                  </a:lnTo>
                  <a:lnTo>
                    <a:pt x="4758598" y="512464"/>
                  </a:lnTo>
                  <a:lnTo>
                    <a:pt x="0" y="512464"/>
                  </a:lnTo>
                  <a:close/>
                </a:path>
              </a:pathLst>
            </a:custGeom>
            <a:blipFill>
              <a:blip r:embed="rId4">
                <a:alphaModFix amt="0"/>
              </a:blip>
              <a:stretch>
                <a:fillRect l="0" t="-130932" r="0" b="-130933"/>
              </a:stretch>
            </a:blipFill>
          </p:spPr>
        </p:sp>
        <p:sp>
          <p:nvSpPr>
            <p:cNvPr name="TextBox 120" id="120"/>
            <p:cNvSpPr txBox="true"/>
            <p:nvPr/>
          </p:nvSpPr>
          <p:spPr>
            <a:xfrm>
              <a:off x="0" y="-38100"/>
              <a:ext cx="4758601" cy="550570"/>
            </a:xfrm>
            <a:prstGeom prst="rect">
              <a:avLst/>
            </a:prstGeom>
          </p:spPr>
          <p:txBody>
            <a:bodyPr anchor="ctr" rtlCol="false" tIns="0" lIns="0" bIns="0" rIns="0"/>
            <a:lstStyle/>
            <a:p>
              <a:pPr algn="l">
                <a:lnSpc>
                  <a:spcPts val="1801"/>
                </a:lnSpc>
              </a:pPr>
              <a:r>
                <a:rPr lang="en-US" sz="1501">
                  <a:solidFill>
                    <a:srgbClr val="1F2933"/>
                  </a:solidFill>
                  <a:latin typeface="Calibri (MS)"/>
                  <a:ea typeface="Calibri (MS)"/>
                  <a:cs typeface="Calibri (MS)"/>
                  <a:sym typeface="Calibri (MS)"/>
                </a:rPr>
                <a:t>Our extension / modification</a:t>
              </a:r>
            </a:p>
          </p:txBody>
        </p:sp>
      </p:grpSp>
      <p:grpSp>
        <p:nvGrpSpPr>
          <p:cNvPr name="Group 121" id="121"/>
          <p:cNvGrpSpPr/>
          <p:nvPr/>
        </p:nvGrpSpPr>
        <p:grpSpPr>
          <a:xfrm rot="0">
            <a:off x="9319870" y="8702173"/>
            <a:ext cx="509035" cy="330584"/>
            <a:chOff x="0" y="0"/>
            <a:chExt cx="678713" cy="440779"/>
          </a:xfrm>
        </p:grpSpPr>
        <p:sp>
          <p:nvSpPr>
            <p:cNvPr name="Freeform 122" id="122"/>
            <p:cNvSpPr/>
            <p:nvPr/>
          </p:nvSpPr>
          <p:spPr>
            <a:xfrm flipH="false" flipV="false" rot="0">
              <a:off x="0" y="0"/>
              <a:ext cx="678688" cy="440690"/>
            </a:xfrm>
            <a:custGeom>
              <a:avLst/>
              <a:gdLst/>
              <a:ahLst/>
              <a:cxnLst/>
              <a:rect r="r" b="b" t="t" l="l"/>
              <a:pathLst>
                <a:path h="440690" w="678688">
                  <a:moveTo>
                    <a:pt x="0" y="73406"/>
                  </a:moveTo>
                  <a:cubicBezTo>
                    <a:pt x="0" y="32893"/>
                    <a:pt x="32893" y="0"/>
                    <a:pt x="73406" y="0"/>
                  </a:cubicBezTo>
                  <a:lnTo>
                    <a:pt x="605282" y="0"/>
                  </a:lnTo>
                  <a:cubicBezTo>
                    <a:pt x="645795" y="0"/>
                    <a:pt x="678688" y="32893"/>
                    <a:pt x="678688" y="73406"/>
                  </a:cubicBezTo>
                  <a:lnTo>
                    <a:pt x="678688" y="367284"/>
                  </a:lnTo>
                  <a:cubicBezTo>
                    <a:pt x="678688" y="407797"/>
                    <a:pt x="645795" y="440690"/>
                    <a:pt x="605282" y="440690"/>
                  </a:cubicBezTo>
                  <a:lnTo>
                    <a:pt x="73406" y="440690"/>
                  </a:lnTo>
                  <a:cubicBezTo>
                    <a:pt x="32893" y="440817"/>
                    <a:pt x="0" y="407924"/>
                    <a:pt x="0" y="367284"/>
                  </a:cubicBezTo>
                  <a:close/>
                </a:path>
              </a:pathLst>
            </a:custGeom>
            <a:solidFill>
              <a:srgbClr val="EDEDED"/>
            </a:solidFill>
            <a:ln w="28597" cap="sq">
              <a:solidFill>
                <a:srgbClr val="6B6B6B"/>
              </a:solidFill>
              <a:prstDash val="solid"/>
              <a:miter/>
            </a:ln>
          </p:spPr>
        </p:sp>
      </p:grpSp>
      <p:grpSp>
        <p:nvGrpSpPr>
          <p:cNvPr name="Group 123" id="123"/>
          <p:cNvGrpSpPr/>
          <p:nvPr/>
        </p:nvGrpSpPr>
        <p:grpSpPr>
          <a:xfrm rot="0">
            <a:off x="9883245" y="8675284"/>
            <a:ext cx="3568951" cy="384353"/>
            <a:chOff x="0" y="0"/>
            <a:chExt cx="4758601" cy="512470"/>
          </a:xfrm>
        </p:grpSpPr>
        <p:sp>
          <p:nvSpPr>
            <p:cNvPr name="Freeform 124" id="124"/>
            <p:cNvSpPr/>
            <p:nvPr/>
          </p:nvSpPr>
          <p:spPr>
            <a:xfrm flipH="false" flipV="false" rot="0">
              <a:off x="0" y="0"/>
              <a:ext cx="4758598" cy="512464"/>
            </a:xfrm>
            <a:custGeom>
              <a:avLst/>
              <a:gdLst/>
              <a:ahLst/>
              <a:cxnLst/>
              <a:rect r="r" b="b" t="t" l="l"/>
              <a:pathLst>
                <a:path h="512464" w="4758598">
                  <a:moveTo>
                    <a:pt x="0" y="0"/>
                  </a:moveTo>
                  <a:lnTo>
                    <a:pt x="4758598" y="0"/>
                  </a:lnTo>
                  <a:lnTo>
                    <a:pt x="4758598" y="512464"/>
                  </a:lnTo>
                  <a:lnTo>
                    <a:pt x="0" y="512464"/>
                  </a:lnTo>
                  <a:close/>
                </a:path>
              </a:pathLst>
            </a:custGeom>
            <a:blipFill>
              <a:blip r:embed="rId4">
                <a:alphaModFix amt="0"/>
              </a:blip>
              <a:stretch>
                <a:fillRect l="0" t="-130932" r="0" b="-130933"/>
              </a:stretch>
            </a:blipFill>
          </p:spPr>
        </p:sp>
        <p:sp>
          <p:nvSpPr>
            <p:cNvPr name="TextBox 125" id="125"/>
            <p:cNvSpPr txBox="true"/>
            <p:nvPr/>
          </p:nvSpPr>
          <p:spPr>
            <a:xfrm>
              <a:off x="0" y="-38100"/>
              <a:ext cx="4758601" cy="550570"/>
            </a:xfrm>
            <a:prstGeom prst="rect">
              <a:avLst/>
            </a:prstGeom>
          </p:spPr>
          <p:txBody>
            <a:bodyPr anchor="ctr" rtlCol="false" tIns="0" lIns="0" bIns="0" rIns="0"/>
            <a:lstStyle/>
            <a:p>
              <a:pPr algn="l">
                <a:lnSpc>
                  <a:spcPts val="1801"/>
                </a:lnSpc>
              </a:pPr>
              <a:r>
                <a:rPr lang="en-US" sz="1501">
                  <a:solidFill>
                    <a:srgbClr val="1F2933"/>
                  </a:solidFill>
                  <a:latin typeface="Calibri (MS)"/>
                  <a:ea typeface="Calibri (MS)"/>
                  <a:cs typeface="Calibri (MS)"/>
                  <a:sym typeface="Calibri (MS)"/>
                </a:rPr>
                <a:t>Shared / auxiliary</a:t>
              </a:r>
            </a:p>
          </p:txBody>
        </p:sp>
      </p:grpSp>
      <p:grpSp>
        <p:nvGrpSpPr>
          <p:cNvPr name="Group 126" id="126"/>
          <p:cNvGrpSpPr/>
          <p:nvPr/>
        </p:nvGrpSpPr>
        <p:grpSpPr>
          <a:xfrm rot="0">
            <a:off x="411804" y="9196902"/>
            <a:ext cx="17432941" cy="823603"/>
            <a:chOff x="0" y="0"/>
            <a:chExt cx="23243921" cy="1098138"/>
          </a:xfrm>
        </p:grpSpPr>
        <p:sp>
          <p:nvSpPr>
            <p:cNvPr name="Freeform 127" id="127"/>
            <p:cNvSpPr/>
            <p:nvPr/>
          </p:nvSpPr>
          <p:spPr>
            <a:xfrm flipH="false" flipV="false" rot="0">
              <a:off x="0" y="0"/>
              <a:ext cx="23243919" cy="1098132"/>
            </a:xfrm>
            <a:custGeom>
              <a:avLst/>
              <a:gdLst/>
              <a:ahLst/>
              <a:cxnLst/>
              <a:rect r="r" b="b" t="t" l="l"/>
              <a:pathLst>
                <a:path h="1098132" w="23243919">
                  <a:moveTo>
                    <a:pt x="0" y="0"/>
                  </a:moveTo>
                  <a:lnTo>
                    <a:pt x="23243919" y="0"/>
                  </a:lnTo>
                  <a:lnTo>
                    <a:pt x="23243919" y="1098132"/>
                  </a:lnTo>
                  <a:lnTo>
                    <a:pt x="0" y="1098132"/>
                  </a:lnTo>
                  <a:close/>
                </a:path>
              </a:pathLst>
            </a:custGeom>
            <a:blipFill>
              <a:blip r:embed="rId4">
                <a:alphaModFix amt="0"/>
              </a:blip>
              <a:stretch>
                <a:fillRect l="0" t="-362434" r="0" b="-362436"/>
              </a:stretch>
            </a:blipFill>
          </p:spPr>
        </p:sp>
        <p:sp>
          <p:nvSpPr>
            <p:cNvPr name="TextBox 128" id="128"/>
            <p:cNvSpPr txBox="true"/>
            <p:nvPr/>
          </p:nvSpPr>
          <p:spPr>
            <a:xfrm>
              <a:off x="0" y="-28575"/>
              <a:ext cx="23243921" cy="1126713"/>
            </a:xfrm>
            <a:prstGeom prst="rect">
              <a:avLst/>
            </a:prstGeom>
          </p:spPr>
          <p:txBody>
            <a:bodyPr anchor="ctr" rtlCol="false" tIns="0" lIns="0" bIns="0" rIns="0"/>
            <a:lstStyle/>
            <a:p>
              <a:pPr algn="l">
                <a:lnSpc>
                  <a:spcPts val="1621"/>
                </a:lnSpc>
              </a:pPr>
              <a:r>
                <a:rPr lang="en-US" sz="1351">
                  <a:solidFill>
                    <a:srgbClr val="52606D"/>
                  </a:solidFill>
                  <a:latin typeface="Calibri (MS)"/>
                  <a:ea typeface="Calibri (MS)"/>
                  <a:cs typeface="Calibri (MS)"/>
                  <a:sym typeface="Calibri (MS)"/>
                </a:rPr>
                <a:t>Paper: TensorFlow, 1500 collocation points, 3000-epoch figures, Standard / L1 / L2 / A-PINN on 3 TPS-BVP benchmarks, depth &amp; activation sweeps.</a:t>
              </a:r>
            </a:p>
            <a:p>
              <a:pPr algn="l">
                <a:lnSpc>
                  <a:spcPts val="1621"/>
                </a:lnSpc>
              </a:pPr>
              <a:r>
                <a:rPr lang="en-US" sz="1351">
                  <a:solidFill>
                    <a:srgbClr val="52606D"/>
                  </a:solidFill>
                  <a:latin typeface="Calibri (MS)"/>
                  <a:ea typeface="Calibri (MS)"/>
                  <a:cs typeface="Calibri (MS)"/>
                  <a:sym typeface="Calibri (MS)"/>
                </a:rPr>
                <a:t> Extension: stabilized residual, 10-seed × 10k-epoch statistics, finite-difference baseline with grid convergence, direct PINN-vs-numerical comparison.</a:t>
              </a:r>
            </a:p>
          </p:txBody>
        </p:sp>
      </p:gr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605196"/>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69639" y="1738831"/>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169639" y="6218279"/>
            <a:ext cx="4457651" cy="3082569"/>
            <a:chOff x="0" y="0"/>
            <a:chExt cx="1174031" cy="811870"/>
          </a:xfrm>
        </p:grpSpPr>
        <p:sp>
          <p:nvSpPr>
            <p:cNvPr name="Freeform 8" id="8"/>
            <p:cNvSpPr/>
            <p:nvPr/>
          </p:nvSpPr>
          <p:spPr>
            <a:xfrm flipH="false" flipV="false" rot="0">
              <a:off x="0" y="0"/>
              <a:ext cx="1174032" cy="811870"/>
            </a:xfrm>
            <a:custGeom>
              <a:avLst/>
              <a:gdLst/>
              <a:ahLst/>
              <a:cxnLst/>
              <a:rect r="r" b="b" t="t" l="l"/>
              <a:pathLst>
                <a:path h="811870" w="1174032">
                  <a:moveTo>
                    <a:pt x="26052" y="0"/>
                  </a:moveTo>
                  <a:lnTo>
                    <a:pt x="1147980" y="0"/>
                  </a:lnTo>
                  <a:cubicBezTo>
                    <a:pt x="1162368" y="0"/>
                    <a:pt x="1174032" y="11664"/>
                    <a:pt x="1174032" y="26052"/>
                  </a:cubicBezTo>
                  <a:lnTo>
                    <a:pt x="1174032" y="785818"/>
                  </a:lnTo>
                  <a:cubicBezTo>
                    <a:pt x="1174032" y="800206"/>
                    <a:pt x="1162368" y="811870"/>
                    <a:pt x="1147980" y="811870"/>
                  </a:cubicBezTo>
                  <a:lnTo>
                    <a:pt x="26052" y="811870"/>
                  </a:lnTo>
                  <a:cubicBezTo>
                    <a:pt x="11664" y="811870"/>
                    <a:pt x="0" y="800206"/>
                    <a:pt x="0" y="785818"/>
                  </a:cubicBezTo>
                  <a:lnTo>
                    <a:pt x="0" y="26052"/>
                  </a:lnTo>
                  <a:cubicBezTo>
                    <a:pt x="0" y="11664"/>
                    <a:pt x="11664" y="0"/>
                    <a:pt x="26052" y="0"/>
                  </a:cubicBezTo>
                  <a:close/>
                </a:path>
              </a:pathLst>
            </a:custGeom>
            <a:solidFill>
              <a:srgbClr val="BFD9F9"/>
            </a:solidFill>
          </p:spPr>
        </p:sp>
        <p:sp>
          <p:nvSpPr>
            <p:cNvPr name="TextBox 9" id="9"/>
            <p:cNvSpPr txBox="true"/>
            <p:nvPr/>
          </p:nvSpPr>
          <p:spPr>
            <a:xfrm>
              <a:off x="0" y="-47625"/>
              <a:ext cx="1174031" cy="859495"/>
            </a:xfrm>
            <a:prstGeom prst="rect">
              <a:avLst/>
            </a:prstGeom>
          </p:spPr>
          <p:txBody>
            <a:bodyPr anchor="ctr" rtlCol="false" tIns="50800" lIns="50800" bIns="50800" rIns="50800"/>
            <a:lstStyle/>
            <a:p>
              <a:pPr algn="ctr">
                <a:lnSpc>
                  <a:spcPts val="3499"/>
                </a:lnSpc>
              </a:pPr>
            </a:p>
          </p:txBody>
        </p:sp>
      </p:grpSp>
      <p:sp>
        <p:nvSpPr>
          <p:cNvPr name="AutoShape 10" id="10"/>
          <p:cNvSpPr/>
          <p:nvPr/>
        </p:nvSpPr>
        <p:spPr>
          <a:xfrm>
            <a:off x="1424341" y="6605742"/>
            <a:ext cx="0" cy="2307643"/>
          </a:xfrm>
          <a:prstGeom prst="line">
            <a:avLst/>
          </a:prstGeom>
          <a:ln cap="rnd" w="57150">
            <a:solidFill>
              <a:srgbClr val="60A5FA"/>
            </a:solidFill>
            <a:prstDash val="solid"/>
            <a:headEnd type="none" len="sm" w="sm"/>
            <a:tailEnd type="none" len="sm" w="sm"/>
          </a:ln>
        </p:spPr>
      </p:sp>
      <p:grpSp>
        <p:nvGrpSpPr>
          <p:cNvPr name="Group 11" id="11"/>
          <p:cNvGrpSpPr/>
          <p:nvPr/>
        </p:nvGrpSpPr>
        <p:grpSpPr>
          <a:xfrm rot="0">
            <a:off x="6437279" y="6218279"/>
            <a:ext cx="4457651" cy="3619620"/>
            <a:chOff x="0" y="0"/>
            <a:chExt cx="1174031" cy="953315"/>
          </a:xfrm>
        </p:grpSpPr>
        <p:sp>
          <p:nvSpPr>
            <p:cNvPr name="Freeform 12" id="12"/>
            <p:cNvSpPr/>
            <p:nvPr/>
          </p:nvSpPr>
          <p:spPr>
            <a:xfrm flipH="false" flipV="false" rot="0">
              <a:off x="0" y="0"/>
              <a:ext cx="1174032" cy="953315"/>
            </a:xfrm>
            <a:custGeom>
              <a:avLst/>
              <a:gdLst/>
              <a:ahLst/>
              <a:cxnLst/>
              <a:rect r="r" b="b" t="t" l="l"/>
              <a:pathLst>
                <a:path h="953315" w="1174032">
                  <a:moveTo>
                    <a:pt x="26052" y="0"/>
                  </a:moveTo>
                  <a:lnTo>
                    <a:pt x="1147980" y="0"/>
                  </a:lnTo>
                  <a:cubicBezTo>
                    <a:pt x="1162368" y="0"/>
                    <a:pt x="1174032" y="11664"/>
                    <a:pt x="1174032" y="26052"/>
                  </a:cubicBezTo>
                  <a:lnTo>
                    <a:pt x="1174032" y="927264"/>
                  </a:lnTo>
                  <a:cubicBezTo>
                    <a:pt x="1174032" y="941652"/>
                    <a:pt x="1162368" y="953315"/>
                    <a:pt x="1147980" y="953315"/>
                  </a:cubicBezTo>
                  <a:lnTo>
                    <a:pt x="26052" y="953315"/>
                  </a:lnTo>
                  <a:cubicBezTo>
                    <a:pt x="11664" y="953315"/>
                    <a:pt x="0" y="941652"/>
                    <a:pt x="0" y="927264"/>
                  </a:cubicBezTo>
                  <a:lnTo>
                    <a:pt x="0" y="26052"/>
                  </a:lnTo>
                  <a:cubicBezTo>
                    <a:pt x="0" y="11664"/>
                    <a:pt x="11664" y="0"/>
                    <a:pt x="26052" y="0"/>
                  </a:cubicBezTo>
                  <a:close/>
                </a:path>
              </a:pathLst>
            </a:custGeom>
            <a:solidFill>
              <a:srgbClr val="BFD9F9"/>
            </a:solidFill>
          </p:spPr>
        </p:sp>
        <p:sp>
          <p:nvSpPr>
            <p:cNvPr name="TextBox 13" id="13"/>
            <p:cNvSpPr txBox="true"/>
            <p:nvPr/>
          </p:nvSpPr>
          <p:spPr>
            <a:xfrm>
              <a:off x="0" y="-47625"/>
              <a:ext cx="1174031" cy="1000940"/>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1704919" y="6218279"/>
            <a:ext cx="4457651" cy="2178062"/>
            <a:chOff x="0" y="0"/>
            <a:chExt cx="1174031" cy="573646"/>
          </a:xfrm>
        </p:grpSpPr>
        <p:sp>
          <p:nvSpPr>
            <p:cNvPr name="Freeform 15" id="15"/>
            <p:cNvSpPr/>
            <p:nvPr/>
          </p:nvSpPr>
          <p:spPr>
            <a:xfrm flipH="false" flipV="false" rot="0">
              <a:off x="0" y="0"/>
              <a:ext cx="1174032" cy="573646"/>
            </a:xfrm>
            <a:custGeom>
              <a:avLst/>
              <a:gdLst/>
              <a:ahLst/>
              <a:cxnLst/>
              <a:rect r="r" b="b" t="t" l="l"/>
              <a:pathLst>
                <a:path h="573646" w="1174032">
                  <a:moveTo>
                    <a:pt x="26052" y="0"/>
                  </a:moveTo>
                  <a:lnTo>
                    <a:pt x="1147980" y="0"/>
                  </a:lnTo>
                  <a:cubicBezTo>
                    <a:pt x="1162368" y="0"/>
                    <a:pt x="1174032" y="11664"/>
                    <a:pt x="1174032" y="26052"/>
                  </a:cubicBezTo>
                  <a:lnTo>
                    <a:pt x="1174032" y="547594"/>
                  </a:lnTo>
                  <a:cubicBezTo>
                    <a:pt x="1174032" y="554504"/>
                    <a:pt x="1171287" y="561130"/>
                    <a:pt x="1166401" y="566015"/>
                  </a:cubicBezTo>
                  <a:cubicBezTo>
                    <a:pt x="1161516" y="570901"/>
                    <a:pt x="1154889" y="573646"/>
                    <a:pt x="1147980" y="573646"/>
                  </a:cubicBezTo>
                  <a:lnTo>
                    <a:pt x="26052" y="573646"/>
                  </a:lnTo>
                  <a:cubicBezTo>
                    <a:pt x="11664" y="573646"/>
                    <a:pt x="0" y="561982"/>
                    <a:pt x="0" y="547594"/>
                  </a:cubicBezTo>
                  <a:lnTo>
                    <a:pt x="0" y="26052"/>
                  </a:lnTo>
                  <a:cubicBezTo>
                    <a:pt x="0" y="11664"/>
                    <a:pt x="11664" y="0"/>
                    <a:pt x="26052" y="0"/>
                  </a:cubicBezTo>
                  <a:close/>
                </a:path>
              </a:pathLst>
            </a:custGeom>
            <a:solidFill>
              <a:srgbClr val="BFD9F9"/>
            </a:solidFill>
          </p:spPr>
        </p:sp>
        <p:sp>
          <p:nvSpPr>
            <p:cNvPr name="TextBox 16" id="16"/>
            <p:cNvSpPr txBox="true"/>
            <p:nvPr/>
          </p:nvSpPr>
          <p:spPr>
            <a:xfrm>
              <a:off x="0" y="-47625"/>
              <a:ext cx="1174031" cy="621271"/>
            </a:xfrm>
            <a:prstGeom prst="rect">
              <a:avLst/>
            </a:prstGeom>
          </p:spPr>
          <p:txBody>
            <a:bodyPr anchor="ctr" rtlCol="false" tIns="50800" lIns="50800" bIns="50800" rIns="50800"/>
            <a:lstStyle/>
            <a:p>
              <a:pPr algn="ctr">
                <a:lnSpc>
                  <a:spcPts val="3499"/>
                </a:lnSpc>
              </a:pPr>
            </a:p>
          </p:txBody>
        </p:sp>
      </p:grpSp>
      <p:sp>
        <p:nvSpPr>
          <p:cNvPr name="AutoShape 17" id="17"/>
          <p:cNvSpPr/>
          <p:nvPr/>
        </p:nvSpPr>
        <p:spPr>
          <a:xfrm>
            <a:off x="6691981" y="6605742"/>
            <a:ext cx="0" cy="2307643"/>
          </a:xfrm>
          <a:prstGeom prst="line">
            <a:avLst/>
          </a:prstGeom>
          <a:ln cap="rnd" w="57150">
            <a:solidFill>
              <a:srgbClr val="60A5FA"/>
            </a:solidFill>
            <a:prstDash val="solid"/>
            <a:headEnd type="none" len="sm" w="sm"/>
            <a:tailEnd type="none" len="sm" w="sm"/>
          </a:ln>
        </p:spPr>
      </p:sp>
      <p:sp>
        <p:nvSpPr>
          <p:cNvPr name="AutoShape 18" id="18"/>
          <p:cNvSpPr/>
          <p:nvPr/>
        </p:nvSpPr>
        <p:spPr>
          <a:xfrm>
            <a:off x="11962094" y="6605742"/>
            <a:ext cx="0" cy="1153821"/>
          </a:xfrm>
          <a:prstGeom prst="line">
            <a:avLst/>
          </a:prstGeom>
          <a:ln cap="rnd" w="57150">
            <a:solidFill>
              <a:srgbClr val="60A5FA"/>
            </a:solidFill>
            <a:prstDash val="solid"/>
            <a:headEnd type="none" len="sm" w="sm"/>
            <a:tailEnd type="none" len="sm" w="sm"/>
          </a:ln>
        </p:spPr>
      </p:sp>
      <p:sp>
        <p:nvSpPr>
          <p:cNvPr name="TextBox 19" id="19"/>
          <p:cNvSpPr txBox="true"/>
          <p:nvPr/>
        </p:nvSpPr>
        <p:spPr>
          <a:xfrm rot="0">
            <a:off x="2071573" y="793750"/>
            <a:ext cx="5811986"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Problem</a:t>
            </a:r>
            <a:r>
              <a:rPr lang="en-US" b="true" sz="2499">
                <a:solidFill>
                  <a:srgbClr val="1E293B"/>
                </a:solidFill>
                <a:latin typeface="Open Sans Bold"/>
                <a:ea typeface="Open Sans Bold"/>
                <a:cs typeface="Open Sans Bold"/>
                <a:sym typeface="Open Sans Bold"/>
              </a:rPr>
              <a:t> Formulation &amp; Benchmarks</a:t>
            </a:r>
          </a:p>
        </p:txBody>
      </p:sp>
      <p:sp>
        <p:nvSpPr>
          <p:cNvPr name="TextBox 20" id="20"/>
          <p:cNvSpPr txBox="true"/>
          <p:nvPr/>
        </p:nvSpPr>
        <p:spPr>
          <a:xfrm rot="0">
            <a:off x="6207928" y="1982553"/>
            <a:ext cx="10612458" cy="1587150"/>
          </a:xfrm>
          <a:prstGeom prst="rect">
            <a:avLst/>
          </a:prstGeom>
        </p:spPr>
        <p:txBody>
          <a:bodyPr anchor="t" rtlCol="false" tIns="0" lIns="0" bIns="0" rIns="0">
            <a:spAutoFit/>
          </a:bodyPr>
          <a:lstStyle/>
          <a:p>
            <a:pPr algn="l">
              <a:lnSpc>
                <a:spcPts val="5881"/>
              </a:lnSpc>
            </a:pPr>
            <a:r>
              <a:rPr lang="en-US" sz="6001" b="true">
                <a:solidFill>
                  <a:srgbClr val="1E293B"/>
                </a:solidFill>
                <a:latin typeface="Poppins Semi-Bold"/>
                <a:ea typeface="Poppins Semi-Bold"/>
                <a:cs typeface="Poppins Semi-Bold"/>
                <a:sym typeface="Poppins Semi-Bold"/>
              </a:rPr>
              <a:t>Singular Three-Point Boundary Value Problems</a:t>
            </a:r>
          </a:p>
        </p:txBody>
      </p:sp>
      <p:sp>
        <p:nvSpPr>
          <p:cNvPr name="TextBox 21" id="21"/>
          <p:cNvSpPr txBox="true"/>
          <p:nvPr/>
        </p:nvSpPr>
        <p:spPr>
          <a:xfrm rot="0">
            <a:off x="1169639" y="4313406"/>
            <a:ext cx="16373007" cy="1380998"/>
          </a:xfrm>
          <a:prstGeom prst="rect">
            <a:avLst/>
          </a:prstGeom>
        </p:spPr>
        <p:txBody>
          <a:bodyPr anchor="t" rtlCol="false" tIns="0" lIns="0" bIns="0" rIns="0">
            <a:spAutoFit/>
          </a:bodyPr>
          <a:lstStyle/>
          <a:p>
            <a:pPr algn="l">
              <a:lnSpc>
                <a:spcPts val="3681"/>
              </a:lnSpc>
            </a:pPr>
            <a:r>
              <a:rPr lang="en-US" sz="2629">
                <a:solidFill>
                  <a:srgbClr val="1E293B"/>
                </a:solidFill>
                <a:latin typeface="Open Sans"/>
                <a:ea typeface="Open Sans"/>
                <a:cs typeface="Open Sans"/>
                <a:sym typeface="Open Sans"/>
              </a:rPr>
              <a:t>A singular three-point boundary value</a:t>
            </a:r>
            <a:r>
              <a:rPr lang="en-US" sz="2629">
                <a:solidFill>
                  <a:srgbClr val="1E293B"/>
                </a:solidFill>
                <a:latin typeface="Open Sans"/>
                <a:ea typeface="Open Sans"/>
                <a:cs typeface="Open Sans"/>
                <a:sym typeface="Open Sans"/>
              </a:rPr>
              <a:t> problem (BVP) is a differential equation together with boundary conditions specified at three distinct points, where the equation or its coefficients become undefined (singular) at one or more points in the domain (such as t = 0 or t = 1).</a:t>
            </a:r>
          </a:p>
        </p:txBody>
      </p:sp>
      <p:sp>
        <p:nvSpPr>
          <p:cNvPr name="TextBox 22" id="22"/>
          <p:cNvSpPr txBox="true"/>
          <p:nvPr/>
        </p:nvSpPr>
        <p:spPr>
          <a:xfrm rot="0">
            <a:off x="1776051" y="6345164"/>
            <a:ext cx="3625112" cy="2781173"/>
          </a:xfrm>
          <a:prstGeom prst="rect">
            <a:avLst/>
          </a:prstGeom>
        </p:spPr>
        <p:txBody>
          <a:bodyPr anchor="t" rtlCol="false" tIns="0" lIns="0" bIns="0" rIns="0">
            <a:spAutoFit/>
          </a:bodyPr>
          <a:lstStyle/>
          <a:p>
            <a:pPr algn="l">
              <a:lnSpc>
                <a:spcPts val="3681"/>
              </a:lnSpc>
            </a:pPr>
            <a:r>
              <a:rPr lang="en-US" sz="2629" b="true">
                <a:solidFill>
                  <a:srgbClr val="1E293B"/>
                </a:solidFill>
                <a:latin typeface="Open Sans Bold"/>
                <a:ea typeface="Open Sans Bold"/>
                <a:cs typeface="Open Sans Bold"/>
                <a:sym typeface="Open Sans Bold"/>
              </a:rPr>
              <a:t>Example 3.1</a:t>
            </a:r>
          </a:p>
          <a:p>
            <a:pPr algn="l">
              <a:lnSpc>
                <a:spcPts val="3681"/>
              </a:lnSpc>
            </a:pPr>
            <a:r>
              <a:rPr lang="en-US" sz="2629">
                <a:solidFill>
                  <a:srgbClr val="1E293B"/>
                </a:solidFill>
                <a:latin typeface="Open Sans"/>
                <a:ea typeface="Open Sans"/>
                <a:cs typeface="Open Sans"/>
                <a:sym typeface="Open Sans"/>
              </a:rPr>
              <a:t>Trigonometric</a:t>
            </a:r>
            <a:r>
              <a:rPr lang="en-US" sz="2629">
                <a:solidFill>
                  <a:srgbClr val="1E293B"/>
                </a:solidFill>
                <a:latin typeface="Open Sans"/>
                <a:ea typeface="Open Sans"/>
                <a:cs typeface="Open Sans"/>
                <a:sym typeface="Open Sans"/>
              </a:rPr>
              <a:t> problem</a:t>
            </a:r>
          </a:p>
          <a:p>
            <a:pPr algn="l">
              <a:lnSpc>
                <a:spcPts val="3681"/>
              </a:lnSpc>
            </a:pPr>
            <a:r>
              <a:rPr lang="en-US" sz="2629">
                <a:solidFill>
                  <a:srgbClr val="1E293B"/>
                </a:solidFill>
                <a:latin typeface="Open Sans"/>
                <a:ea typeface="Open Sans"/>
                <a:cs typeface="Open Sans"/>
                <a:sym typeface="Open Sans"/>
              </a:rPr>
              <a:t>Exact solution:</a:t>
            </a:r>
          </a:p>
          <a:p>
            <a:pPr algn="l">
              <a:lnSpc>
                <a:spcPts val="3681"/>
              </a:lnSpc>
            </a:pPr>
            <a:r>
              <a:rPr lang="en-US" sz="2629">
                <a:solidFill>
                  <a:srgbClr val="1E293B"/>
                </a:solidFill>
                <a:latin typeface="Open Sans"/>
                <a:ea typeface="Open Sans"/>
                <a:cs typeface="Open Sans"/>
                <a:sym typeface="Open Sans"/>
              </a:rPr>
              <a:t>y(t) = sin(πt)</a:t>
            </a:r>
          </a:p>
          <a:p>
            <a:pPr algn="l">
              <a:lnSpc>
                <a:spcPts val="3681"/>
              </a:lnSpc>
            </a:pPr>
            <a:r>
              <a:rPr lang="en-US" sz="2629">
                <a:solidFill>
                  <a:srgbClr val="1E293B"/>
                </a:solidFill>
                <a:latin typeface="Open Sans"/>
                <a:ea typeface="Open Sans"/>
                <a:cs typeface="Open Sans"/>
                <a:sym typeface="Open Sans"/>
              </a:rPr>
              <a:t>Singularity:</a:t>
            </a:r>
          </a:p>
          <a:p>
            <a:pPr algn="l" marL="567816" indent="-283908" lvl="1">
              <a:lnSpc>
                <a:spcPts val="3681"/>
              </a:lnSpc>
              <a:buFont typeface="Arial"/>
              <a:buChar char="•"/>
            </a:pPr>
            <a:r>
              <a:rPr lang="en-US" sz="2629">
                <a:solidFill>
                  <a:srgbClr val="1E293B"/>
                </a:solidFill>
                <a:latin typeface="Open Sans"/>
                <a:ea typeface="Open Sans"/>
                <a:cs typeface="Open Sans"/>
                <a:sym typeface="Open Sans"/>
              </a:rPr>
              <a:t>t = 0</a:t>
            </a:r>
          </a:p>
        </p:txBody>
      </p:sp>
      <p:sp>
        <p:nvSpPr>
          <p:cNvPr name="TextBox 23" id="23"/>
          <p:cNvSpPr txBox="true"/>
          <p:nvPr/>
        </p:nvSpPr>
        <p:spPr>
          <a:xfrm rot="0">
            <a:off x="7044406" y="6345164"/>
            <a:ext cx="3625112" cy="3247898"/>
          </a:xfrm>
          <a:prstGeom prst="rect">
            <a:avLst/>
          </a:prstGeom>
        </p:spPr>
        <p:txBody>
          <a:bodyPr anchor="t" rtlCol="false" tIns="0" lIns="0" bIns="0" rIns="0">
            <a:spAutoFit/>
          </a:bodyPr>
          <a:lstStyle/>
          <a:p>
            <a:pPr algn="l">
              <a:lnSpc>
                <a:spcPts val="3681"/>
              </a:lnSpc>
            </a:pPr>
            <a:r>
              <a:rPr lang="en-US" sz="2629" b="true">
                <a:solidFill>
                  <a:srgbClr val="1E293B"/>
                </a:solidFill>
                <a:latin typeface="Open Sans Bold"/>
                <a:ea typeface="Open Sans Bold"/>
                <a:cs typeface="Open Sans Bold"/>
                <a:sym typeface="Open Sans Bold"/>
              </a:rPr>
              <a:t>Example 3.2</a:t>
            </a:r>
          </a:p>
          <a:p>
            <a:pPr algn="l">
              <a:lnSpc>
                <a:spcPts val="3681"/>
              </a:lnSpc>
            </a:pPr>
            <a:r>
              <a:rPr lang="en-US" sz="2629">
                <a:solidFill>
                  <a:srgbClr val="1E293B"/>
                </a:solidFill>
                <a:latin typeface="Open Sans"/>
                <a:ea typeface="Open Sans"/>
                <a:cs typeface="Open Sans"/>
                <a:sym typeface="Open Sans"/>
              </a:rPr>
              <a:t>Hyp</a:t>
            </a:r>
            <a:r>
              <a:rPr lang="en-US" sz="2629">
                <a:solidFill>
                  <a:srgbClr val="1E293B"/>
                </a:solidFill>
                <a:latin typeface="Open Sans"/>
                <a:ea typeface="Open Sans"/>
                <a:cs typeface="Open Sans"/>
                <a:sym typeface="Open Sans"/>
              </a:rPr>
              <a:t>erbolic</a:t>
            </a:r>
            <a:r>
              <a:rPr lang="en-US" sz="2629">
                <a:solidFill>
                  <a:srgbClr val="1E293B"/>
                </a:solidFill>
                <a:latin typeface="Open Sans"/>
                <a:ea typeface="Open Sans"/>
                <a:cs typeface="Open Sans"/>
                <a:sym typeface="Open Sans"/>
              </a:rPr>
              <a:t> problem</a:t>
            </a:r>
          </a:p>
          <a:p>
            <a:pPr algn="l">
              <a:lnSpc>
                <a:spcPts val="3681"/>
              </a:lnSpc>
            </a:pPr>
            <a:r>
              <a:rPr lang="en-US" sz="2629">
                <a:solidFill>
                  <a:srgbClr val="1E293B"/>
                </a:solidFill>
                <a:latin typeface="Open Sans"/>
                <a:ea typeface="Open Sans"/>
                <a:cs typeface="Open Sans"/>
                <a:sym typeface="Open Sans"/>
              </a:rPr>
              <a:t>Exact solution:</a:t>
            </a:r>
          </a:p>
          <a:p>
            <a:pPr algn="l">
              <a:lnSpc>
                <a:spcPts val="3681"/>
              </a:lnSpc>
            </a:pPr>
            <a:r>
              <a:rPr lang="en-US" sz="2629">
                <a:solidFill>
                  <a:srgbClr val="1E293B"/>
                </a:solidFill>
                <a:latin typeface="Open Sans"/>
                <a:ea typeface="Open Sans"/>
                <a:cs typeface="Open Sans"/>
                <a:sym typeface="Open Sans"/>
              </a:rPr>
              <a:t>y(t) = sinh(t)</a:t>
            </a:r>
          </a:p>
          <a:p>
            <a:pPr algn="l">
              <a:lnSpc>
                <a:spcPts val="3681"/>
              </a:lnSpc>
            </a:pPr>
            <a:r>
              <a:rPr lang="en-US" sz="2629">
                <a:solidFill>
                  <a:srgbClr val="1E293B"/>
                </a:solidFill>
                <a:latin typeface="Open Sans"/>
                <a:ea typeface="Open Sans"/>
                <a:cs typeface="Open Sans"/>
                <a:sym typeface="Open Sans"/>
              </a:rPr>
              <a:t>Singularities:</a:t>
            </a:r>
          </a:p>
          <a:p>
            <a:pPr algn="l" marL="567816" indent="-283908" lvl="1">
              <a:lnSpc>
                <a:spcPts val="3681"/>
              </a:lnSpc>
              <a:buFont typeface="Arial"/>
              <a:buChar char="•"/>
            </a:pPr>
            <a:r>
              <a:rPr lang="en-US" sz="2629">
                <a:solidFill>
                  <a:srgbClr val="1E293B"/>
                </a:solidFill>
                <a:latin typeface="Open Sans"/>
                <a:ea typeface="Open Sans"/>
                <a:cs typeface="Open Sans"/>
                <a:sym typeface="Open Sans"/>
              </a:rPr>
              <a:t>t = 0</a:t>
            </a:r>
          </a:p>
          <a:p>
            <a:pPr algn="l" marL="567816" indent="-283908" lvl="1">
              <a:lnSpc>
                <a:spcPts val="3681"/>
              </a:lnSpc>
              <a:buFont typeface="Arial"/>
              <a:buChar char="•"/>
            </a:pPr>
            <a:r>
              <a:rPr lang="en-US" sz="2629">
                <a:solidFill>
                  <a:srgbClr val="1E293B"/>
                </a:solidFill>
                <a:latin typeface="Open Sans"/>
                <a:ea typeface="Open Sans"/>
                <a:cs typeface="Open Sans"/>
                <a:sym typeface="Open Sans"/>
              </a:rPr>
              <a:t>t = 1</a:t>
            </a:r>
          </a:p>
        </p:txBody>
      </p:sp>
      <p:sp>
        <p:nvSpPr>
          <p:cNvPr name="TextBox 24" id="24"/>
          <p:cNvSpPr txBox="true"/>
          <p:nvPr/>
        </p:nvSpPr>
        <p:spPr>
          <a:xfrm rot="0">
            <a:off x="12312046" y="6345164"/>
            <a:ext cx="3625112" cy="1847723"/>
          </a:xfrm>
          <a:prstGeom prst="rect">
            <a:avLst/>
          </a:prstGeom>
        </p:spPr>
        <p:txBody>
          <a:bodyPr anchor="t" rtlCol="false" tIns="0" lIns="0" bIns="0" rIns="0">
            <a:spAutoFit/>
          </a:bodyPr>
          <a:lstStyle/>
          <a:p>
            <a:pPr algn="l">
              <a:lnSpc>
                <a:spcPts val="3681"/>
              </a:lnSpc>
            </a:pPr>
            <a:r>
              <a:rPr lang="en-US" sz="2629" b="true">
                <a:solidFill>
                  <a:srgbClr val="1E293B"/>
                </a:solidFill>
                <a:latin typeface="Open Sans Bold"/>
                <a:ea typeface="Open Sans Bold"/>
                <a:cs typeface="Open Sans Bold"/>
                <a:sym typeface="Open Sans Bold"/>
              </a:rPr>
              <a:t>Example 3.3</a:t>
            </a:r>
          </a:p>
          <a:p>
            <a:pPr algn="l">
              <a:lnSpc>
                <a:spcPts val="3681"/>
              </a:lnSpc>
            </a:pPr>
            <a:r>
              <a:rPr lang="en-US" sz="2629">
                <a:solidFill>
                  <a:srgbClr val="1E293B"/>
                </a:solidFill>
                <a:latin typeface="Open Sans"/>
                <a:ea typeface="Open Sans"/>
                <a:cs typeface="Open Sans"/>
                <a:sym typeface="Open Sans"/>
              </a:rPr>
              <a:t>Nonl</a:t>
            </a:r>
            <a:r>
              <a:rPr lang="en-US" sz="2629">
                <a:solidFill>
                  <a:srgbClr val="1E293B"/>
                </a:solidFill>
                <a:latin typeface="Open Sans"/>
                <a:ea typeface="Open Sans"/>
                <a:cs typeface="Open Sans"/>
                <a:sym typeface="Open Sans"/>
              </a:rPr>
              <a:t>inear</a:t>
            </a:r>
            <a:r>
              <a:rPr lang="en-US" sz="2629">
                <a:solidFill>
                  <a:srgbClr val="1E293B"/>
                </a:solidFill>
                <a:latin typeface="Open Sans"/>
                <a:ea typeface="Open Sans"/>
                <a:cs typeface="Open Sans"/>
                <a:sym typeface="Open Sans"/>
              </a:rPr>
              <a:t> TPS-BVP</a:t>
            </a:r>
          </a:p>
          <a:p>
            <a:pPr algn="l">
              <a:lnSpc>
                <a:spcPts val="3681"/>
              </a:lnSpc>
            </a:pPr>
            <a:r>
              <a:rPr lang="en-US" sz="2629">
                <a:solidFill>
                  <a:srgbClr val="1E293B"/>
                </a:solidFill>
                <a:latin typeface="Open Sans"/>
                <a:ea typeface="Open Sans"/>
                <a:cs typeface="Open Sans"/>
                <a:sym typeface="Open Sans"/>
              </a:rPr>
              <a:t>Exact solution:</a:t>
            </a:r>
          </a:p>
          <a:p>
            <a:pPr algn="l" marL="567816" indent="-283908" lvl="1">
              <a:lnSpc>
                <a:spcPts val="3681"/>
              </a:lnSpc>
              <a:buFont typeface="Arial"/>
              <a:buChar char="•"/>
            </a:pPr>
            <a:r>
              <a:rPr lang="en-US" sz="2629">
                <a:solidFill>
                  <a:srgbClr val="1E293B"/>
                </a:solidFill>
                <a:latin typeface="Open Sans"/>
                <a:ea typeface="Open Sans"/>
                <a:cs typeface="Open Sans"/>
                <a:sym typeface="Open Sans"/>
              </a:rPr>
              <a:t>y(t) = sinh(t)</a:t>
            </a:r>
          </a:p>
        </p:txBody>
      </p:sp>
    </p:spTree>
  </p:cSld>
  <p:clrMapOvr>
    <a:masterClrMapping/>
  </p:clrMapOvr>
  <p:transition spd="slow">
    <p:cover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835407" y="8090075"/>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6</a:t>
            </a:r>
          </a:p>
        </p:txBody>
      </p:sp>
      <p:sp>
        <p:nvSpPr>
          <p:cNvPr name="TextBox 4" id="4"/>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THE FIRST PROBLEM</a:t>
            </a:r>
          </a:p>
        </p:txBody>
      </p:sp>
      <p:sp>
        <p:nvSpPr>
          <p:cNvPr name="Freeform 5" id="5"/>
          <p:cNvSpPr/>
          <p:nvPr/>
        </p:nvSpPr>
        <p:spPr>
          <a:xfrm flipH="false" flipV="true" rot="0">
            <a:off x="13919401" y="-139525"/>
            <a:ext cx="4672899" cy="2336449"/>
          </a:xfrm>
          <a:custGeom>
            <a:avLst/>
            <a:gdLst/>
            <a:ahLst/>
            <a:cxnLst/>
            <a:rect r="r" b="b" t="t" l="l"/>
            <a:pathLst>
              <a:path h="2336449" w="4672899">
                <a:moveTo>
                  <a:pt x="0" y="2336450"/>
                </a:moveTo>
                <a:lnTo>
                  <a:pt x="4672899" y="2336450"/>
                </a:lnTo>
                <a:lnTo>
                  <a:pt x="4672899" y="0"/>
                </a:lnTo>
                <a:lnTo>
                  <a:pt x="0" y="0"/>
                </a:lnTo>
                <a:lnTo>
                  <a:pt x="0" y="233645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99056" y="3571273"/>
            <a:ext cx="8628311" cy="1267361"/>
            <a:chOff x="0" y="0"/>
            <a:chExt cx="2272477" cy="333791"/>
          </a:xfrm>
        </p:grpSpPr>
        <p:sp>
          <p:nvSpPr>
            <p:cNvPr name="Freeform 7" id="7"/>
            <p:cNvSpPr/>
            <p:nvPr/>
          </p:nvSpPr>
          <p:spPr>
            <a:xfrm flipH="false" flipV="false" rot="0">
              <a:off x="0" y="0"/>
              <a:ext cx="2272477" cy="333791"/>
            </a:xfrm>
            <a:custGeom>
              <a:avLst/>
              <a:gdLst/>
              <a:ahLst/>
              <a:cxnLst/>
              <a:rect r="r" b="b" t="t" l="l"/>
              <a:pathLst>
                <a:path h="333791" w="2272477">
                  <a:moveTo>
                    <a:pt x="45761" y="0"/>
                  </a:moveTo>
                  <a:lnTo>
                    <a:pt x="2226716" y="0"/>
                  </a:lnTo>
                  <a:cubicBezTo>
                    <a:pt x="2251989" y="0"/>
                    <a:pt x="2272477" y="20488"/>
                    <a:pt x="2272477" y="45761"/>
                  </a:cubicBezTo>
                  <a:lnTo>
                    <a:pt x="2272477" y="288030"/>
                  </a:lnTo>
                  <a:cubicBezTo>
                    <a:pt x="2272477" y="300166"/>
                    <a:pt x="2267656" y="311806"/>
                    <a:pt x="2259074" y="320388"/>
                  </a:cubicBezTo>
                  <a:cubicBezTo>
                    <a:pt x="2250492" y="328969"/>
                    <a:pt x="2238853" y="333791"/>
                    <a:pt x="2226716" y="333791"/>
                  </a:cubicBezTo>
                  <a:lnTo>
                    <a:pt x="45761" y="333791"/>
                  </a:lnTo>
                  <a:cubicBezTo>
                    <a:pt x="20488" y="333791"/>
                    <a:pt x="0" y="313303"/>
                    <a:pt x="0" y="288030"/>
                  </a:cubicBezTo>
                  <a:lnTo>
                    <a:pt x="0" y="45761"/>
                  </a:lnTo>
                  <a:cubicBezTo>
                    <a:pt x="0" y="20488"/>
                    <a:pt x="20488" y="0"/>
                    <a:pt x="45761" y="0"/>
                  </a:cubicBezTo>
                  <a:close/>
                </a:path>
              </a:pathLst>
            </a:custGeom>
            <a:gradFill rotWithShape="true">
              <a:gsLst>
                <a:gs pos="0">
                  <a:srgbClr val="60A5FA">
                    <a:alpha val="100000"/>
                  </a:srgbClr>
                </a:gs>
                <a:gs pos="100000">
                  <a:srgbClr val="FFFFFF">
                    <a:alpha val="100000"/>
                  </a:srgbClr>
                </a:gs>
              </a:gsLst>
              <a:lin ang="2700000"/>
            </a:gradFill>
          </p:spPr>
        </p:sp>
        <p:sp>
          <p:nvSpPr>
            <p:cNvPr name="TextBox 8" id="8"/>
            <p:cNvSpPr txBox="true"/>
            <p:nvPr/>
          </p:nvSpPr>
          <p:spPr>
            <a:xfrm>
              <a:off x="0" y="-47625"/>
              <a:ext cx="2272477" cy="381416"/>
            </a:xfrm>
            <a:prstGeom prst="rect">
              <a:avLst/>
            </a:prstGeom>
          </p:spPr>
          <p:txBody>
            <a:bodyPr anchor="ctr" rtlCol="false" tIns="50800" lIns="50800" bIns="50800" rIns="50800"/>
            <a:lstStyle/>
            <a:p>
              <a:pPr algn="ctr">
                <a:lnSpc>
                  <a:spcPts val="2940"/>
                </a:lnSpc>
              </a:pPr>
            </a:p>
          </p:txBody>
        </p:sp>
      </p:grpSp>
      <p:pic>
        <p:nvPicPr>
          <p:cNvPr name="Picture 9" id="9"/>
          <p:cNvPicPr>
            <a:picLocks noChangeAspect="true"/>
          </p:cNvPicPr>
          <p:nvPr/>
        </p:nvPicPr>
        <p:blipFill>
          <a:blip r:embed="rId4"/>
          <a:stretch>
            <a:fillRect/>
          </a:stretch>
        </p:blipFill>
        <p:spPr>
          <a:xfrm rot="0">
            <a:off x="217170" y="2921668"/>
            <a:ext cx="9738360" cy="2532957"/>
          </a:xfrm>
          <a:prstGeom prst="rect">
            <a:avLst/>
          </a:prstGeom>
        </p:spPr>
      </p:pic>
      <p:pic>
        <p:nvPicPr>
          <p:cNvPr name="Picture 10" id="10"/>
          <p:cNvPicPr>
            <a:picLocks noChangeAspect="true"/>
          </p:cNvPicPr>
          <p:nvPr/>
        </p:nvPicPr>
        <p:blipFill>
          <a:blip r:embed="rId5"/>
          <a:stretch>
            <a:fillRect/>
          </a:stretch>
        </p:blipFill>
        <p:spPr>
          <a:xfrm rot="0">
            <a:off x="4755709" y="5757148"/>
            <a:ext cx="2244742" cy="661911"/>
          </a:xfrm>
          <a:prstGeom prst="rect">
            <a:avLst/>
          </a:prstGeom>
        </p:spPr>
      </p:pic>
      <p:pic>
        <p:nvPicPr>
          <p:cNvPr name="Picture 11" id="11"/>
          <p:cNvPicPr>
            <a:picLocks noChangeAspect="true"/>
          </p:cNvPicPr>
          <p:nvPr/>
        </p:nvPicPr>
        <p:blipFill>
          <a:blip r:embed="rId6"/>
          <a:stretch>
            <a:fillRect/>
          </a:stretch>
        </p:blipFill>
        <p:spPr>
          <a:xfrm rot="0">
            <a:off x="7216686" y="5833049"/>
            <a:ext cx="1273708" cy="505091"/>
          </a:xfrm>
          <a:prstGeom prst="rect">
            <a:avLst/>
          </a:prstGeom>
        </p:spPr>
      </p:pic>
      <p:sp>
        <p:nvSpPr>
          <p:cNvPr name="TextBox 12" id="12"/>
          <p:cNvSpPr txBox="true"/>
          <p:nvPr/>
        </p:nvSpPr>
        <p:spPr>
          <a:xfrm rot="0">
            <a:off x="1028700" y="6342852"/>
            <a:ext cx="8398667"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Endpoin</a:t>
            </a:r>
            <a:r>
              <a:rPr lang="en-US" b="true" sz="2100">
                <a:solidFill>
                  <a:srgbClr val="331B0D"/>
                </a:solidFill>
                <a:latin typeface="Open Sauce Bold"/>
                <a:ea typeface="Open Sauce Bold"/>
                <a:cs typeface="Open Sauce Bold"/>
                <a:sym typeface="Open Sauce Bold"/>
              </a:rPr>
              <a:t>t Singularity: </a:t>
            </a:r>
            <a:r>
              <a:rPr lang="en-US" sz="2100">
                <a:solidFill>
                  <a:srgbClr val="8C7753"/>
                </a:solidFill>
                <a:latin typeface="Open Sauce"/>
                <a:ea typeface="Open Sauce"/>
                <a:cs typeface="Open Sauce"/>
                <a:sym typeface="Open Sauce"/>
              </a:rPr>
              <a:t>Coefficient    diverges at origin </a:t>
            </a:r>
            <a:r>
              <a:rPr lang="en-US" sz="2100">
                <a:solidFill>
                  <a:srgbClr val="000000"/>
                </a:solidFill>
                <a:latin typeface="Open Sauce"/>
                <a:ea typeface="Open Sauce"/>
                <a:cs typeface="Open Sauce"/>
                <a:sym typeface="Open Sauce"/>
              </a:rPr>
              <a:t>t = 0</a:t>
            </a:r>
          </a:p>
        </p:txBody>
      </p:sp>
      <p:pic>
        <p:nvPicPr>
          <p:cNvPr name="Picture 13" id="13"/>
          <p:cNvPicPr>
            <a:picLocks noChangeAspect="true"/>
          </p:cNvPicPr>
          <p:nvPr/>
        </p:nvPicPr>
        <p:blipFill>
          <a:blip r:embed="rId7"/>
          <a:stretch>
            <a:fillRect/>
          </a:stretch>
        </p:blipFill>
        <p:spPr>
          <a:xfrm rot="0">
            <a:off x="5676727" y="6261304"/>
            <a:ext cx="362588" cy="664744"/>
          </a:xfrm>
          <a:prstGeom prst="rect">
            <a:avLst/>
          </a:prstGeom>
        </p:spPr>
      </p:pic>
      <p:grpSp>
        <p:nvGrpSpPr>
          <p:cNvPr name="Group 14" id="14"/>
          <p:cNvGrpSpPr/>
          <p:nvPr/>
        </p:nvGrpSpPr>
        <p:grpSpPr>
          <a:xfrm rot="0">
            <a:off x="10927675" y="2014119"/>
            <a:ext cx="7244181" cy="724418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BFD9F9">
                    <a:alpha val="100000"/>
                  </a:srgbClr>
                </a:gs>
                <a:gs pos="100000">
                  <a:srgbClr val="F4F9FD">
                    <a:alpha val="100000"/>
                  </a:srgbClr>
                </a:gs>
              </a:gsLst>
              <a:lin ang="5400000"/>
            </a:gradFill>
            <a:ln cap="sq">
              <a:no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0927675" y="2437737"/>
            <a:ext cx="7214256" cy="5678860"/>
          </a:xfrm>
          <a:custGeom>
            <a:avLst/>
            <a:gdLst/>
            <a:ahLst/>
            <a:cxnLst/>
            <a:rect r="r" b="b" t="t" l="l"/>
            <a:pathLst>
              <a:path h="5678860" w="7214256">
                <a:moveTo>
                  <a:pt x="0" y="0"/>
                </a:moveTo>
                <a:lnTo>
                  <a:pt x="7214256" y="0"/>
                </a:lnTo>
                <a:lnTo>
                  <a:pt x="7214256" y="5678861"/>
                </a:lnTo>
                <a:lnTo>
                  <a:pt x="0" y="5678861"/>
                </a:lnTo>
                <a:lnTo>
                  <a:pt x="0" y="0"/>
                </a:lnTo>
                <a:close/>
              </a:path>
            </a:pathLst>
          </a:custGeom>
          <a:blipFill>
            <a:blip r:embed="rId8"/>
            <a:stretch>
              <a:fillRect l="0" t="0" r="0" b="0"/>
            </a:stretch>
          </a:blipFill>
        </p:spPr>
      </p:sp>
      <p:sp>
        <p:nvSpPr>
          <p:cNvPr name="TextBox 18" id="18"/>
          <p:cNvSpPr txBox="true"/>
          <p:nvPr/>
        </p:nvSpPr>
        <p:spPr>
          <a:xfrm rot="0">
            <a:off x="1028700" y="2102345"/>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Example 3.1</a:t>
            </a:r>
          </a:p>
        </p:txBody>
      </p:sp>
      <p:sp>
        <p:nvSpPr>
          <p:cNvPr name="TextBox 19" id="19"/>
          <p:cNvSpPr txBox="true"/>
          <p:nvPr/>
        </p:nvSpPr>
        <p:spPr>
          <a:xfrm rot="0">
            <a:off x="1028700" y="2927383"/>
            <a:ext cx="73555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Governing Singul</a:t>
            </a:r>
            <a:r>
              <a:rPr lang="en-US" sz="2400">
                <a:solidFill>
                  <a:srgbClr val="8C7753"/>
                </a:solidFill>
                <a:latin typeface="Open Sauce"/>
                <a:ea typeface="Open Sauce"/>
                <a:cs typeface="Open Sauce"/>
                <a:sym typeface="Open Sauce"/>
              </a:rPr>
              <a:t>ar ODE (Trigonometric TPS-BVP)</a:t>
            </a:r>
          </a:p>
        </p:txBody>
      </p:sp>
      <p:sp>
        <p:nvSpPr>
          <p:cNvPr name="TextBox 20" id="20"/>
          <p:cNvSpPr txBox="true"/>
          <p:nvPr/>
        </p:nvSpPr>
        <p:spPr>
          <a:xfrm rot="0">
            <a:off x="14411514" y="1057275"/>
            <a:ext cx="2847786" cy="4743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SING-THREE POINT BOUND-PROBLEMS</a:t>
            </a:r>
          </a:p>
        </p:txBody>
      </p:sp>
      <p:sp>
        <p:nvSpPr>
          <p:cNvPr name="TextBox 21" id="21"/>
          <p:cNvSpPr txBox="true"/>
          <p:nvPr/>
        </p:nvSpPr>
        <p:spPr>
          <a:xfrm rot="0">
            <a:off x="1028700" y="5186020"/>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Benchmark Specifications</a:t>
            </a:r>
          </a:p>
        </p:txBody>
      </p:sp>
      <p:sp>
        <p:nvSpPr>
          <p:cNvPr name="TextBox 22" id="22"/>
          <p:cNvSpPr txBox="true"/>
          <p:nvPr/>
        </p:nvSpPr>
        <p:spPr>
          <a:xfrm rot="0">
            <a:off x="1028700" y="5896585"/>
            <a:ext cx="3914071"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Ex</a:t>
            </a:r>
            <a:r>
              <a:rPr lang="en-US" b="true" sz="2100">
                <a:solidFill>
                  <a:srgbClr val="331B0D"/>
                </a:solidFill>
                <a:latin typeface="Open Sauce Bold"/>
                <a:ea typeface="Open Sauce Bold"/>
                <a:cs typeface="Open Sauce Bold"/>
                <a:sym typeface="Open Sauce Bold"/>
              </a:rPr>
              <a:t>act Analytical Solution:</a:t>
            </a:r>
            <a:r>
              <a:rPr lang="en-US" sz="2100">
                <a:solidFill>
                  <a:srgbClr val="331B0D"/>
                </a:solidFill>
                <a:latin typeface="Open Sauce"/>
                <a:ea typeface="Open Sauce"/>
                <a:cs typeface="Open Sauce"/>
                <a:sym typeface="Open Sauce"/>
              </a:rPr>
              <a:t> </a:t>
            </a:r>
          </a:p>
        </p:txBody>
      </p:sp>
      <p:sp>
        <p:nvSpPr>
          <p:cNvPr name="TextBox 23" id="23"/>
          <p:cNvSpPr txBox="true"/>
          <p:nvPr/>
        </p:nvSpPr>
        <p:spPr>
          <a:xfrm rot="0">
            <a:off x="6813389" y="5896585"/>
            <a:ext cx="509439"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 on </a:t>
            </a:r>
          </a:p>
        </p:txBody>
      </p:sp>
      <p:sp>
        <p:nvSpPr>
          <p:cNvPr name="TextBox 24" id="24"/>
          <p:cNvSpPr txBox="true"/>
          <p:nvPr/>
        </p:nvSpPr>
        <p:spPr>
          <a:xfrm rot="0">
            <a:off x="1028700" y="6789118"/>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Three-Poin</a:t>
            </a:r>
            <a:r>
              <a:rPr lang="en-US" b="true" sz="2100">
                <a:solidFill>
                  <a:srgbClr val="331B0D"/>
                </a:solidFill>
                <a:latin typeface="Open Sauce Bold"/>
                <a:ea typeface="Open Sauce Bold"/>
                <a:cs typeface="Open Sauce Bold"/>
                <a:sym typeface="Open Sauce Bold"/>
              </a:rPr>
              <a:t>t Boundary: </a:t>
            </a:r>
            <a:r>
              <a:rPr lang="en-US" sz="2100">
                <a:solidFill>
                  <a:srgbClr val="8C7753"/>
                </a:solidFill>
                <a:latin typeface="Open Sauce"/>
                <a:ea typeface="Open Sauce"/>
                <a:cs typeface="Open Sauce"/>
                <a:sym typeface="Open Sauce"/>
              </a:rPr>
              <a:t>Conditions enforced at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interior point </a:t>
            </a:r>
            <a:r>
              <a:rPr lang="en-US" sz="2100">
                <a:solidFill>
                  <a:srgbClr val="000000"/>
                </a:solidFill>
                <a:latin typeface="Open Sauce"/>
                <a:ea typeface="Open Sauce"/>
                <a:cs typeface="Open Sauce"/>
                <a:sym typeface="Open Sauce"/>
              </a:rPr>
              <a:t>θ</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a:t>
            </a:r>
          </a:p>
        </p:txBody>
      </p:sp>
      <p:sp>
        <p:nvSpPr>
          <p:cNvPr name="TextBox 25" id="25"/>
          <p:cNvSpPr txBox="true"/>
          <p:nvPr/>
        </p:nvSpPr>
        <p:spPr>
          <a:xfrm rot="0">
            <a:off x="1028700" y="7602553"/>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Diffic</a:t>
            </a:r>
            <a:r>
              <a:rPr lang="en-US" b="true" sz="2100">
                <a:solidFill>
                  <a:srgbClr val="331B0D"/>
                </a:solidFill>
                <a:latin typeface="Open Sauce Bold"/>
                <a:ea typeface="Open Sauce Bold"/>
                <a:cs typeface="Open Sauce Bold"/>
                <a:sym typeface="Open Sauce Bold"/>
              </a:rPr>
              <a:t>ulty Level: </a:t>
            </a:r>
            <a:r>
              <a:rPr lang="en-US" sz="2100">
                <a:solidFill>
                  <a:srgbClr val="8C7753"/>
                </a:solidFill>
                <a:latin typeface="Open Sauce"/>
                <a:ea typeface="Open Sauce"/>
                <a:cs typeface="Open Sauce"/>
                <a:sym typeface="Open Sauce"/>
              </a:rPr>
              <a:t>Easiest benchmark — linear trigonometric ODE</a:t>
            </a:r>
          </a:p>
        </p:txBody>
      </p:sp>
      <p:grpSp>
        <p:nvGrpSpPr>
          <p:cNvPr name="Group 26" id="26"/>
          <p:cNvGrpSpPr/>
          <p:nvPr/>
        </p:nvGrpSpPr>
        <p:grpSpPr>
          <a:xfrm rot="0">
            <a:off x="-1238474" y="-5345852"/>
            <a:ext cx="7116554" cy="711655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5EA3F8"/>
              </a:solidFill>
              <a:prstDash val="solid"/>
              <a:miter/>
            </a:ln>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Tree>
  </p:cSld>
  <p:clrMapOvr>
    <a:masterClrMapping/>
  </p:clrMapOvr>
  <p:transition spd="slow">
    <p:cover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835407" y="8090075"/>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7</a:t>
            </a:r>
          </a:p>
        </p:txBody>
      </p:sp>
      <p:grpSp>
        <p:nvGrpSpPr>
          <p:cNvPr name="Group 4" id="4"/>
          <p:cNvGrpSpPr/>
          <p:nvPr/>
        </p:nvGrpSpPr>
        <p:grpSpPr>
          <a:xfrm rot="0">
            <a:off x="-1238474" y="-5345852"/>
            <a:ext cx="7116554" cy="711655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5EA3F8"/>
              </a:solidFill>
              <a:prstDash val="solid"/>
              <a:miter/>
            </a:ln>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7" id="7"/>
          <p:cNvSpPr/>
          <p:nvPr/>
        </p:nvSpPr>
        <p:spPr>
          <a:xfrm flipH="false" flipV="true" rot="0">
            <a:off x="13919401" y="-139525"/>
            <a:ext cx="4672899" cy="2336449"/>
          </a:xfrm>
          <a:custGeom>
            <a:avLst/>
            <a:gdLst/>
            <a:ahLst/>
            <a:cxnLst/>
            <a:rect r="r" b="b" t="t" l="l"/>
            <a:pathLst>
              <a:path h="2336449" w="4672899">
                <a:moveTo>
                  <a:pt x="0" y="2336450"/>
                </a:moveTo>
                <a:lnTo>
                  <a:pt x="4672899" y="2336450"/>
                </a:lnTo>
                <a:lnTo>
                  <a:pt x="4672899" y="0"/>
                </a:lnTo>
                <a:lnTo>
                  <a:pt x="0" y="0"/>
                </a:lnTo>
                <a:lnTo>
                  <a:pt x="0" y="233645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8" id="8"/>
          <p:cNvPicPr>
            <a:picLocks noChangeAspect="true"/>
          </p:cNvPicPr>
          <p:nvPr/>
        </p:nvPicPr>
        <p:blipFill>
          <a:blip r:embed="rId4"/>
          <a:stretch>
            <a:fillRect/>
          </a:stretch>
        </p:blipFill>
        <p:spPr>
          <a:xfrm rot="0">
            <a:off x="7216686" y="5833049"/>
            <a:ext cx="1273708" cy="505091"/>
          </a:xfrm>
          <a:prstGeom prst="rect">
            <a:avLst/>
          </a:prstGeom>
        </p:spPr>
      </p:pic>
      <p:sp>
        <p:nvSpPr>
          <p:cNvPr name="TextBox 9" id="9"/>
          <p:cNvSpPr txBox="true"/>
          <p:nvPr/>
        </p:nvSpPr>
        <p:spPr>
          <a:xfrm rot="0">
            <a:off x="1028700" y="6342852"/>
            <a:ext cx="8526798"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Dual Singularities: </a:t>
            </a:r>
            <a:r>
              <a:rPr lang="en-US" sz="2100">
                <a:solidFill>
                  <a:srgbClr val="8C7753"/>
                </a:solidFill>
                <a:latin typeface="Open Sauce"/>
                <a:ea typeface="Open Sauce"/>
                <a:cs typeface="Open Sauce"/>
                <a:sym typeface="Open Sauce"/>
              </a:rPr>
              <a:t>T</a:t>
            </a:r>
            <a:r>
              <a:rPr lang="en-US" sz="2100">
                <a:solidFill>
                  <a:srgbClr val="8C7753"/>
                </a:solidFill>
                <a:latin typeface="Open Sauce"/>
                <a:ea typeface="Open Sauce"/>
                <a:cs typeface="Open Sauce"/>
                <a:sym typeface="Open Sauce"/>
              </a:rPr>
              <a:t>erm             diverges at both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a:t>
            </a:r>
          </a:p>
        </p:txBody>
      </p:sp>
      <p:grpSp>
        <p:nvGrpSpPr>
          <p:cNvPr name="Group 10" id="10"/>
          <p:cNvGrpSpPr/>
          <p:nvPr/>
        </p:nvGrpSpPr>
        <p:grpSpPr>
          <a:xfrm rot="0">
            <a:off x="10927675" y="2014119"/>
            <a:ext cx="7244181" cy="724418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2700000"/>
            </a:gradFill>
            <a:ln cap="sq">
              <a:no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1028700" y="5896585"/>
            <a:ext cx="3914071"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Ex</a:t>
            </a:r>
            <a:r>
              <a:rPr lang="en-US" b="true" sz="2100">
                <a:solidFill>
                  <a:srgbClr val="331B0D"/>
                </a:solidFill>
                <a:latin typeface="Open Sauce Bold"/>
                <a:ea typeface="Open Sauce Bold"/>
                <a:cs typeface="Open Sauce Bold"/>
                <a:sym typeface="Open Sauce Bold"/>
              </a:rPr>
              <a:t>act Analytical Solution:</a:t>
            </a:r>
            <a:r>
              <a:rPr lang="en-US" sz="2100">
                <a:solidFill>
                  <a:srgbClr val="331B0D"/>
                </a:solidFill>
                <a:latin typeface="Open Sauce"/>
                <a:ea typeface="Open Sauce"/>
                <a:cs typeface="Open Sauce"/>
                <a:sym typeface="Open Sauce"/>
              </a:rPr>
              <a:t> </a:t>
            </a:r>
          </a:p>
        </p:txBody>
      </p:sp>
      <p:pic>
        <p:nvPicPr>
          <p:cNvPr name="Picture 14" id="14"/>
          <p:cNvPicPr>
            <a:picLocks noChangeAspect="true"/>
          </p:cNvPicPr>
          <p:nvPr/>
        </p:nvPicPr>
        <p:blipFill>
          <a:blip r:embed="rId5"/>
          <a:stretch>
            <a:fillRect/>
          </a:stretch>
        </p:blipFill>
        <p:spPr>
          <a:xfrm rot="0">
            <a:off x="4545723" y="6235944"/>
            <a:ext cx="1043701" cy="627200"/>
          </a:xfrm>
          <a:prstGeom prst="rect">
            <a:avLst/>
          </a:prstGeom>
        </p:spPr>
      </p:pic>
      <p:pic>
        <p:nvPicPr>
          <p:cNvPr name="Picture 15" id="15"/>
          <p:cNvPicPr>
            <a:picLocks noChangeAspect="true"/>
          </p:cNvPicPr>
          <p:nvPr/>
        </p:nvPicPr>
        <p:blipFill>
          <a:blip r:embed="rId6"/>
          <a:stretch>
            <a:fillRect/>
          </a:stretch>
        </p:blipFill>
        <p:spPr>
          <a:xfrm rot="0">
            <a:off x="4755709" y="5757148"/>
            <a:ext cx="2244742" cy="661911"/>
          </a:xfrm>
          <a:prstGeom prst="rect">
            <a:avLst/>
          </a:prstGeom>
        </p:spPr>
      </p:pic>
      <p:grpSp>
        <p:nvGrpSpPr>
          <p:cNvPr name="Group 16" id="16"/>
          <p:cNvGrpSpPr/>
          <p:nvPr/>
        </p:nvGrpSpPr>
        <p:grpSpPr>
          <a:xfrm rot="0">
            <a:off x="880959" y="3649716"/>
            <a:ext cx="9994242" cy="1267361"/>
            <a:chOff x="0" y="0"/>
            <a:chExt cx="2632228" cy="333791"/>
          </a:xfrm>
        </p:grpSpPr>
        <p:sp>
          <p:nvSpPr>
            <p:cNvPr name="Freeform 17" id="17"/>
            <p:cNvSpPr/>
            <p:nvPr/>
          </p:nvSpPr>
          <p:spPr>
            <a:xfrm flipH="false" flipV="false" rot="0">
              <a:off x="0" y="0"/>
              <a:ext cx="2632228" cy="333791"/>
            </a:xfrm>
            <a:custGeom>
              <a:avLst/>
              <a:gdLst/>
              <a:ahLst/>
              <a:cxnLst/>
              <a:rect r="r" b="b" t="t" l="l"/>
              <a:pathLst>
                <a:path h="333791" w="2632228">
                  <a:moveTo>
                    <a:pt x="39507" y="0"/>
                  </a:moveTo>
                  <a:lnTo>
                    <a:pt x="2592722" y="0"/>
                  </a:lnTo>
                  <a:cubicBezTo>
                    <a:pt x="2614541" y="0"/>
                    <a:pt x="2632228" y="17688"/>
                    <a:pt x="2632228" y="39507"/>
                  </a:cubicBezTo>
                  <a:lnTo>
                    <a:pt x="2632228" y="294284"/>
                  </a:lnTo>
                  <a:cubicBezTo>
                    <a:pt x="2632228" y="304762"/>
                    <a:pt x="2628066" y="314810"/>
                    <a:pt x="2620657" y="322219"/>
                  </a:cubicBezTo>
                  <a:cubicBezTo>
                    <a:pt x="2613248" y="329628"/>
                    <a:pt x="2603200" y="333791"/>
                    <a:pt x="2592722" y="333791"/>
                  </a:cubicBezTo>
                  <a:lnTo>
                    <a:pt x="39507" y="333791"/>
                  </a:lnTo>
                  <a:cubicBezTo>
                    <a:pt x="29029" y="333791"/>
                    <a:pt x="18980" y="329628"/>
                    <a:pt x="11571" y="322219"/>
                  </a:cubicBezTo>
                  <a:cubicBezTo>
                    <a:pt x="4162" y="314810"/>
                    <a:pt x="0" y="304762"/>
                    <a:pt x="0" y="294284"/>
                  </a:cubicBezTo>
                  <a:lnTo>
                    <a:pt x="0" y="39507"/>
                  </a:lnTo>
                  <a:cubicBezTo>
                    <a:pt x="0" y="17688"/>
                    <a:pt x="17688" y="0"/>
                    <a:pt x="39507" y="0"/>
                  </a:cubicBezTo>
                  <a:close/>
                </a:path>
              </a:pathLst>
            </a:custGeom>
            <a:gradFill rotWithShape="true">
              <a:gsLst>
                <a:gs pos="0">
                  <a:srgbClr val="60A5FA">
                    <a:alpha val="100000"/>
                  </a:srgbClr>
                </a:gs>
                <a:gs pos="100000">
                  <a:srgbClr val="FFFFFF">
                    <a:alpha val="100000"/>
                  </a:srgbClr>
                </a:gs>
              </a:gsLst>
              <a:lin ang="2700000"/>
            </a:gradFill>
          </p:spPr>
        </p:sp>
        <p:sp>
          <p:nvSpPr>
            <p:cNvPr name="TextBox 18" id="18"/>
            <p:cNvSpPr txBox="true"/>
            <p:nvPr/>
          </p:nvSpPr>
          <p:spPr>
            <a:xfrm>
              <a:off x="0" y="-47625"/>
              <a:ext cx="2632228" cy="381416"/>
            </a:xfrm>
            <a:prstGeom prst="rect">
              <a:avLst/>
            </a:prstGeom>
          </p:spPr>
          <p:txBody>
            <a:bodyPr anchor="ctr" rtlCol="false" tIns="50800" lIns="50800" bIns="50800" rIns="50800"/>
            <a:lstStyle/>
            <a:p>
              <a:pPr algn="ctr">
                <a:lnSpc>
                  <a:spcPts val="2940"/>
                </a:lnSpc>
              </a:pPr>
            </a:p>
          </p:txBody>
        </p:sp>
      </p:grpSp>
      <p:pic>
        <p:nvPicPr>
          <p:cNvPr name="Picture 19" id="19"/>
          <p:cNvPicPr>
            <a:picLocks noChangeAspect="true"/>
          </p:cNvPicPr>
          <p:nvPr/>
        </p:nvPicPr>
        <p:blipFill>
          <a:blip r:embed="rId7"/>
          <a:stretch>
            <a:fillRect/>
          </a:stretch>
        </p:blipFill>
        <p:spPr>
          <a:xfrm rot="0">
            <a:off x="71121" y="2864334"/>
            <a:ext cx="11490952" cy="2838127"/>
          </a:xfrm>
          <a:prstGeom prst="rect">
            <a:avLst/>
          </a:prstGeom>
        </p:spPr>
      </p:pic>
      <p:sp>
        <p:nvSpPr>
          <p:cNvPr name="Freeform 20" id="20"/>
          <p:cNvSpPr/>
          <p:nvPr/>
        </p:nvSpPr>
        <p:spPr>
          <a:xfrm flipH="false" flipV="false" rot="0">
            <a:off x="11366661" y="2959689"/>
            <a:ext cx="6366209" cy="5035294"/>
          </a:xfrm>
          <a:custGeom>
            <a:avLst/>
            <a:gdLst/>
            <a:ahLst/>
            <a:cxnLst/>
            <a:rect r="r" b="b" t="t" l="l"/>
            <a:pathLst>
              <a:path h="5035294" w="6366209">
                <a:moveTo>
                  <a:pt x="0" y="0"/>
                </a:moveTo>
                <a:lnTo>
                  <a:pt x="6366209" y="0"/>
                </a:lnTo>
                <a:lnTo>
                  <a:pt x="6366209" y="5035294"/>
                </a:lnTo>
                <a:lnTo>
                  <a:pt x="0" y="5035294"/>
                </a:lnTo>
                <a:lnTo>
                  <a:pt x="0" y="0"/>
                </a:lnTo>
                <a:close/>
              </a:path>
            </a:pathLst>
          </a:custGeom>
          <a:blipFill>
            <a:blip r:embed="rId8"/>
            <a:stretch>
              <a:fillRect l="0" t="0" r="0" b="0"/>
            </a:stretch>
          </a:blipFill>
        </p:spPr>
      </p:sp>
      <p:sp>
        <p:nvSpPr>
          <p:cNvPr name="TextBox 21" id="21"/>
          <p:cNvSpPr txBox="true"/>
          <p:nvPr/>
        </p:nvSpPr>
        <p:spPr>
          <a:xfrm rot="0">
            <a:off x="1506929" y="961250"/>
            <a:ext cx="2957613" cy="474345"/>
          </a:xfrm>
          <a:prstGeom prst="rect">
            <a:avLst/>
          </a:prstGeom>
        </p:spPr>
        <p:txBody>
          <a:bodyPr anchor="t" rtlCol="false" tIns="0" lIns="0" bIns="0" rIns="0">
            <a:spAutoFit/>
          </a:bodyPr>
          <a:lstStyle/>
          <a:p>
            <a:pPr algn="l">
              <a:lnSpc>
                <a:spcPts val="1800"/>
              </a:lnSpc>
              <a:spcBef>
                <a:spcPct val="0"/>
              </a:spcBef>
            </a:pPr>
            <a:r>
              <a:rPr lang="en-US" b="true" sz="1800" spc="179">
                <a:solidFill>
                  <a:srgbClr val="8C7753"/>
                </a:solidFill>
                <a:latin typeface="Open Sauce Bold"/>
                <a:ea typeface="Open Sauce Bold"/>
                <a:cs typeface="Open Sauce Bold"/>
                <a:sym typeface="Open Sauce Bold"/>
              </a:rPr>
              <a:t>THE SECOND PROBLEM</a:t>
            </a:r>
          </a:p>
        </p:txBody>
      </p:sp>
      <p:sp>
        <p:nvSpPr>
          <p:cNvPr name="TextBox 22" id="22"/>
          <p:cNvSpPr txBox="true"/>
          <p:nvPr/>
        </p:nvSpPr>
        <p:spPr>
          <a:xfrm rot="0">
            <a:off x="1028700" y="2102345"/>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Example 3.2</a:t>
            </a:r>
          </a:p>
        </p:txBody>
      </p:sp>
      <p:sp>
        <p:nvSpPr>
          <p:cNvPr name="TextBox 23" id="23"/>
          <p:cNvSpPr txBox="true"/>
          <p:nvPr/>
        </p:nvSpPr>
        <p:spPr>
          <a:xfrm rot="0">
            <a:off x="1028700" y="2927383"/>
            <a:ext cx="73555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Governing Singul</a:t>
            </a:r>
            <a:r>
              <a:rPr lang="en-US" sz="2400">
                <a:solidFill>
                  <a:srgbClr val="8C7753"/>
                </a:solidFill>
                <a:latin typeface="Open Sauce"/>
                <a:ea typeface="Open Sauce"/>
                <a:cs typeface="Open Sauce"/>
                <a:sym typeface="Open Sauce"/>
              </a:rPr>
              <a:t>ar ODE (Hyperbolic TPS-BVP)</a:t>
            </a:r>
          </a:p>
        </p:txBody>
      </p:sp>
      <p:sp>
        <p:nvSpPr>
          <p:cNvPr name="TextBox 24" id="24"/>
          <p:cNvSpPr txBox="true"/>
          <p:nvPr/>
        </p:nvSpPr>
        <p:spPr>
          <a:xfrm rot="0">
            <a:off x="14411514" y="1057275"/>
            <a:ext cx="2847786" cy="4743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SING-THREE POINT BOUND-PROBLEMS</a:t>
            </a:r>
          </a:p>
        </p:txBody>
      </p:sp>
      <p:sp>
        <p:nvSpPr>
          <p:cNvPr name="TextBox 25" id="25"/>
          <p:cNvSpPr txBox="true"/>
          <p:nvPr/>
        </p:nvSpPr>
        <p:spPr>
          <a:xfrm rot="0">
            <a:off x="1028700" y="5186020"/>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Benchmark Specifications</a:t>
            </a:r>
          </a:p>
        </p:txBody>
      </p:sp>
      <p:sp>
        <p:nvSpPr>
          <p:cNvPr name="TextBox 26" id="26"/>
          <p:cNvSpPr txBox="true"/>
          <p:nvPr/>
        </p:nvSpPr>
        <p:spPr>
          <a:xfrm rot="0">
            <a:off x="6813389" y="5896585"/>
            <a:ext cx="509439"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 on </a:t>
            </a:r>
          </a:p>
        </p:txBody>
      </p:sp>
      <p:sp>
        <p:nvSpPr>
          <p:cNvPr name="TextBox 27" id="27"/>
          <p:cNvSpPr txBox="true"/>
          <p:nvPr/>
        </p:nvSpPr>
        <p:spPr>
          <a:xfrm rot="0">
            <a:off x="1028700" y="6789118"/>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Three-Poin</a:t>
            </a:r>
            <a:r>
              <a:rPr lang="en-US" b="true" sz="2100">
                <a:solidFill>
                  <a:srgbClr val="331B0D"/>
                </a:solidFill>
                <a:latin typeface="Open Sauce Bold"/>
                <a:ea typeface="Open Sauce Bold"/>
                <a:cs typeface="Open Sauce Bold"/>
                <a:sym typeface="Open Sauce Bold"/>
              </a:rPr>
              <a:t>t Boundary: </a:t>
            </a:r>
            <a:r>
              <a:rPr lang="en-US" sz="2100">
                <a:solidFill>
                  <a:srgbClr val="8C7753"/>
                </a:solidFill>
                <a:latin typeface="Open Sauce"/>
                <a:ea typeface="Open Sauce"/>
                <a:cs typeface="Open Sauce"/>
                <a:sym typeface="Open Sauce"/>
              </a:rPr>
              <a:t>Conditions enforced at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interior point </a:t>
            </a:r>
            <a:r>
              <a:rPr lang="en-US" sz="2100">
                <a:solidFill>
                  <a:srgbClr val="000000"/>
                </a:solidFill>
                <a:latin typeface="Open Sauce"/>
                <a:ea typeface="Open Sauce"/>
                <a:cs typeface="Open Sauce"/>
                <a:sym typeface="Open Sauce"/>
              </a:rPr>
              <a:t>θ</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a:t>
            </a:r>
          </a:p>
        </p:txBody>
      </p:sp>
      <p:sp>
        <p:nvSpPr>
          <p:cNvPr name="TextBox 28" id="28"/>
          <p:cNvSpPr txBox="true"/>
          <p:nvPr/>
        </p:nvSpPr>
        <p:spPr>
          <a:xfrm rot="0">
            <a:off x="1028700" y="7602553"/>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Diffic</a:t>
            </a:r>
            <a:r>
              <a:rPr lang="en-US" b="true" sz="2100">
                <a:solidFill>
                  <a:srgbClr val="331B0D"/>
                </a:solidFill>
                <a:latin typeface="Open Sauce Bold"/>
                <a:ea typeface="Open Sauce Bold"/>
                <a:cs typeface="Open Sauce Bold"/>
                <a:sym typeface="Open Sauce Bold"/>
              </a:rPr>
              <a:t>ulty Level: </a:t>
            </a:r>
            <a:r>
              <a:rPr lang="en-US" sz="2100">
                <a:solidFill>
                  <a:srgbClr val="8C7753"/>
                </a:solidFill>
                <a:latin typeface="Open Sauce"/>
                <a:ea typeface="Open Sauce"/>
                <a:cs typeface="Open Sauce"/>
                <a:sym typeface="Open Sauce"/>
              </a:rPr>
              <a:t>Intermediate — adds second endpoint singularity</a:t>
            </a:r>
          </a:p>
        </p:txBody>
      </p:sp>
    </p:spTree>
  </p:cSld>
  <p:clrMapOvr>
    <a:masterClrMapping/>
  </p:clrMapOvr>
  <p:transition spd="slow">
    <p:cover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835407" y="8090075"/>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8</a:t>
            </a:r>
          </a:p>
        </p:txBody>
      </p:sp>
      <p:grpSp>
        <p:nvGrpSpPr>
          <p:cNvPr name="Group 4" id="4"/>
          <p:cNvGrpSpPr/>
          <p:nvPr/>
        </p:nvGrpSpPr>
        <p:grpSpPr>
          <a:xfrm rot="0">
            <a:off x="-1238474" y="-5345852"/>
            <a:ext cx="7116554" cy="711655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5EA3F8"/>
              </a:solidFill>
              <a:prstDash val="solid"/>
              <a:miter/>
            </a:ln>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7" id="7"/>
          <p:cNvGrpSpPr/>
          <p:nvPr/>
        </p:nvGrpSpPr>
        <p:grpSpPr>
          <a:xfrm rot="0">
            <a:off x="780166" y="3571273"/>
            <a:ext cx="7852619" cy="1267361"/>
            <a:chOff x="0" y="0"/>
            <a:chExt cx="2068180" cy="333791"/>
          </a:xfrm>
        </p:grpSpPr>
        <p:sp>
          <p:nvSpPr>
            <p:cNvPr name="Freeform 8" id="8"/>
            <p:cNvSpPr/>
            <p:nvPr/>
          </p:nvSpPr>
          <p:spPr>
            <a:xfrm flipH="false" flipV="false" rot="0">
              <a:off x="0" y="0"/>
              <a:ext cx="2068180" cy="333791"/>
            </a:xfrm>
            <a:custGeom>
              <a:avLst/>
              <a:gdLst/>
              <a:ahLst/>
              <a:cxnLst/>
              <a:rect r="r" b="b" t="t" l="l"/>
              <a:pathLst>
                <a:path h="333791" w="2068180">
                  <a:moveTo>
                    <a:pt x="50281" y="0"/>
                  </a:moveTo>
                  <a:lnTo>
                    <a:pt x="2017899" y="0"/>
                  </a:lnTo>
                  <a:cubicBezTo>
                    <a:pt x="2031234" y="0"/>
                    <a:pt x="2044023" y="5297"/>
                    <a:pt x="2053453" y="14727"/>
                  </a:cubicBezTo>
                  <a:cubicBezTo>
                    <a:pt x="2062882" y="24157"/>
                    <a:pt x="2068180" y="36946"/>
                    <a:pt x="2068180" y="50281"/>
                  </a:cubicBezTo>
                  <a:lnTo>
                    <a:pt x="2068180" y="283510"/>
                  </a:lnTo>
                  <a:cubicBezTo>
                    <a:pt x="2068180" y="296845"/>
                    <a:pt x="2062882" y="309634"/>
                    <a:pt x="2053453" y="319064"/>
                  </a:cubicBezTo>
                  <a:cubicBezTo>
                    <a:pt x="2044023" y="328493"/>
                    <a:pt x="2031234" y="333791"/>
                    <a:pt x="2017899" y="333791"/>
                  </a:cubicBezTo>
                  <a:lnTo>
                    <a:pt x="50281" y="333791"/>
                  </a:lnTo>
                  <a:cubicBezTo>
                    <a:pt x="36946" y="333791"/>
                    <a:pt x="24157" y="328493"/>
                    <a:pt x="14727" y="319064"/>
                  </a:cubicBezTo>
                  <a:cubicBezTo>
                    <a:pt x="5297" y="309634"/>
                    <a:pt x="0" y="296845"/>
                    <a:pt x="0" y="283510"/>
                  </a:cubicBezTo>
                  <a:lnTo>
                    <a:pt x="0" y="50281"/>
                  </a:lnTo>
                  <a:cubicBezTo>
                    <a:pt x="0" y="36946"/>
                    <a:pt x="5297" y="24157"/>
                    <a:pt x="14727" y="14727"/>
                  </a:cubicBezTo>
                  <a:cubicBezTo>
                    <a:pt x="24157" y="5297"/>
                    <a:pt x="36946" y="0"/>
                    <a:pt x="50281" y="0"/>
                  </a:cubicBezTo>
                  <a:close/>
                </a:path>
              </a:pathLst>
            </a:custGeom>
            <a:gradFill rotWithShape="true">
              <a:gsLst>
                <a:gs pos="0">
                  <a:srgbClr val="60A5FA">
                    <a:alpha val="100000"/>
                  </a:srgbClr>
                </a:gs>
                <a:gs pos="100000">
                  <a:srgbClr val="FFFFFF">
                    <a:alpha val="100000"/>
                  </a:srgbClr>
                </a:gs>
              </a:gsLst>
              <a:lin ang="2700000"/>
            </a:gradFill>
          </p:spPr>
        </p:sp>
        <p:sp>
          <p:nvSpPr>
            <p:cNvPr name="TextBox 9" id="9"/>
            <p:cNvSpPr txBox="true"/>
            <p:nvPr/>
          </p:nvSpPr>
          <p:spPr>
            <a:xfrm>
              <a:off x="0" y="-47625"/>
              <a:ext cx="2068180" cy="381416"/>
            </a:xfrm>
            <a:prstGeom prst="rect">
              <a:avLst/>
            </a:prstGeom>
          </p:spPr>
          <p:txBody>
            <a:bodyPr anchor="ctr" rtlCol="false" tIns="50800" lIns="50800" bIns="50800" rIns="50800"/>
            <a:lstStyle/>
            <a:p>
              <a:pPr algn="ctr">
                <a:lnSpc>
                  <a:spcPts val="2940"/>
                </a:lnSpc>
              </a:pPr>
            </a:p>
          </p:txBody>
        </p:sp>
      </p:grpSp>
      <p:pic>
        <p:nvPicPr>
          <p:cNvPr name="Picture 10" id="10"/>
          <p:cNvPicPr>
            <a:picLocks noChangeAspect="true"/>
          </p:cNvPicPr>
          <p:nvPr/>
        </p:nvPicPr>
        <p:blipFill>
          <a:blip r:embed="rId4"/>
          <a:stretch>
            <a:fillRect/>
          </a:stretch>
        </p:blipFill>
        <p:spPr>
          <a:xfrm rot="0">
            <a:off x="270477" y="2984340"/>
            <a:ext cx="8871996" cy="2417138"/>
          </a:xfrm>
          <a:prstGeom prst="rect">
            <a:avLst/>
          </a:prstGeom>
        </p:spPr>
      </p:pic>
      <p:pic>
        <p:nvPicPr>
          <p:cNvPr name="Picture 11" id="11"/>
          <p:cNvPicPr>
            <a:picLocks noChangeAspect="true"/>
          </p:cNvPicPr>
          <p:nvPr/>
        </p:nvPicPr>
        <p:blipFill>
          <a:blip r:embed="rId5"/>
          <a:stretch>
            <a:fillRect/>
          </a:stretch>
        </p:blipFill>
        <p:spPr>
          <a:xfrm rot="0">
            <a:off x="4755709" y="5757148"/>
            <a:ext cx="2244742" cy="661911"/>
          </a:xfrm>
          <a:prstGeom prst="rect">
            <a:avLst/>
          </a:prstGeom>
        </p:spPr>
      </p:pic>
      <p:pic>
        <p:nvPicPr>
          <p:cNvPr name="Picture 12" id="12"/>
          <p:cNvPicPr>
            <a:picLocks noChangeAspect="true"/>
          </p:cNvPicPr>
          <p:nvPr/>
        </p:nvPicPr>
        <p:blipFill>
          <a:blip r:embed="rId6"/>
          <a:stretch>
            <a:fillRect/>
          </a:stretch>
        </p:blipFill>
        <p:spPr>
          <a:xfrm rot="0">
            <a:off x="7216686" y="5833049"/>
            <a:ext cx="1273708" cy="505091"/>
          </a:xfrm>
          <a:prstGeom prst="rect">
            <a:avLst/>
          </a:prstGeom>
        </p:spPr>
      </p:pic>
      <p:grpSp>
        <p:nvGrpSpPr>
          <p:cNvPr name="Group 13" id="13"/>
          <p:cNvGrpSpPr/>
          <p:nvPr/>
        </p:nvGrpSpPr>
        <p:grpSpPr>
          <a:xfrm rot="0">
            <a:off x="10927675" y="2014119"/>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2700000"/>
            </a:gradFill>
            <a:ln cap="sq">
              <a:no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11840956" y="2753562"/>
            <a:ext cx="6398619" cy="5241422"/>
          </a:xfrm>
          <a:custGeom>
            <a:avLst/>
            <a:gdLst/>
            <a:ahLst/>
            <a:cxnLst/>
            <a:rect r="r" b="b" t="t" l="l"/>
            <a:pathLst>
              <a:path h="5241422" w="6398619">
                <a:moveTo>
                  <a:pt x="0" y="0"/>
                </a:moveTo>
                <a:lnTo>
                  <a:pt x="6398619" y="0"/>
                </a:lnTo>
                <a:lnTo>
                  <a:pt x="6398619" y="5241421"/>
                </a:lnTo>
                <a:lnTo>
                  <a:pt x="0" y="5241421"/>
                </a:lnTo>
                <a:lnTo>
                  <a:pt x="0" y="0"/>
                </a:lnTo>
                <a:close/>
              </a:path>
            </a:pathLst>
          </a:custGeom>
          <a:blipFill>
            <a:blip r:embed="rId7"/>
            <a:stretch>
              <a:fillRect l="0" t="0" r="0" b="0"/>
            </a:stretch>
          </a:blipFill>
        </p:spPr>
      </p:sp>
      <p:sp>
        <p:nvSpPr>
          <p:cNvPr name="TextBox 17" id="17"/>
          <p:cNvSpPr txBox="true"/>
          <p:nvPr/>
        </p:nvSpPr>
        <p:spPr>
          <a:xfrm rot="0">
            <a:off x="1028700" y="103441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THE THIRD PROBLEM</a:t>
            </a:r>
          </a:p>
        </p:txBody>
      </p:sp>
      <p:sp>
        <p:nvSpPr>
          <p:cNvPr name="TextBox 18" id="18"/>
          <p:cNvSpPr txBox="true"/>
          <p:nvPr/>
        </p:nvSpPr>
        <p:spPr>
          <a:xfrm rot="0">
            <a:off x="1028700" y="6342852"/>
            <a:ext cx="9734894"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Dual</a:t>
            </a:r>
            <a:r>
              <a:rPr lang="en-US" b="true" sz="2100">
                <a:solidFill>
                  <a:srgbClr val="331B0D"/>
                </a:solidFill>
                <a:latin typeface="Open Sauce Bold"/>
                <a:ea typeface="Open Sauce Bold"/>
                <a:cs typeface="Open Sauce Bold"/>
                <a:sym typeface="Open Sauce Bold"/>
              </a:rPr>
              <a:t> Singularities: </a:t>
            </a:r>
            <a:r>
              <a:rPr lang="en-US" sz="2100">
                <a:solidFill>
                  <a:srgbClr val="8C7753"/>
                </a:solidFill>
                <a:latin typeface="Open Sauce"/>
                <a:ea typeface="Open Sauce"/>
                <a:cs typeface="Open Sauce"/>
                <a:sym typeface="Open Sauce"/>
              </a:rPr>
              <a:t>Singular coefficients at both endpoints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a:t>
            </a:r>
          </a:p>
        </p:txBody>
      </p:sp>
      <p:sp>
        <p:nvSpPr>
          <p:cNvPr name="TextBox 19" id="19"/>
          <p:cNvSpPr txBox="true"/>
          <p:nvPr/>
        </p:nvSpPr>
        <p:spPr>
          <a:xfrm rot="0">
            <a:off x="1028700" y="2102345"/>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Example 3.3</a:t>
            </a:r>
          </a:p>
        </p:txBody>
      </p:sp>
      <p:sp>
        <p:nvSpPr>
          <p:cNvPr name="TextBox 20" id="20"/>
          <p:cNvSpPr txBox="true"/>
          <p:nvPr/>
        </p:nvSpPr>
        <p:spPr>
          <a:xfrm rot="0">
            <a:off x="1028700" y="2927383"/>
            <a:ext cx="73555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Governing Singul</a:t>
            </a:r>
            <a:r>
              <a:rPr lang="en-US" sz="2400">
                <a:solidFill>
                  <a:srgbClr val="8C7753"/>
                </a:solidFill>
                <a:latin typeface="Open Sauce"/>
                <a:ea typeface="Open Sauce"/>
                <a:cs typeface="Open Sauce"/>
                <a:sym typeface="Open Sauce"/>
              </a:rPr>
              <a:t>ar ODE (Non - Linear TPS-BVP)</a:t>
            </a:r>
          </a:p>
        </p:txBody>
      </p:sp>
      <p:sp>
        <p:nvSpPr>
          <p:cNvPr name="TextBox 21" id="21"/>
          <p:cNvSpPr txBox="true"/>
          <p:nvPr/>
        </p:nvSpPr>
        <p:spPr>
          <a:xfrm rot="0">
            <a:off x="14411514" y="1057275"/>
            <a:ext cx="2847786" cy="4743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SING-THREE POINT BOUND-PROBLEMS</a:t>
            </a:r>
          </a:p>
        </p:txBody>
      </p:sp>
      <p:sp>
        <p:nvSpPr>
          <p:cNvPr name="TextBox 22" id="22"/>
          <p:cNvSpPr txBox="true"/>
          <p:nvPr/>
        </p:nvSpPr>
        <p:spPr>
          <a:xfrm rot="0">
            <a:off x="1028700" y="5186020"/>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Benchmark Specifications</a:t>
            </a:r>
          </a:p>
        </p:txBody>
      </p:sp>
      <p:sp>
        <p:nvSpPr>
          <p:cNvPr name="TextBox 23" id="23"/>
          <p:cNvSpPr txBox="true"/>
          <p:nvPr/>
        </p:nvSpPr>
        <p:spPr>
          <a:xfrm rot="0">
            <a:off x="1028700" y="5896585"/>
            <a:ext cx="3914071"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Ex</a:t>
            </a:r>
            <a:r>
              <a:rPr lang="en-US" b="true" sz="2100">
                <a:solidFill>
                  <a:srgbClr val="331B0D"/>
                </a:solidFill>
                <a:latin typeface="Open Sauce Bold"/>
                <a:ea typeface="Open Sauce Bold"/>
                <a:cs typeface="Open Sauce Bold"/>
                <a:sym typeface="Open Sauce Bold"/>
              </a:rPr>
              <a:t>act Analytical Solution:</a:t>
            </a:r>
            <a:r>
              <a:rPr lang="en-US" sz="2100">
                <a:solidFill>
                  <a:srgbClr val="331B0D"/>
                </a:solidFill>
                <a:latin typeface="Open Sauce"/>
                <a:ea typeface="Open Sauce"/>
                <a:cs typeface="Open Sauce"/>
                <a:sym typeface="Open Sauce"/>
              </a:rPr>
              <a:t> </a:t>
            </a:r>
          </a:p>
        </p:txBody>
      </p:sp>
      <p:sp>
        <p:nvSpPr>
          <p:cNvPr name="TextBox 24" id="24"/>
          <p:cNvSpPr txBox="true"/>
          <p:nvPr/>
        </p:nvSpPr>
        <p:spPr>
          <a:xfrm rot="0">
            <a:off x="6813389" y="5896585"/>
            <a:ext cx="509439"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 on </a:t>
            </a:r>
          </a:p>
        </p:txBody>
      </p:sp>
      <p:sp>
        <p:nvSpPr>
          <p:cNvPr name="TextBox 25" id="25"/>
          <p:cNvSpPr txBox="true"/>
          <p:nvPr/>
        </p:nvSpPr>
        <p:spPr>
          <a:xfrm rot="0">
            <a:off x="1028700" y="6789118"/>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Three-Poin</a:t>
            </a:r>
            <a:r>
              <a:rPr lang="en-US" b="true" sz="2100">
                <a:solidFill>
                  <a:srgbClr val="331B0D"/>
                </a:solidFill>
                <a:latin typeface="Open Sauce Bold"/>
                <a:ea typeface="Open Sauce Bold"/>
                <a:cs typeface="Open Sauce Bold"/>
                <a:sym typeface="Open Sauce Bold"/>
              </a:rPr>
              <a:t>t Boundary: </a:t>
            </a:r>
            <a:r>
              <a:rPr lang="en-US" sz="2100">
                <a:solidFill>
                  <a:srgbClr val="8C7753"/>
                </a:solidFill>
                <a:latin typeface="Open Sauce"/>
                <a:ea typeface="Open Sauce"/>
                <a:cs typeface="Open Sauce"/>
                <a:sym typeface="Open Sauce"/>
              </a:rPr>
              <a:t>Conditions enforced at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interior point </a:t>
            </a:r>
            <a:r>
              <a:rPr lang="en-US" sz="2100">
                <a:solidFill>
                  <a:srgbClr val="000000"/>
                </a:solidFill>
                <a:latin typeface="Open Sauce"/>
                <a:ea typeface="Open Sauce"/>
                <a:cs typeface="Open Sauce"/>
                <a:sym typeface="Open Sauce"/>
              </a:rPr>
              <a:t>θ</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       </a:t>
            </a:r>
          </a:p>
        </p:txBody>
      </p:sp>
      <p:sp>
        <p:nvSpPr>
          <p:cNvPr name="TextBox 26" id="26"/>
          <p:cNvSpPr txBox="true"/>
          <p:nvPr/>
        </p:nvSpPr>
        <p:spPr>
          <a:xfrm rot="0">
            <a:off x="1028700" y="7602553"/>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Diffic</a:t>
            </a:r>
            <a:r>
              <a:rPr lang="en-US" b="true" sz="2100">
                <a:solidFill>
                  <a:srgbClr val="331B0D"/>
                </a:solidFill>
                <a:latin typeface="Open Sauce Bold"/>
                <a:ea typeface="Open Sauce Bold"/>
                <a:cs typeface="Open Sauce Bold"/>
                <a:sym typeface="Open Sauce Bold"/>
              </a:rPr>
              <a:t>ulty Level: </a:t>
            </a:r>
            <a:r>
              <a:rPr lang="en-US" sz="2100">
                <a:solidFill>
                  <a:srgbClr val="8C7753"/>
                </a:solidFill>
                <a:latin typeface="Open Sauce"/>
                <a:ea typeface="Open Sauce"/>
                <a:cs typeface="Open Sauce"/>
                <a:sym typeface="Open Sauce"/>
              </a:rPr>
              <a:t>Hardest benchmark — nonlinear differential equation</a:t>
            </a:r>
          </a:p>
        </p:txBody>
      </p:sp>
      <p:sp>
        <p:nvSpPr>
          <p:cNvPr name="TextBox 27" id="27"/>
          <p:cNvSpPr txBox="true"/>
          <p:nvPr/>
        </p:nvSpPr>
        <p:spPr>
          <a:xfrm rot="0">
            <a:off x="1028700" y="8415988"/>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Non</a:t>
            </a:r>
            <a:r>
              <a:rPr lang="en-US" b="true" sz="2100">
                <a:solidFill>
                  <a:srgbClr val="331B0D"/>
                </a:solidFill>
                <a:latin typeface="Open Sauce Bold"/>
                <a:ea typeface="Open Sauce Bold"/>
                <a:cs typeface="Open Sauce Bold"/>
                <a:sym typeface="Open Sauce Bold"/>
              </a:rPr>
              <a:t>linear Term: </a:t>
            </a:r>
            <a:r>
              <a:rPr lang="en-US" sz="2100">
                <a:solidFill>
                  <a:srgbClr val="000000"/>
                </a:solidFill>
                <a:latin typeface="Open Sauce"/>
                <a:ea typeface="Open Sauce"/>
                <a:cs typeface="Open Sauce"/>
                <a:sym typeface="Open Sauce"/>
              </a:rPr>
              <a:t>N(y(t))</a:t>
            </a:r>
            <a:r>
              <a:rPr lang="en-US" sz="2100">
                <a:solidFill>
                  <a:srgbClr val="8C7753"/>
                </a:solidFill>
                <a:latin typeface="Open Sauce"/>
                <a:ea typeface="Open Sauce"/>
                <a:cs typeface="Open Sauce"/>
                <a:sym typeface="Open Sauce"/>
              </a:rPr>
              <a:t> couples state variable with singular factor</a:t>
            </a:r>
          </a:p>
        </p:txBody>
      </p:sp>
      <p:sp>
        <p:nvSpPr>
          <p:cNvPr name="Freeform 28" id="28"/>
          <p:cNvSpPr/>
          <p:nvPr/>
        </p:nvSpPr>
        <p:spPr>
          <a:xfrm flipH="false" flipV="true" rot="0">
            <a:off x="13919401" y="-139525"/>
            <a:ext cx="4672899" cy="2336449"/>
          </a:xfrm>
          <a:custGeom>
            <a:avLst/>
            <a:gdLst/>
            <a:ahLst/>
            <a:cxnLst/>
            <a:rect r="r" b="b" t="t" l="l"/>
            <a:pathLst>
              <a:path h="2336449" w="4672899">
                <a:moveTo>
                  <a:pt x="0" y="2336450"/>
                </a:moveTo>
                <a:lnTo>
                  <a:pt x="4672899" y="2336450"/>
                </a:lnTo>
                <a:lnTo>
                  <a:pt x="4672899" y="0"/>
                </a:lnTo>
                <a:lnTo>
                  <a:pt x="0" y="0"/>
                </a:lnTo>
                <a:lnTo>
                  <a:pt x="0" y="233645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9" id="29"/>
          <p:cNvSpPr txBox="true"/>
          <p:nvPr/>
        </p:nvSpPr>
        <p:spPr>
          <a:xfrm rot="0">
            <a:off x="14563914" y="1209675"/>
            <a:ext cx="2847786" cy="4743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SING-THREE POINT BOUND-PROBLEMS</a:t>
            </a:r>
          </a:p>
        </p:txBody>
      </p:sp>
    </p:spTree>
  </p:cSld>
  <p:clrMapOvr>
    <a:masterClrMapping/>
  </p:clrMapOvr>
  <p:transition spd="slow">
    <p:cover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16000" y="685419"/>
            <a:ext cx="3657600" cy="247650"/>
          </a:xfrm>
          <a:prstGeom prst="rect">
            <a:avLst/>
          </a:prstGeom>
        </p:spPr>
        <p:txBody>
          <a:bodyPr anchor="t" rtlCol="false" tIns="0" lIns="0" bIns="0" rIns="0">
            <a:spAutoFit/>
          </a:bodyPr>
          <a:lstStyle/>
          <a:p>
            <a:pPr algn="r">
              <a:lnSpc>
                <a:spcPts val="1920"/>
              </a:lnSpc>
            </a:pPr>
            <a:r>
              <a:rPr lang="en-US" b="true" sz="1600" spc="400">
                <a:solidFill>
                  <a:srgbClr val="9A7F5E"/>
                </a:solidFill>
                <a:latin typeface="DM Sans Bold"/>
                <a:ea typeface="DM Sans Bold"/>
                <a:cs typeface="DM Sans Bold"/>
                <a:sym typeface="DM Sans Bold"/>
              </a:rPr>
              <a:t>Configurations</a:t>
            </a:r>
          </a:p>
        </p:txBody>
      </p:sp>
      <p:grpSp>
        <p:nvGrpSpPr>
          <p:cNvPr name="Group 3" id="3"/>
          <p:cNvGrpSpPr/>
          <p:nvPr/>
        </p:nvGrpSpPr>
        <p:grpSpPr>
          <a:xfrm rot="0">
            <a:off x="914400" y="1005840"/>
            <a:ext cx="16459200" cy="1005840"/>
            <a:chOff x="0" y="0"/>
            <a:chExt cx="21945600" cy="1341120"/>
          </a:xfrm>
        </p:grpSpPr>
        <p:sp>
          <p:nvSpPr>
            <p:cNvPr name="Freeform 4" id="4"/>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5" id="5"/>
            <p:cNvSpPr txBox="true"/>
            <p:nvPr/>
          </p:nvSpPr>
          <p:spPr>
            <a:xfrm>
              <a:off x="0" y="0"/>
              <a:ext cx="21945600" cy="1341120"/>
            </a:xfrm>
            <a:prstGeom prst="rect">
              <a:avLst/>
            </a:prstGeom>
          </p:spPr>
          <p:txBody>
            <a:bodyPr anchor="ctr" rtlCol="false" tIns="0" lIns="0" bIns="0" rIns="0"/>
            <a:lstStyle/>
            <a:p>
              <a:pPr algn="l">
                <a:lnSpc>
                  <a:spcPts val="6239"/>
                </a:lnSpc>
              </a:pPr>
              <a:r>
                <a:rPr lang="en-US" sz="5199" b="true">
                  <a:solidFill>
                    <a:srgbClr val="2A1F18"/>
                  </a:solidFill>
                  <a:latin typeface="DM Sans Bold"/>
                  <a:ea typeface="DM Sans Bold"/>
                  <a:cs typeface="DM Sans Bold"/>
                  <a:sym typeface="DM Sans Bold"/>
                </a:rPr>
                <a:t>Four PINN Configurations Studied</a:t>
              </a:r>
            </a:p>
          </p:txBody>
        </p:sp>
      </p:grpSp>
      <p:grpSp>
        <p:nvGrpSpPr>
          <p:cNvPr name="Group 6" id="6"/>
          <p:cNvGrpSpPr/>
          <p:nvPr/>
        </p:nvGrpSpPr>
        <p:grpSpPr>
          <a:xfrm rot="0">
            <a:off x="901703" y="3169415"/>
            <a:ext cx="4121915" cy="1268987"/>
            <a:chOff x="0" y="0"/>
            <a:chExt cx="5495887" cy="1691983"/>
          </a:xfrm>
        </p:grpSpPr>
        <p:sp>
          <p:nvSpPr>
            <p:cNvPr name="Freeform 7" id="7"/>
            <p:cNvSpPr/>
            <p:nvPr/>
          </p:nvSpPr>
          <p:spPr>
            <a:xfrm flipH="false" flipV="false" rot="0">
              <a:off x="0" y="0"/>
              <a:ext cx="5495925" cy="1692021"/>
            </a:xfrm>
            <a:custGeom>
              <a:avLst/>
              <a:gdLst/>
              <a:ahLst/>
              <a:cxnLst/>
              <a:rect r="r" b="b" t="t" l="l"/>
              <a:pathLst>
                <a:path h="1692021" w="5495925">
                  <a:moveTo>
                    <a:pt x="0" y="149352"/>
                  </a:moveTo>
                  <a:cubicBezTo>
                    <a:pt x="0" y="66802"/>
                    <a:pt x="66802" y="0"/>
                    <a:pt x="149352" y="0"/>
                  </a:cubicBezTo>
                  <a:lnTo>
                    <a:pt x="5346573" y="0"/>
                  </a:lnTo>
                  <a:cubicBezTo>
                    <a:pt x="5428996" y="0"/>
                    <a:pt x="5495925" y="66802"/>
                    <a:pt x="5495925" y="149352"/>
                  </a:cubicBezTo>
                  <a:lnTo>
                    <a:pt x="5495925" y="1542669"/>
                  </a:lnTo>
                  <a:cubicBezTo>
                    <a:pt x="5495925" y="1625092"/>
                    <a:pt x="5429123" y="1692021"/>
                    <a:pt x="5346573" y="1692021"/>
                  </a:cubicBezTo>
                  <a:lnTo>
                    <a:pt x="149352" y="1692021"/>
                  </a:lnTo>
                  <a:cubicBezTo>
                    <a:pt x="66802" y="1692021"/>
                    <a:pt x="0" y="1625092"/>
                    <a:pt x="0" y="1542669"/>
                  </a:cubicBezTo>
                  <a:close/>
                </a:path>
              </a:pathLst>
            </a:custGeom>
            <a:solidFill>
              <a:srgbClr val="8B7355"/>
            </a:solidFill>
            <a:ln w="22860" cap="sq">
              <a:solidFill>
                <a:srgbClr val="85694A"/>
              </a:solidFill>
              <a:prstDash val="solid"/>
              <a:miter/>
            </a:ln>
          </p:spPr>
        </p:sp>
      </p:grpSp>
      <p:grpSp>
        <p:nvGrpSpPr>
          <p:cNvPr name="Group 8" id="8"/>
          <p:cNvGrpSpPr/>
          <p:nvPr/>
        </p:nvGrpSpPr>
        <p:grpSpPr>
          <a:xfrm rot="0">
            <a:off x="885701" y="3194818"/>
            <a:ext cx="4096512" cy="1243584"/>
            <a:chOff x="0" y="0"/>
            <a:chExt cx="5462016" cy="1658112"/>
          </a:xfrm>
        </p:grpSpPr>
        <p:sp>
          <p:nvSpPr>
            <p:cNvPr name="Freeform 9" id="9"/>
            <p:cNvSpPr/>
            <p:nvPr/>
          </p:nvSpPr>
          <p:spPr>
            <a:xfrm flipH="false" flipV="false" rot="0">
              <a:off x="0" y="0"/>
              <a:ext cx="5462016" cy="1658112"/>
            </a:xfrm>
            <a:custGeom>
              <a:avLst/>
              <a:gdLst/>
              <a:ahLst/>
              <a:cxnLst/>
              <a:rect r="r" b="b" t="t" l="l"/>
              <a:pathLst>
                <a:path h="1658112" w="5462016">
                  <a:moveTo>
                    <a:pt x="0" y="0"/>
                  </a:moveTo>
                  <a:lnTo>
                    <a:pt x="5462016" y="0"/>
                  </a:lnTo>
                  <a:lnTo>
                    <a:pt x="5462016" y="1658112"/>
                  </a:lnTo>
                  <a:lnTo>
                    <a:pt x="0" y="1658112"/>
                  </a:lnTo>
                  <a:close/>
                </a:path>
              </a:pathLst>
            </a:custGeom>
            <a:blipFill>
              <a:blip r:embed="rId2">
                <a:alphaModFix amt="0"/>
              </a:blip>
              <a:stretch>
                <a:fillRect l="0" t="-14186" r="0" b="-14186"/>
              </a:stretch>
            </a:blipFill>
          </p:spPr>
        </p:sp>
        <p:sp>
          <p:nvSpPr>
            <p:cNvPr name="TextBox 10" id="10"/>
            <p:cNvSpPr txBox="true"/>
            <p:nvPr/>
          </p:nvSpPr>
          <p:spPr>
            <a:xfrm>
              <a:off x="0" y="-9525"/>
              <a:ext cx="5462016" cy="1667637"/>
            </a:xfrm>
            <a:prstGeom prst="rect">
              <a:avLst/>
            </a:prstGeom>
          </p:spPr>
          <p:txBody>
            <a:bodyPr anchor="ctr" rtlCol="false" tIns="0" lIns="0" bIns="0" rIns="0"/>
            <a:lstStyle/>
            <a:p>
              <a:pPr algn="ctr">
                <a:lnSpc>
                  <a:spcPts val="1800"/>
                </a:lnSpc>
              </a:pPr>
              <a:r>
                <a:rPr lang="en-US" b="true" sz="1500" spc="300">
                  <a:solidFill>
                    <a:srgbClr val="F3EAD9"/>
                  </a:solidFill>
                  <a:latin typeface="DM Sans Bold"/>
                  <a:ea typeface="DM Sans Bold"/>
                  <a:cs typeface="DM Sans Bold"/>
                  <a:sym typeface="DM Sans Bold"/>
                </a:rPr>
                <a:t>MODEL 01 (EQ. 6–8)</a:t>
              </a:r>
            </a:p>
            <a:p>
              <a:pPr algn="ctr">
                <a:lnSpc>
                  <a:spcPts val="3120"/>
                </a:lnSpc>
              </a:pPr>
              <a:r>
                <a:rPr lang="en-US" b="true" sz="2600" spc="520">
                  <a:solidFill>
                    <a:srgbClr val="FFFFFF"/>
                  </a:solidFill>
                  <a:latin typeface="DM Sans Bold"/>
                  <a:ea typeface="DM Sans Bold"/>
                  <a:cs typeface="DM Sans Bold"/>
                  <a:sym typeface="DM Sans Bold"/>
                </a:rPr>
                <a:t>Standard PINN</a:t>
              </a:r>
            </a:p>
          </p:txBody>
        </p:sp>
      </p:grpSp>
      <p:sp>
        <p:nvSpPr>
          <p:cNvPr name="AutoShape 11" id="11"/>
          <p:cNvSpPr/>
          <p:nvPr/>
        </p:nvSpPr>
        <p:spPr>
          <a:xfrm rot="5154180">
            <a:off x="2696032" y="4809363"/>
            <a:ext cx="533238" cy="0"/>
          </a:xfrm>
          <a:prstGeom prst="line">
            <a:avLst/>
          </a:prstGeom>
          <a:ln cap="rnd" w="19050">
            <a:solidFill>
              <a:srgbClr val="85694A"/>
            </a:solidFill>
            <a:prstDash val="solid"/>
            <a:headEnd type="none" len="sm" w="sm"/>
            <a:tailEnd type="triangle" len="med" w="lg"/>
          </a:ln>
        </p:spPr>
      </p:sp>
      <p:sp>
        <p:nvSpPr>
          <p:cNvPr name="TextBox 12" id="12"/>
          <p:cNvSpPr txBox="true"/>
          <p:nvPr/>
        </p:nvSpPr>
        <p:spPr>
          <a:xfrm rot="0">
            <a:off x="1042416" y="6280785"/>
            <a:ext cx="3749040" cy="1711071"/>
          </a:xfrm>
          <a:prstGeom prst="rect">
            <a:avLst/>
          </a:prstGeom>
        </p:spPr>
        <p:txBody>
          <a:bodyPr anchor="t" rtlCol="false" tIns="0" lIns="0" bIns="0" rIns="0">
            <a:spAutoFit/>
          </a:bodyPr>
          <a:lstStyle/>
          <a:p>
            <a:pPr algn="l">
              <a:lnSpc>
                <a:spcPts val="2772"/>
              </a:lnSpc>
            </a:pPr>
            <a:r>
              <a:rPr lang="en-US" sz="2100">
                <a:solidFill>
                  <a:srgbClr val="3A2E24"/>
                </a:solidFill>
                <a:latin typeface="DM Sans"/>
                <a:ea typeface="DM Sans"/>
                <a:cs typeface="DM Sans"/>
                <a:sym typeface="DM Sans"/>
              </a:rPr>
              <a:t>Minimizes unweighted ODE residual MSE plus 3-point boundary condition loss</a:t>
            </a:r>
          </a:p>
          <a:p>
            <a:pPr algn="l">
              <a:lnSpc>
                <a:spcPts val="2772"/>
              </a:lnSpc>
            </a:pPr>
          </a:p>
          <a:p>
            <a:pPr algn="l">
              <a:lnSpc>
                <a:spcPts val="2772"/>
              </a:lnSpc>
            </a:pPr>
            <a:r>
              <a:rPr lang="en-US" sz="2100">
                <a:solidFill>
                  <a:srgbClr val="3A2E24"/>
                </a:solidFill>
                <a:latin typeface="DM Sans"/>
                <a:ea typeface="DM Sans"/>
                <a:cs typeface="DM Sans"/>
                <a:sym typeface="DM Sans"/>
              </a:rPr>
              <a:t> </a:t>
            </a:r>
          </a:p>
        </p:txBody>
      </p:sp>
      <p:grpSp>
        <p:nvGrpSpPr>
          <p:cNvPr name="Group 13" id="13"/>
          <p:cNvGrpSpPr/>
          <p:nvPr/>
        </p:nvGrpSpPr>
        <p:grpSpPr>
          <a:xfrm rot="0">
            <a:off x="5016503" y="3169415"/>
            <a:ext cx="4121915" cy="1268987"/>
            <a:chOff x="0" y="0"/>
            <a:chExt cx="5495887" cy="1691983"/>
          </a:xfrm>
        </p:grpSpPr>
        <p:sp>
          <p:nvSpPr>
            <p:cNvPr name="Freeform 14" id="14"/>
            <p:cNvSpPr/>
            <p:nvPr/>
          </p:nvSpPr>
          <p:spPr>
            <a:xfrm flipH="false" flipV="false" rot="0">
              <a:off x="0" y="0"/>
              <a:ext cx="5495925" cy="1692021"/>
            </a:xfrm>
            <a:custGeom>
              <a:avLst/>
              <a:gdLst/>
              <a:ahLst/>
              <a:cxnLst/>
              <a:rect r="r" b="b" t="t" l="l"/>
              <a:pathLst>
                <a:path h="1692021" w="5495925">
                  <a:moveTo>
                    <a:pt x="0" y="149352"/>
                  </a:moveTo>
                  <a:cubicBezTo>
                    <a:pt x="0" y="66802"/>
                    <a:pt x="66802" y="0"/>
                    <a:pt x="149352" y="0"/>
                  </a:cubicBezTo>
                  <a:lnTo>
                    <a:pt x="5346573" y="0"/>
                  </a:lnTo>
                  <a:cubicBezTo>
                    <a:pt x="5428996" y="0"/>
                    <a:pt x="5495925" y="66802"/>
                    <a:pt x="5495925" y="149352"/>
                  </a:cubicBezTo>
                  <a:lnTo>
                    <a:pt x="5495925" y="1542669"/>
                  </a:lnTo>
                  <a:cubicBezTo>
                    <a:pt x="5495925" y="1625092"/>
                    <a:pt x="5429123" y="1692021"/>
                    <a:pt x="5346573" y="1692021"/>
                  </a:cubicBezTo>
                  <a:lnTo>
                    <a:pt x="149352" y="1692021"/>
                  </a:lnTo>
                  <a:cubicBezTo>
                    <a:pt x="66802" y="1692021"/>
                    <a:pt x="0" y="1625092"/>
                    <a:pt x="0" y="1542669"/>
                  </a:cubicBezTo>
                  <a:close/>
                </a:path>
              </a:pathLst>
            </a:custGeom>
            <a:solidFill>
              <a:srgbClr val="9C8767"/>
            </a:solidFill>
            <a:ln w="22860" cap="sq">
              <a:solidFill>
                <a:srgbClr val="9C8767"/>
              </a:solidFill>
              <a:prstDash val="solid"/>
              <a:miter/>
            </a:ln>
          </p:spPr>
        </p:sp>
      </p:grpSp>
      <p:grpSp>
        <p:nvGrpSpPr>
          <p:cNvPr name="Group 15" id="15"/>
          <p:cNvGrpSpPr/>
          <p:nvPr/>
        </p:nvGrpSpPr>
        <p:grpSpPr>
          <a:xfrm rot="0">
            <a:off x="5029200" y="3182112"/>
            <a:ext cx="4096512" cy="1243584"/>
            <a:chOff x="0" y="0"/>
            <a:chExt cx="5462016" cy="1658112"/>
          </a:xfrm>
        </p:grpSpPr>
        <p:sp>
          <p:nvSpPr>
            <p:cNvPr name="Freeform 16" id="16"/>
            <p:cNvSpPr/>
            <p:nvPr/>
          </p:nvSpPr>
          <p:spPr>
            <a:xfrm flipH="false" flipV="false" rot="0">
              <a:off x="0" y="0"/>
              <a:ext cx="5462016" cy="1658112"/>
            </a:xfrm>
            <a:custGeom>
              <a:avLst/>
              <a:gdLst/>
              <a:ahLst/>
              <a:cxnLst/>
              <a:rect r="r" b="b" t="t" l="l"/>
              <a:pathLst>
                <a:path h="1658112" w="5462016">
                  <a:moveTo>
                    <a:pt x="0" y="0"/>
                  </a:moveTo>
                  <a:lnTo>
                    <a:pt x="5462016" y="0"/>
                  </a:lnTo>
                  <a:lnTo>
                    <a:pt x="5462016" y="1658112"/>
                  </a:lnTo>
                  <a:lnTo>
                    <a:pt x="0" y="1658112"/>
                  </a:lnTo>
                  <a:close/>
                </a:path>
              </a:pathLst>
            </a:custGeom>
            <a:blipFill>
              <a:blip r:embed="rId2">
                <a:alphaModFix amt="0"/>
              </a:blip>
              <a:stretch>
                <a:fillRect l="0" t="-14186" r="0" b="-14186"/>
              </a:stretch>
            </a:blipFill>
          </p:spPr>
        </p:sp>
        <p:sp>
          <p:nvSpPr>
            <p:cNvPr name="TextBox 17" id="17"/>
            <p:cNvSpPr txBox="true"/>
            <p:nvPr/>
          </p:nvSpPr>
          <p:spPr>
            <a:xfrm>
              <a:off x="0" y="-9525"/>
              <a:ext cx="5462016" cy="1667637"/>
            </a:xfrm>
            <a:prstGeom prst="rect">
              <a:avLst/>
            </a:prstGeom>
          </p:spPr>
          <p:txBody>
            <a:bodyPr anchor="ctr" rtlCol="false" tIns="0" lIns="0" bIns="0" rIns="0"/>
            <a:lstStyle/>
            <a:p>
              <a:pPr algn="ctr">
                <a:lnSpc>
                  <a:spcPts val="1800"/>
                </a:lnSpc>
              </a:pPr>
              <a:r>
                <a:rPr lang="en-US" b="true" sz="1500" spc="300">
                  <a:solidFill>
                    <a:srgbClr val="F3EAD9"/>
                  </a:solidFill>
                  <a:latin typeface="DM Sans Bold"/>
                  <a:ea typeface="DM Sans Bold"/>
                  <a:cs typeface="DM Sans Bold"/>
                  <a:sym typeface="DM Sans Bold"/>
                </a:rPr>
                <a:t>MODEL 02 (EQ. 12–13)</a:t>
              </a:r>
            </a:p>
            <a:p>
              <a:pPr algn="ctr">
                <a:lnSpc>
                  <a:spcPts val="3120"/>
                </a:lnSpc>
              </a:pPr>
              <a:r>
                <a:rPr lang="en-US" b="true" sz="2600" spc="520">
                  <a:solidFill>
                    <a:srgbClr val="FFFFFF"/>
                  </a:solidFill>
                  <a:latin typeface="DM Sans Bold"/>
                  <a:ea typeface="DM Sans Bold"/>
                  <a:cs typeface="DM Sans Bold"/>
                  <a:sym typeface="DM Sans Bold"/>
                </a:rPr>
                <a:t>PINN + L1 Reg.</a:t>
              </a:r>
            </a:p>
          </p:txBody>
        </p:sp>
      </p:grpSp>
      <p:sp>
        <p:nvSpPr>
          <p:cNvPr name="AutoShape 18" id="18"/>
          <p:cNvSpPr/>
          <p:nvPr/>
        </p:nvSpPr>
        <p:spPr>
          <a:xfrm rot="5154180">
            <a:off x="6810832" y="4809363"/>
            <a:ext cx="533238" cy="0"/>
          </a:xfrm>
          <a:prstGeom prst="line">
            <a:avLst/>
          </a:prstGeom>
          <a:ln cap="rnd" w="19050">
            <a:solidFill>
              <a:srgbClr val="9C8767"/>
            </a:solidFill>
            <a:prstDash val="solid"/>
            <a:headEnd type="none" len="sm" w="sm"/>
            <a:tailEnd type="triangle" len="med" w="lg"/>
          </a:ln>
        </p:spPr>
      </p:sp>
      <p:sp>
        <p:nvSpPr>
          <p:cNvPr name="TextBox 19" id="19"/>
          <p:cNvSpPr txBox="true"/>
          <p:nvPr/>
        </p:nvSpPr>
        <p:spPr>
          <a:xfrm rot="0">
            <a:off x="5157216" y="5842635"/>
            <a:ext cx="3877056" cy="247650"/>
          </a:xfrm>
          <a:prstGeom prst="rect">
            <a:avLst/>
          </a:prstGeom>
        </p:spPr>
        <p:txBody>
          <a:bodyPr anchor="t" rtlCol="false" tIns="0" lIns="0" bIns="0" rIns="0">
            <a:spAutoFit/>
          </a:bodyPr>
          <a:lstStyle/>
          <a:p>
            <a:pPr algn="l">
              <a:lnSpc>
                <a:spcPts val="1920"/>
              </a:lnSpc>
            </a:pPr>
            <a:r>
              <a:rPr lang="en-US" sz="1600" b="true">
                <a:solidFill>
                  <a:srgbClr val="A0795A"/>
                </a:solidFill>
                <a:latin typeface="DM Sans Bold"/>
                <a:ea typeface="DM Sans Bold"/>
                <a:cs typeface="DM Sans Bold"/>
                <a:sym typeface="DM Sans Bold"/>
              </a:rPr>
              <a:t>Penalty factor </a:t>
            </a:r>
          </a:p>
        </p:txBody>
      </p:sp>
      <p:sp>
        <p:nvSpPr>
          <p:cNvPr name="TextBox 20" id="20"/>
          <p:cNvSpPr txBox="true"/>
          <p:nvPr/>
        </p:nvSpPr>
        <p:spPr>
          <a:xfrm rot="0">
            <a:off x="5157216" y="6280785"/>
            <a:ext cx="3749040" cy="1674495"/>
          </a:xfrm>
          <a:prstGeom prst="rect">
            <a:avLst/>
          </a:prstGeom>
        </p:spPr>
        <p:txBody>
          <a:bodyPr anchor="t" rtlCol="false" tIns="0" lIns="0" bIns="0" rIns="0">
            <a:spAutoFit/>
          </a:bodyPr>
          <a:lstStyle/>
          <a:p>
            <a:pPr algn="l">
              <a:lnSpc>
                <a:spcPts val="2772"/>
              </a:lnSpc>
            </a:pPr>
            <a:r>
              <a:rPr lang="en-US" sz="2100">
                <a:solidFill>
                  <a:srgbClr val="3A2E24"/>
                </a:solidFill>
                <a:latin typeface="DM Sans"/>
                <a:ea typeface="DM Sans"/>
                <a:cs typeface="DM Sans"/>
                <a:sym typeface="DM Sans"/>
              </a:rPr>
              <a:t>Drives redundant weights toward zero to induce sparsity and reduce complexity.</a:t>
            </a:r>
          </a:p>
        </p:txBody>
      </p:sp>
      <p:grpSp>
        <p:nvGrpSpPr>
          <p:cNvPr name="Group 21" id="21"/>
          <p:cNvGrpSpPr/>
          <p:nvPr/>
        </p:nvGrpSpPr>
        <p:grpSpPr>
          <a:xfrm rot="0">
            <a:off x="9131303" y="3169415"/>
            <a:ext cx="4121915" cy="1268987"/>
            <a:chOff x="0" y="0"/>
            <a:chExt cx="5495887" cy="1691983"/>
          </a:xfrm>
        </p:grpSpPr>
        <p:sp>
          <p:nvSpPr>
            <p:cNvPr name="Freeform 22" id="22"/>
            <p:cNvSpPr/>
            <p:nvPr/>
          </p:nvSpPr>
          <p:spPr>
            <a:xfrm flipH="false" flipV="false" rot="0">
              <a:off x="0" y="0"/>
              <a:ext cx="5495925" cy="1692021"/>
            </a:xfrm>
            <a:custGeom>
              <a:avLst/>
              <a:gdLst/>
              <a:ahLst/>
              <a:cxnLst/>
              <a:rect r="r" b="b" t="t" l="l"/>
              <a:pathLst>
                <a:path h="1692021" w="5495925">
                  <a:moveTo>
                    <a:pt x="0" y="149352"/>
                  </a:moveTo>
                  <a:cubicBezTo>
                    <a:pt x="0" y="66802"/>
                    <a:pt x="66802" y="0"/>
                    <a:pt x="149352" y="0"/>
                  </a:cubicBezTo>
                  <a:lnTo>
                    <a:pt x="5346573" y="0"/>
                  </a:lnTo>
                  <a:cubicBezTo>
                    <a:pt x="5428996" y="0"/>
                    <a:pt x="5495925" y="66802"/>
                    <a:pt x="5495925" y="149352"/>
                  </a:cubicBezTo>
                  <a:lnTo>
                    <a:pt x="5495925" y="1542669"/>
                  </a:lnTo>
                  <a:cubicBezTo>
                    <a:pt x="5495925" y="1625092"/>
                    <a:pt x="5429123" y="1692021"/>
                    <a:pt x="5346573" y="1692021"/>
                  </a:cubicBezTo>
                  <a:lnTo>
                    <a:pt x="149352" y="1692021"/>
                  </a:lnTo>
                  <a:cubicBezTo>
                    <a:pt x="66802" y="1692021"/>
                    <a:pt x="0" y="1625092"/>
                    <a:pt x="0" y="1542669"/>
                  </a:cubicBezTo>
                  <a:close/>
                </a:path>
              </a:pathLst>
            </a:custGeom>
            <a:solidFill>
              <a:srgbClr val="B3A38B"/>
            </a:solidFill>
            <a:ln w="22860" cap="sq">
              <a:solidFill>
                <a:srgbClr val="B3A38B"/>
              </a:solidFill>
              <a:prstDash val="solid"/>
              <a:miter/>
            </a:ln>
          </p:spPr>
        </p:sp>
      </p:grpSp>
      <p:grpSp>
        <p:nvGrpSpPr>
          <p:cNvPr name="Group 23" id="23"/>
          <p:cNvGrpSpPr/>
          <p:nvPr/>
        </p:nvGrpSpPr>
        <p:grpSpPr>
          <a:xfrm rot="0">
            <a:off x="9144000" y="3182112"/>
            <a:ext cx="4096512" cy="1243584"/>
            <a:chOff x="0" y="0"/>
            <a:chExt cx="5462016" cy="1658112"/>
          </a:xfrm>
        </p:grpSpPr>
        <p:sp>
          <p:nvSpPr>
            <p:cNvPr name="Freeform 24" id="24"/>
            <p:cNvSpPr/>
            <p:nvPr/>
          </p:nvSpPr>
          <p:spPr>
            <a:xfrm flipH="false" flipV="false" rot="0">
              <a:off x="0" y="0"/>
              <a:ext cx="5462016" cy="1658112"/>
            </a:xfrm>
            <a:custGeom>
              <a:avLst/>
              <a:gdLst/>
              <a:ahLst/>
              <a:cxnLst/>
              <a:rect r="r" b="b" t="t" l="l"/>
              <a:pathLst>
                <a:path h="1658112" w="5462016">
                  <a:moveTo>
                    <a:pt x="0" y="0"/>
                  </a:moveTo>
                  <a:lnTo>
                    <a:pt x="5462016" y="0"/>
                  </a:lnTo>
                  <a:lnTo>
                    <a:pt x="5462016" y="1658112"/>
                  </a:lnTo>
                  <a:lnTo>
                    <a:pt x="0" y="1658112"/>
                  </a:lnTo>
                  <a:close/>
                </a:path>
              </a:pathLst>
            </a:custGeom>
            <a:blipFill>
              <a:blip r:embed="rId2">
                <a:alphaModFix amt="0"/>
              </a:blip>
              <a:stretch>
                <a:fillRect l="0" t="-14186" r="0" b="-14186"/>
              </a:stretch>
            </a:blipFill>
          </p:spPr>
        </p:sp>
        <p:sp>
          <p:nvSpPr>
            <p:cNvPr name="TextBox 25" id="25"/>
            <p:cNvSpPr txBox="true"/>
            <p:nvPr/>
          </p:nvSpPr>
          <p:spPr>
            <a:xfrm>
              <a:off x="0" y="-9525"/>
              <a:ext cx="5462016" cy="1667637"/>
            </a:xfrm>
            <a:prstGeom prst="rect">
              <a:avLst/>
            </a:prstGeom>
          </p:spPr>
          <p:txBody>
            <a:bodyPr anchor="ctr" rtlCol="false" tIns="0" lIns="0" bIns="0" rIns="0"/>
            <a:lstStyle/>
            <a:p>
              <a:pPr algn="ctr">
                <a:lnSpc>
                  <a:spcPts val="1800"/>
                </a:lnSpc>
              </a:pPr>
              <a:r>
                <a:rPr lang="en-US" b="true" sz="1500" spc="300">
                  <a:solidFill>
                    <a:srgbClr val="5A4A38"/>
                  </a:solidFill>
                  <a:latin typeface="DM Sans Bold"/>
                  <a:ea typeface="DM Sans Bold"/>
                  <a:cs typeface="DM Sans Bold"/>
                  <a:sym typeface="DM Sans Bold"/>
                </a:rPr>
                <a:t>MODEL 03 (EQ. 14–15)</a:t>
              </a:r>
            </a:p>
            <a:p>
              <a:pPr algn="ctr">
                <a:lnSpc>
                  <a:spcPts val="3120"/>
                </a:lnSpc>
              </a:pPr>
              <a:r>
                <a:rPr lang="en-US" b="true" sz="2600" spc="520">
                  <a:solidFill>
                    <a:srgbClr val="FFFFFF"/>
                  </a:solidFill>
                  <a:latin typeface="DM Sans Bold"/>
                  <a:ea typeface="DM Sans Bold"/>
                  <a:cs typeface="DM Sans Bold"/>
                  <a:sym typeface="DM Sans Bold"/>
                </a:rPr>
                <a:t>PINN + L2 Reg.</a:t>
              </a:r>
            </a:p>
          </p:txBody>
        </p:sp>
      </p:grpSp>
      <p:sp>
        <p:nvSpPr>
          <p:cNvPr name="AutoShape 26" id="26"/>
          <p:cNvSpPr/>
          <p:nvPr/>
        </p:nvSpPr>
        <p:spPr>
          <a:xfrm rot="5154180">
            <a:off x="10925632" y="4809363"/>
            <a:ext cx="533238" cy="0"/>
          </a:xfrm>
          <a:prstGeom prst="line">
            <a:avLst/>
          </a:prstGeom>
          <a:ln cap="rnd" w="19050">
            <a:solidFill>
              <a:srgbClr val="B3A38B"/>
            </a:solidFill>
            <a:prstDash val="solid"/>
            <a:headEnd type="none" len="sm" w="sm"/>
            <a:tailEnd type="triangle" len="med" w="lg"/>
          </a:ln>
        </p:spPr>
      </p:sp>
      <p:sp>
        <p:nvSpPr>
          <p:cNvPr name="TextBox 27" id="27"/>
          <p:cNvSpPr txBox="true"/>
          <p:nvPr/>
        </p:nvSpPr>
        <p:spPr>
          <a:xfrm rot="0">
            <a:off x="9272016" y="5842635"/>
            <a:ext cx="3877056" cy="247650"/>
          </a:xfrm>
          <a:prstGeom prst="rect">
            <a:avLst/>
          </a:prstGeom>
        </p:spPr>
        <p:txBody>
          <a:bodyPr anchor="t" rtlCol="false" tIns="0" lIns="0" bIns="0" rIns="0">
            <a:spAutoFit/>
          </a:bodyPr>
          <a:lstStyle/>
          <a:p>
            <a:pPr algn="l">
              <a:lnSpc>
                <a:spcPts val="1920"/>
              </a:lnSpc>
            </a:pPr>
            <a:r>
              <a:rPr lang="en-US" sz="1600" b="true">
                <a:solidFill>
                  <a:srgbClr val="A0795A"/>
                </a:solidFill>
                <a:latin typeface="DM Sans Bold"/>
                <a:ea typeface="DM Sans Bold"/>
                <a:cs typeface="DM Sans Bold"/>
                <a:sym typeface="DM Sans Bold"/>
              </a:rPr>
              <a:t>Ridge penalty </a:t>
            </a:r>
          </a:p>
        </p:txBody>
      </p:sp>
      <p:sp>
        <p:nvSpPr>
          <p:cNvPr name="TextBox 28" id="28"/>
          <p:cNvSpPr txBox="true"/>
          <p:nvPr/>
        </p:nvSpPr>
        <p:spPr>
          <a:xfrm rot="0">
            <a:off x="9272016" y="6280785"/>
            <a:ext cx="3749040" cy="1368171"/>
          </a:xfrm>
          <a:prstGeom prst="rect">
            <a:avLst/>
          </a:prstGeom>
        </p:spPr>
        <p:txBody>
          <a:bodyPr anchor="t" rtlCol="false" tIns="0" lIns="0" bIns="0" rIns="0">
            <a:spAutoFit/>
          </a:bodyPr>
          <a:lstStyle/>
          <a:p>
            <a:pPr algn="l">
              <a:lnSpc>
                <a:spcPts val="2772"/>
              </a:lnSpc>
            </a:pPr>
            <a:r>
              <a:rPr lang="en-US" sz="2100">
                <a:solidFill>
                  <a:srgbClr val="3A2E24"/>
                </a:solidFill>
                <a:latin typeface="DM Sans"/>
                <a:ea typeface="DM Sans"/>
                <a:cs typeface="DM Sans"/>
                <a:sym typeface="DM Sans"/>
              </a:rPr>
              <a:t>Penalizes large squared weights for smooth convergence near singular regions.   </a:t>
            </a:r>
          </a:p>
        </p:txBody>
      </p:sp>
      <p:grpSp>
        <p:nvGrpSpPr>
          <p:cNvPr name="Group 29" id="29"/>
          <p:cNvGrpSpPr/>
          <p:nvPr/>
        </p:nvGrpSpPr>
        <p:grpSpPr>
          <a:xfrm rot="0">
            <a:off x="13264391" y="3169415"/>
            <a:ext cx="4121915" cy="1268987"/>
            <a:chOff x="0" y="0"/>
            <a:chExt cx="5495887" cy="1691983"/>
          </a:xfrm>
        </p:grpSpPr>
        <p:sp>
          <p:nvSpPr>
            <p:cNvPr name="Freeform 30" id="30"/>
            <p:cNvSpPr/>
            <p:nvPr/>
          </p:nvSpPr>
          <p:spPr>
            <a:xfrm flipH="false" flipV="false" rot="0">
              <a:off x="0" y="0"/>
              <a:ext cx="5495925" cy="1692021"/>
            </a:xfrm>
            <a:custGeom>
              <a:avLst/>
              <a:gdLst/>
              <a:ahLst/>
              <a:cxnLst/>
              <a:rect r="r" b="b" t="t" l="l"/>
              <a:pathLst>
                <a:path h="1692021" w="5495925">
                  <a:moveTo>
                    <a:pt x="0" y="149352"/>
                  </a:moveTo>
                  <a:cubicBezTo>
                    <a:pt x="0" y="66802"/>
                    <a:pt x="66802" y="0"/>
                    <a:pt x="149352" y="0"/>
                  </a:cubicBezTo>
                  <a:lnTo>
                    <a:pt x="5346573" y="0"/>
                  </a:lnTo>
                  <a:cubicBezTo>
                    <a:pt x="5428996" y="0"/>
                    <a:pt x="5495925" y="66802"/>
                    <a:pt x="5495925" y="149352"/>
                  </a:cubicBezTo>
                  <a:lnTo>
                    <a:pt x="5495925" y="1542669"/>
                  </a:lnTo>
                  <a:cubicBezTo>
                    <a:pt x="5495925" y="1625092"/>
                    <a:pt x="5429123" y="1692021"/>
                    <a:pt x="5346573" y="1692021"/>
                  </a:cubicBezTo>
                  <a:lnTo>
                    <a:pt x="149352" y="1692021"/>
                  </a:lnTo>
                  <a:cubicBezTo>
                    <a:pt x="66802" y="1692021"/>
                    <a:pt x="0" y="1625092"/>
                    <a:pt x="0" y="1542669"/>
                  </a:cubicBezTo>
                  <a:close/>
                </a:path>
              </a:pathLst>
            </a:custGeom>
            <a:solidFill>
              <a:srgbClr val="D1C7B5"/>
            </a:solidFill>
            <a:ln w="22860" cap="sq">
              <a:solidFill>
                <a:srgbClr val="D1C7B5"/>
              </a:solidFill>
              <a:prstDash val="solid"/>
              <a:miter/>
            </a:ln>
          </p:spPr>
        </p:sp>
      </p:grpSp>
      <p:grpSp>
        <p:nvGrpSpPr>
          <p:cNvPr name="Group 31" id="31"/>
          <p:cNvGrpSpPr/>
          <p:nvPr/>
        </p:nvGrpSpPr>
        <p:grpSpPr>
          <a:xfrm rot="0">
            <a:off x="13277088" y="3182112"/>
            <a:ext cx="4096512" cy="1243584"/>
            <a:chOff x="0" y="0"/>
            <a:chExt cx="5462016" cy="1658112"/>
          </a:xfrm>
        </p:grpSpPr>
        <p:sp>
          <p:nvSpPr>
            <p:cNvPr name="Freeform 32" id="32"/>
            <p:cNvSpPr/>
            <p:nvPr/>
          </p:nvSpPr>
          <p:spPr>
            <a:xfrm flipH="false" flipV="false" rot="0">
              <a:off x="0" y="0"/>
              <a:ext cx="5462016" cy="1658112"/>
            </a:xfrm>
            <a:custGeom>
              <a:avLst/>
              <a:gdLst/>
              <a:ahLst/>
              <a:cxnLst/>
              <a:rect r="r" b="b" t="t" l="l"/>
              <a:pathLst>
                <a:path h="1658112" w="5462016">
                  <a:moveTo>
                    <a:pt x="0" y="0"/>
                  </a:moveTo>
                  <a:lnTo>
                    <a:pt x="5462016" y="0"/>
                  </a:lnTo>
                  <a:lnTo>
                    <a:pt x="5462016" y="1658112"/>
                  </a:lnTo>
                  <a:lnTo>
                    <a:pt x="0" y="1658112"/>
                  </a:lnTo>
                  <a:close/>
                </a:path>
              </a:pathLst>
            </a:custGeom>
            <a:blipFill>
              <a:blip r:embed="rId2">
                <a:alphaModFix amt="0"/>
              </a:blip>
              <a:stretch>
                <a:fillRect l="0" t="-14186" r="0" b="-14186"/>
              </a:stretch>
            </a:blipFill>
          </p:spPr>
        </p:sp>
        <p:sp>
          <p:nvSpPr>
            <p:cNvPr name="TextBox 33" id="33"/>
            <p:cNvSpPr txBox="true"/>
            <p:nvPr/>
          </p:nvSpPr>
          <p:spPr>
            <a:xfrm>
              <a:off x="0" y="-9525"/>
              <a:ext cx="5462016" cy="1667637"/>
            </a:xfrm>
            <a:prstGeom prst="rect">
              <a:avLst/>
            </a:prstGeom>
          </p:spPr>
          <p:txBody>
            <a:bodyPr anchor="ctr" rtlCol="false" tIns="0" lIns="0" bIns="0" rIns="0"/>
            <a:lstStyle/>
            <a:p>
              <a:pPr algn="ctr">
                <a:lnSpc>
                  <a:spcPts val="1800"/>
                </a:lnSpc>
              </a:pPr>
              <a:r>
                <a:rPr lang="en-US" b="true" sz="1500" spc="300">
                  <a:solidFill>
                    <a:srgbClr val="5A4A38"/>
                  </a:solidFill>
                  <a:latin typeface="DM Sans Bold"/>
                  <a:ea typeface="DM Sans Bold"/>
                  <a:cs typeface="DM Sans Bold"/>
                  <a:sym typeface="DM Sans Bold"/>
                </a:rPr>
                <a:t>MODEL 04 (EQ. 10–11)</a:t>
              </a:r>
            </a:p>
            <a:p>
              <a:pPr algn="ctr">
                <a:lnSpc>
                  <a:spcPts val="3120"/>
                </a:lnSpc>
              </a:pPr>
              <a:r>
                <a:rPr lang="en-US" b="true" sz="2600" spc="520">
                  <a:solidFill>
                    <a:srgbClr val="2A1F18"/>
                  </a:solidFill>
                  <a:latin typeface="DM Sans Bold"/>
                  <a:ea typeface="DM Sans Bold"/>
                  <a:cs typeface="DM Sans Bold"/>
                  <a:sym typeface="DM Sans Bold"/>
                </a:rPr>
                <a:t>Adaptive PINN</a:t>
              </a:r>
            </a:p>
          </p:txBody>
        </p:sp>
      </p:grpSp>
      <p:sp>
        <p:nvSpPr>
          <p:cNvPr name="AutoShape 34" id="34"/>
          <p:cNvSpPr/>
          <p:nvPr/>
        </p:nvSpPr>
        <p:spPr>
          <a:xfrm rot="5154180">
            <a:off x="15058720" y="4809363"/>
            <a:ext cx="533238" cy="0"/>
          </a:xfrm>
          <a:prstGeom prst="line">
            <a:avLst/>
          </a:prstGeom>
          <a:ln cap="rnd" w="19050">
            <a:solidFill>
              <a:srgbClr val="B5573A"/>
            </a:solidFill>
            <a:prstDash val="solid"/>
            <a:headEnd type="none" len="sm" w="sm"/>
            <a:tailEnd type="triangle" len="med" w="lg"/>
          </a:ln>
        </p:spPr>
      </p:sp>
      <p:sp>
        <p:nvSpPr>
          <p:cNvPr name="TextBox 35" id="35"/>
          <p:cNvSpPr txBox="true"/>
          <p:nvPr/>
        </p:nvSpPr>
        <p:spPr>
          <a:xfrm rot="0">
            <a:off x="13405104" y="6280785"/>
            <a:ext cx="3749040" cy="1674495"/>
          </a:xfrm>
          <a:prstGeom prst="rect">
            <a:avLst/>
          </a:prstGeom>
        </p:spPr>
        <p:txBody>
          <a:bodyPr anchor="t" rtlCol="false" tIns="0" lIns="0" bIns="0" rIns="0">
            <a:spAutoFit/>
          </a:bodyPr>
          <a:lstStyle/>
          <a:p>
            <a:pPr algn="l">
              <a:lnSpc>
                <a:spcPts val="2772"/>
              </a:lnSpc>
            </a:pPr>
            <a:r>
              <a:rPr lang="en-US" sz="2100">
                <a:solidFill>
                  <a:srgbClr val="3A2E24"/>
                </a:solidFill>
                <a:latin typeface="DM Sans"/>
                <a:ea typeface="DM Sans"/>
                <a:cs typeface="DM Sans"/>
                <a:sym typeface="DM Sans"/>
              </a:rPr>
              <a:t>Dynamically re-weights residual and boundary losses via gradient-norm balancing.</a:t>
            </a:r>
          </a:p>
        </p:txBody>
      </p:sp>
      <p:grpSp>
        <p:nvGrpSpPr>
          <p:cNvPr name="Group 36" id="36"/>
          <p:cNvGrpSpPr/>
          <p:nvPr/>
        </p:nvGrpSpPr>
        <p:grpSpPr>
          <a:xfrm rot="0">
            <a:off x="901703" y="8802119"/>
            <a:ext cx="16484603" cy="811787"/>
            <a:chOff x="0" y="0"/>
            <a:chExt cx="21979471" cy="1082383"/>
          </a:xfrm>
        </p:grpSpPr>
        <p:sp>
          <p:nvSpPr>
            <p:cNvPr name="Freeform 37" id="37"/>
            <p:cNvSpPr/>
            <p:nvPr/>
          </p:nvSpPr>
          <p:spPr>
            <a:xfrm flipH="false" flipV="false" rot="0">
              <a:off x="0" y="0"/>
              <a:ext cx="21979510" cy="1082421"/>
            </a:xfrm>
            <a:custGeom>
              <a:avLst/>
              <a:gdLst/>
              <a:ahLst/>
              <a:cxnLst/>
              <a:rect r="r" b="b" t="t" l="l"/>
              <a:pathLst>
                <a:path h="1082421" w="21979510">
                  <a:moveTo>
                    <a:pt x="0" y="125857"/>
                  </a:moveTo>
                  <a:cubicBezTo>
                    <a:pt x="0" y="56388"/>
                    <a:pt x="56388" y="0"/>
                    <a:pt x="125857" y="0"/>
                  </a:cubicBezTo>
                  <a:lnTo>
                    <a:pt x="21853652" y="0"/>
                  </a:lnTo>
                  <a:cubicBezTo>
                    <a:pt x="21923121" y="0"/>
                    <a:pt x="21979510" y="56388"/>
                    <a:pt x="21979510" y="125857"/>
                  </a:cubicBezTo>
                  <a:lnTo>
                    <a:pt x="21979510" y="956564"/>
                  </a:lnTo>
                  <a:cubicBezTo>
                    <a:pt x="21979510" y="1026033"/>
                    <a:pt x="21923121" y="1082421"/>
                    <a:pt x="21853652" y="1082421"/>
                  </a:cubicBezTo>
                  <a:lnTo>
                    <a:pt x="125857" y="1082421"/>
                  </a:lnTo>
                  <a:cubicBezTo>
                    <a:pt x="56388" y="1082421"/>
                    <a:pt x="0" y="1026033"/>
                    <a:pt x="0" y="956564"/>
                  </a:cubicBezTo>
                  <a:close/>
                </a:path>
              </a:pathLst>
            </a:custGeom>
            <a:solidFill>
              <a:srgbClr val="F5F1EA"/>
            </a:solidFill>
            <a:ln w="22860" cap="sq">
              <a:solidFill>
                <a:srgbClr val="F5F1EA"/>
              </a:solidFill>
              <a:prstDash val="solid"/>
              <a:miter/>
            </a:ln>
          </p:spPr>
        </p:sp>
      </p:grpSp>
      <p:grpSp>
        <p:nvGrpSpPr>
          <p:cNvPr name="Group 38" id="38"/>
          <p:cNvGrpSpPr/>
          <p:nvPr/>
        </p:nvGrpSpPr>
        <p:grpSpPr>
          <a:xfrm rot="0">
            <a:off x="1243584" y="8814816"/>
            <a:ext cx="14813280" cy="786384"/>
            <a:chOff x="0" y="0"/>
            <a:chExt cx="19751040" cy="1048512"/>
          </a:xfrm>
        </p:grpSpPr>
        <p:sp>
          <p:nvSpPr>
            <p:cNvPr name="Freeform 39" id="39"/>
            <p:cNvSpPr/>
            <p:nvPr/>
          </p:nvSpPr>
          <p:spPr>
            <a:xfrm flipH="false" flipV="false" rot="0">
              <a:off x="0" y="0"/>
              <a:ext cx="19751039" cy="1048512"/>
            </a:xfrm>
            <a:custGeom>
              <a:avLst/>
              <a:gdLst/>
              <a:ahLst/>
              <a:cxnLst/>
              <a:rect r="r" b="b" t="t" l="l"/>
              <a:pathLst>
                <a:path h="1048512" w="19751039">
                  <a:moveTo>
                    <a:pt x="0" y="0"/>
                  </a:moveTo>
                  <a:lnTo>
                    <a:pt x="19751039" y="0"/>
                  </a:lnTo>
                  <a:lnTo>
                    <a:pt x="19751039" y="1048512"/>
                  </a:lnTo>
                  <a:lnTo>
                    <a:pt x="0" y="1048512"/>
                  </a:lnTo>
                  <a:close/>
                </a:path>
              </a:pathLst>
            </a:custGeom>
            <a:blipFill>
              <a:blip r:embed="rId2">
                <a:alphaModFix amt="0"/>
              </a:blip>
              <a:stretch>
                <a:fillRect l="0" t="-317043" r="0" b="-317043"/>
              </a:stretch>
            </a:blipFill>
          </p:spPr>
        </p:sp>
        <p:sp>
          <p:nvSpPr>
            <p:cNvPr name="TextBox 40" id="40"/>
            <p:cNvSpPr txBox="true"/>
            <p:nvPr/>
          </p:nvSpPr>
          <p:spPr>
            <a:xfrm>
              <a:off x="0" y="-9525"/>
              <a:ext cx="19751040" cy="1058037"/>
            </a:xfrm>
            <a:prstGeom prst="rect">
              <a:avLst/>
            </a:prstGeom>
          </p:spPr>
          <p:txBody>
            <a:bodyPr anchor="ctr" rtlCol="false" tIns="0" lIns="0" bIns="0" rIns="0"/>
            <a:lstStyle/>
            <a:p>
              <a:pPr algn="l">
                <a:lnSpc>
                  <a:spcPts val="1920"/>
                </a:lnSpc>
              </a:pPr>
              <a:r>
                <a:rPr lang="en-US" sz="1600" b="true">
                  <a:solidFill>
                    <a:srgbClr val="8B7355"/>
                  </a:solidFill>
                  <a:latin typeface="DM Sans Bold"/>
                  <a:ea typeface="DM Sans Bold"/>
                  <a:cs typeface="DM Sans Bold"/>
                  <a:sym typeface="DM Sans Bold"/>
                </a:rPr>
                <a:t>NEURAL NETWORK FLOW:   </a:t>
              </a:r>
              <a:r>
                <a:rPr lang="en-US" sz="1600" b="true">
                  <a:solidFill>
                    <a:srgbClr val="2A1F18"/>
                  </a:solidFill>
                  <a:latin typeface="DM Sans Bold"/>
                  <a:ea typeface="DM Sans Bold"/>
                  <a:cs typeface="DM Sans Bold"/>
                  <a:sym typeface="DM Sans Bold"/>
                </a:rPr>
                <a:t>Input t → [20 Neurons — tanh] → [20 Neurons — tanh] → [20 Neurons — tanh] → Output ŷ</a:t>
              </a:r>
            </a:p>
          </p:txBody>
        </p:sp>
      </p:grpSp>
      <p:grpSp>
        <p:nvGrpSpPr>
          <p:cNvPr name="Group 41" id="41"/>
          <p:cNvGrpSpPr/>
          <p:nvPr/>
        </p:nvGrpSpPr>
        <p:grpSpPr>
          <a:xfrm rot="0">
            <a:off x="16459200" y="8814816"/>
            <a:ext cx="640080" cy="786384"/>
            <a:chOff x="0" y="0"/>
            <a:chExt cx="853440" cy="1048512"/>
          </a:xfrm>
        </p:grpSpPr>
        <p:sp>
          <p:nvSpPr>
            <p:cNvPr name="Freeform 42" id="42"/>
            <p:cNvSpPr/>
            <p:nvPr/>
          </p:nvSpPr>
          <p:spPr>
            <a:xfrm flipH="false" flipV="false" rot="0">
              <a:off x="0" y="0"/>
              <a:ext cx="853440" cy="1048512"/>
            </a:xfrm>
            <a:custGeom>
              <a:avLst/>
              <a:gdLst/>
              <a:ahLst/>
              <a:cxnLst/>
              <a:rect r="r" b="b" t="t" l="l"/>
              <a:pathLst>
                <a:path h="1048512" w="853440">
                  <a:moveTo>
                    <a:pt x="0" y="0"/>
                  </a:moveTo>
                  <a:lnTo>
                    <a:pt x="853440" y="0"/>
                  </a:lnTo>
                  <a:lnTo>
                    <a:pt x="853440" y="1048512"/>
                  </a:lnTo>
                  <a:lnTo>
                    <a:pt x="0" y="1048512"/>
                  </a:lnTo>
                  <a:close/>
                </a:path>
              </a:pathLst>
            </a:custGeom>
            <a:blipFill>
              <a:blip r:embed="rId2">
                <a:alphaModFix amt="0"/>
              </a:blip>
              <a:stretch>
                <a:fillRect l="-107630" t="0" r="-107630" b="0"/>
              </a:stretch>
            </a:blipFill>
          </p:spPr>
        </p:sp>
        <p:sp>
          <p:nvSpPr>
            <p:cNvPr name="TextBox 43" id="43"/>
            <p:cNvSpPr txBox="true"/>
            <p:nvPr/>
          </p:nvSpPr>
          <p:spPr>
            <a:xfrm>
              <a:off x="0" y="0"/>
              <a:ext cx="853440" cy="1048512"/>
            </a:xfrm>
            <a:prstGeom prst="rect">
              <a:avLst/>
            </a:prstGeom>
          </p:spPr>
          <p:txBody>
            <a:bodyPr anchor="ctr" rtlCol="false" tIns="0" lIns="0" bIns="0" rIns="0"/>
            <a:lstStyle/>
            <a:p>
              <a:pPr algn="r">
                <a:lnSpc>
                  <a:spcPts val="2160"/>
                </a:lnSpc>
              </a:pPr>
              <a:r>
                <a:rPr lang="en-US" sz="1800" b="true">
                  <a:solidFill>
                    <a:srgbClr val="2A1F18"/>
                  </a:solidFill>
                  <a:latin typeface="DM Sans Bold"/>
                  <a:ea typeface="DM Sans Bold"/>
                  <a:cs typeface="DM Sans Bold"/>
                  <a:sym typeface="DM Sans Bold"/>
                </a:rPr>
                <a:t>9</a:t>
              </a:r>
            </a:p>
          </p:txBody>
        </p:sp>
      </p:grpSp>
      <p:pic>
        <p:nvPicPr>
          <p:cNvPr name="Picture 44" id="44"/>
          <p:cNvPicPr>
            <a:picLocks noChangeAspect="true"/>
          </p:cNvPicPr>
          <p:nvPr/>
        </p:nvPicPr>
        <p:blipFill>
          <a:blip r:embed="rId3"/>
          <a:stretch>
            <a:fillRect/>
          </a:stretch>
        </p:blipFill>
        <p:spPr>
          <a:xfrm rot="0">
            <a:off x="768074" y="5042894"/>
            <a:ext cx="3127508" cy="903202"/>
          </a:xfrm>
          <a:prstGeom prst="rect">
            <a:avLst/>
          </a:prstGeom>
        </p:spPr>
      </p:pic>
      <p:pic>
        <p:nvPicPr>
          <p:cNvPr name="Picture 45" id="45"/>
          <p:cNvPicPr>
            <a:picLocks noChangeAspect="true"/>
          </p:cNvPicPr>
          <p:nvPr/>
        </p:nvPicPr>
        <p:blipFill>
          <a:blip r:embed="rId4"/>
          <a:stretch>
            <a:fillRect/>
          </a:stretch>
        </p:blipFill>
        <p:spPr>
          <a:xfrm rot="0">
            <a:off x="4847099" y="4981922"/>
            <a:ext cx="3721406" cy="1013666"/>
          </a:xfrm>
          <a:prstGeom prst="rect">
            <a:avLst/>
          </a:prstGeom>
        </p:spPr>
      </p:pic>
      <p:pic>
        <p:nvPicPr>
          <p:cNvPr name="Picture 46" id="46"/>
          <p:cNvPicPr>
            <a:picLocks noChangeAspect="true"/>
          </p:cNvPicPr>
          <p:nvPr/>
        </p:nvPicPr>
        <p:blipFill>
          <a:blip r:embed="rId5"/>
          <a:stretch>
            <a:fillRect/>
          </a:stretch>
        </p:blipFill>
        <p:spPr>
          <a:xfrm rot="0">
            <a:off x="8989478" y="4980239"/>
            <a:ext cx="3390451" cy="987769"/>
          </a:xfrm>
          <a:prstGeom prst="rect">
            <a:avLst/>
          </a:prstGeom>
        </p:spPr>
      </p:pic>
      <p:pic>
        <p:nvPicPr>
          <p:cNvPr name="Picture 47" id="47"/>
          <p:cNvPicPr>
            <a:picLocks noChangeAspect="true"/>
          </p:cNvPicPr>
          <p:nvPr/>
        </p:nvPicPr>
        <p:blipFill>
          <a:blip r:embed="rId6"/>
          <a:stretch>
            <a:fillRect/>
          </a:stretch>
        </p:blipFill>
        <p:spPr>
          <a:xfrm rot="0">
            <a:off x="13153409" y="5031065"/>
            <a:ext cx="3020335" cy="906100"/>
          </a:xfrm>
          <a:prstGeom prst="rect">
            <a:avLst/>
          </a:prstGeom>
        </p:spPr>
      </p:pic>
      <p:pic>
        <p:nvPicPr>
          <p:cNvPr name="Picture 48" id="48"/>
          <p:cNvPicPr>
            <a:picLocks noChangeAspect="true"/>
          </p:cNvPicPr>
          <p:nvPr/>
        </p:nvPicPr>
        <p:blipFill>
          <a:blip r:embed="rId7"/>
          <a:stretch>
            <a:fillRect/>
          </a:stretch>
        </p:blipFill>
        <p:spPr>
          <a:xfrm rot="0">
            <a:off x="6547513" y="5751930"/>
            <a:ext cx="1021780" cy="386547"/>
          </a:xfrm>
          <a:prstGeom prst="rect">
            <a:avLst/>
          </a:prstGeom>
        </p:spPr>
      </p:pic>
      <p:pic>
        <p:nvPicPr>
          <p:cNvPr name="Picture 49" id="49"/>
          <p:cNvPicPr>
            <a:picLocks noChangeAspect="true"/>
          </p:cNvPicPr>
          <p:nvPr/>
        </p:nvPicPr>
        <p:blipFill>
          <a:blip r:embed="rId8"/>
          <a:stretch>
            <a:fillRect/>
          </a:stretch>
        </p:blipFill>
        <p:spPr>
          <a:xfrm rot="0">
            <a:off x="10599556" y="5751930"/>
            <a:ext cx="1021780" cy="386547"/>
          </a:xfrm>
          <a:prstGeom prst="rect">
            <a:avLst/>
          </a:prstGeom>
        </p:spPr>
      </p:pic>
      <p:pic>
        <p:nvPicPr>
          <p:cNvPr name="Picture 50" id="50"/>
          <p:cNvPicPr>
            <a:picLocks noChangeAspect="true"/>
          </p:cNvPicPr>
          <p:nvPr/>
        </p:nvPicPr>
        <p:blipFill>
          <a:blip r:embed="rId9"/>
          <a:stretch>
            <a:fillRect/>
          </a:stretch>
        </p:blipFill>
        <p:spPr>
          <a:xfrm rot="0">
            <a:off x="781790" y="5539145"/>
            <a:ext cx="3127508" cy="814262"/>
          </a:xfrm>
          <a:prstGeom prst="rect">
            <a:avLst/>
          </a:prstGeom>
        </p:spPr>
      </p:pic>
      <p:pic>
        <p:nvPicPr>
          <p:cNvPr name="Picture 51" id="51"/>
          <p:cNvPicPr>
            <a:picLocks noChangeAspect="true"/>
          </p:cNvPicPr>
          <p:nvPr/>
        </p:nvPicPr>
        <p:blipFill>
          <a:blip r:embed="rId10"/>
          <a:stretch>
            <a:fillRect/>
          </a:stretch>
        </p:blipFill>
        <p:spPr>
          <a:xfrm rot="0">
            <a:off x="13114661" y="5509328"/>
            <a:ext cx="3485311" cy="884616"/>
          </a:xfrm>
          <a:prstGeom prst="rect">
            <a:avLst/>
          </a:prstGeom>
        </p:spPr>
      </p:pic>
      <p:pic>
        <p:nvPicPr>
          <p:cNvPr name="Picture 52" id="52"/>
          <p:cNvPicPr>
            <a:picLocks noChangeAspect="true"/>
          </p:cNvPicPr>
          <p:nvPr/>
        </p:nvPicPr>
        <p:blipFill>
          <a:blip r:embed="rId11"/>
          <a:stretch>
            <a:fillRect/>
          </a:stretch>
        </p:blipFill>
        <p:spPr>
          <a:xfrm rot="0">
            <a:off x="12503700" y="9034914"/>
            <a:ext cx="1034712" cy="410317"/>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16000" y="685419"/>
            <a:ext cx="3657600" cy="247650"/>
          </a:xfrm>
          <a:prstGeom prst="rect">
            <a:avLst/>
          </a:prstGeom>
        </p:spPr>
        <p:txBody>
          <a:bodyPr anchor="t" rtlCol="false" tIns="0" lIns="0" bIns="0" rIns="0">
            <a:spAutoFit/>
          </a:bodyPr>
          <a:lstStyle/>
          <a:p>
            <a:pPr algn="r">
              <a:lnSpc>
                <a:spcPts val="1920"/>
              </a:lnSpc>
            </a:pPr>
            <a:r>
              <a:rPr lang="en-US" b="true" sz="1600" spc="400">
                <a:solidFill>
                  <a:srgbClr val="9A7F5E"/>
                </a:solidFill>
                <a:latin typeface="DM Sans Bold"/>
                <a:ea typeface="DM Sans Bold"/>
                <a:cs typeface="DM Sans Bold"/>
                <a:sym typeface="DM Sans Bold"/>
              </a:rPr>
              <a:t>Training setup</a:t>
            </a:r>
          </a:p>
        </p:txBody>
      </p:sp>
      <p:grpSp>
        <p:nvGrpSpPr>
          <p:cNvPr name="Group 3" id="3"/>
          <p:cNvGrpSpPr/>
          <p:nvPr/>
        </p:nvGrpSpPr>
        <p:grpSpPr>
          <a:xfrm rot="0">
            <a:off x="914400" y="1005840"/>
            <a:ext cx="16459200" cy="1005840"/>
            <a:chOff x="0" y="0"/>
            <a:chExt cx="21945600" cy="1341120"/>
          </a:xfrm>
        </p:grpSpPr>
        <p:sp>
          <p:nvSpPr>
            <p:cNvPr name="Freeform 4" id="4"/>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5" id="5"/>
            <p:cNvSpPr txBox="true"/>
            <p:nvPr/>
          </p:nvSpPr>
          <p:spPr>
            <a:xfrm>
              <a:off x="0" y="-9525"/>
              <a:ext cx="21945600" cy="1350645"/>
            </a:xfrm>
            <a:prstGeom prst="rect">
              <a:avLst/>
            </a:prstGeom>
          </p:spPr>
          <p:txBody>
            <a:bodyPr anchor="ctr" rtlCol="false" tIns="0" lIns="0" bIns="0" rIns="0"/>
            <a:lstStyle/>
            <a:p>
              <a:pPr algn="l">
                <a:lnSpc>
                  <a:spcPts val="6000"/>
                </a:lnSpc>
              </a:pPr>
              <a:r>
                <a:rPr lang="en-US" sz="5000" b="true">
                  <a:solidFill>
                    <a:srgbClr val="2A1F18"/>
                  </a:solidFill>
                  <a:latin typeface="DM Sans Bold"/>
                  <a:ea typeface="DM Sans Bold"/>
                  <a:cs typeface="DM Sans Bold"/>
                  <a:sym typeface="DM Sans Bold"/>
                </a:rPr>
                <a:t>PINN Configurations &amp; Training Setup</a:t>
              </a:r>
            </a:p>
          </p:txBody>
        </p:sp>
      </p:grpSp>
      <p:sp>
        <p:nvSpPr>
          <p:cNvPr name="AutoShape 6" id="6"/>
          <p:cNvSpPr/>
          <p:nvPr/>
        </p:nvSpPr>
        <p:spPr>
          <a:xfrm rot="3960">
            <a:off x="904865" y="9120950"/>
            <a:ext cx="16478260" cy="0"/>
          </a:xfrm>
          <a:prstGeom prst="line">
            <a:avLst/>
          </a:prstGeom>
          <a:ln cap="rnd" w="9525">
            <a:solidFill>
              <a:srgbClr val="E6E0D4"/>
            </a:solidFill>
            <a:prstDash val="solid"/>
            <a:headEnd type="none" len="sm" w="sm"/>
            <a:tailEnd type="none" len="sm" w="sm"/>
          </a:ln>
        </p:spPr>
      </p:sp>
      <p:sp>
        <p:nvSpPr>
          <p:cNvPr name="TextBox 7" id="7"/>
          <p:cNvSpPr txBox="true"/>
          <p:nvPr/>
        </p:nvSpPr>
        <p:spPr>
          <a:xfrm rot="0">
            <a:off x="914400" y="9308592"/>
            <a:ext cx="14630400" cy="402336"/>
          </a:xfrm>
          <a:prstGeom prst="rect">
            <a:avLst/>
          </a:prstGeom>
        </p:spPr>
        <p:txBody>
          <a:bodyPr anchor="t" rtlCol="false" tIns="0" lIns="0" bIns="0" rIns="0">
            <a:spAutoFit/>
          </a:bodyPr>
          <a:lstStyle/>
          <a:p>
            <a:pPr algn="l">
              <a:lnSpc>
                <a:spcPts val="2039"/>
              </a:lnSpc>
            </a:pPr>
            <a:r>
              <a:rPr lang="en-US" sz="1700">
                <a:solidFill>
                  <a:srgbClr val="8B7355"/>
                </a:solidFill>
                <a:latin typeface="DM Sans"/>
                <a:ea typeface="DM Sans"/>
                <a:cs typeface="DM Sans"/>
                <a:sym typeface="DM Sans"/>
              </a:rPr>
              <a:t>Physics-informed training driven purely by governing ODE residuals and 3-point boundary conditions</a:t>
            </a:r>
          </a:p>
        </p:txBody>
      </p:sp>
      <p:sp>
        <p:nvSpPr>
          <p:cNvPr name="TextBox 8" id="8"/>
          <p:cNvSpPr txBox="true"/>
          <p:nvPr/>
        </p:nvSpPr>
        <p:spPr>
          <a:xfrm rot="0">
            <a:off x="16459200" y="9308592"/>
            <a:ext cx="914400" cy="266700"/>
          </a:xfrm>
          <a:prstGeom prst="rect">
            <a:avLst/>
          </a:prstGeom>
        </p:spPr>
        <p:txBody>
          <a:bodyPr anchor="t" rtlCol="false" tIns="0" lIns="0" bIns="0" rIns="0">
            <a:spAutoFit/>
          </a:bodyPr>
          <a:lstStyle/>
          <a:p>
            <a:pPr algn="r">
              <a:lnSpc>
                <a:spcPts val="2160"/>
              </a:lnSpc>
            </a:pPr>
            <a:r>
              <a:rPr lang="en-US" sz="1800" b="true">
                <a:solidFill>
                  <a:srgbClr val="2A1F18"/>
                </a:solidFill>
                <a:latin typeface="DM Sans Bold"/>
                <a:ea typeface="DM Sans Bold"/>
                <a:cs typeface="DM Sans Bold"/>
                <a:sym typeface="DM Sans Bold"/>
              </a:rPr>
              <a:t>10</a:t>
            </a:r>
          </a:p>
        </p:txBody>
      </p:sp>
      <p:sp>
        <p:nvSpPr>
          <p:cNvPr name="AutoShape 9" id="9"/>
          <p:cNvSpPr/>
          <p:nvPr/>
        </p:nvSpPr>
        <p:spPr>
          <a:xfrm rot="15840">
            <a:off x="876214" y="5362384"/>
            <a:ext cx="16535571" cy="0"/>
          </a:xfrm>
          <a:prstGeom prst="line">
            <a:avLst/>
          </a:prstGeom>
          <a:ln cap="rnd" w="38100">
            <a:solidFill>
              <a:srgbClr val="8B7355"/>
            </a:solidFill>
            <a:prstDash val="solid"/>
            <a:headEnd type="none" len="sm" w="sm"/>
            <a:tailEnd type="triangle" len="med" w="lg"/>
          </a:ln>
        </p:spPr>
      </p:sp>
      <p:sp>
        <p:nvSpPr>
          <p:cNvPr name="AutoShape 10" id="10"/>
          <p:cNvSpPr/>
          <p:nvPr/>
        </p:nvSpPr>
        <p:spPr>
          <a:xfrm rot="5325480">
            <a:off x="255060" y="4324731"/>
            <a:ext cx="1757582" cy="0"/>
          </a:xfrm>
          <a:prstGeom prst="line">
            <a:avLst/>
          </a:prstGeom>
          <a:ln cap="rnd" w="19050">
            <a:solidFill>
              <a:srgbClr val="8B7355"/>
            </a:solidFill>
            <a:prstDash val="solid"/>
            <a:headEnd type="none" len="sm" w="sm"/>
            <a:tailEnd type="none" len="sm" w="sm"/>
          </a:ln>
        </p:spPr>
      </p:sp>
      <p:grpSp>
        <p:nvGrpSpPr>
          <p:cNvPr name="Group 11" id="11"/>
          <p:cNvGrpSpPr/>
          <p:nvPr/>
        </p:nvGrpSpPr>
        <p:grpSpPr>
          <a:xfrm rot="0">
            <a:off x="1057151" y="3398015"/>
            <a:ext cx="153419" cy="153419"/>
            <a:chOff x="0" y="0"/>
            <a:chExt cx="204559" cy="204559"/>
          </a:xfrm>
        </p:grpSpPr>
        <p:sp>
          <p:nvSpPr>
            <p:cNvPr name="Freeform 12" id="12"/>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13" id="13"/>
          <p:cNvSpPr txBox="true"/>
          <p:nvPr/>
        </p:nvSpPr>
        <p:spPr>
          <a:xfrm rot="0">
            <a:off x="1389888" y="3345942"/>
            <a:ext cx="4937760" cy="1847850"/>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1. Network Depth &amp; Width</a:t>
            </a:r>
          </a:p>
          <a:p>
            <a:pPr algn="l">
              <a:lnSpc>
                <a:spcPts val="2520"/>
              </a:lnSpc>
            </a:pPr>
            <a:r>
              <a:rPr lang="en-US" sz="2000">
                <a:solidFill>
                  <a:srgbClr val="3A2E24"/>
                </a:solidFill>
                <a:latin typeface="DM Sans"/>
                <a:ea typeface="DM Sans"/>
                <a:cs typeface="DM Sans"/>
                <a:sym typeface="DM Sans"/>
              </a:rPr>
              <a:t>3 hidden layers × 20 tanh neurons ([20, 20, 20]); paper also explores depths 3–15 &amp; widths 20–50.</a:t>
            </a:r>
          </a:p>
        </p:txBody>
      </p:sp>
      <p:sp>
        <p:nvSpPr>
          <p:cNvPr name="AutoShape 14" id="14"/>
          <p:cNvSpPr/>
          <p:nvPr/>
        </p:nvSpPr>
        <p:spPr>
          <a:xfrm rot="5339340">
            <a:off x="2833707" y="6592443"/>
            <a:ext cx="2159841" cy="0"/>
          </a:xfrm>
          <a:prstGeom prst="line">
            <a:avLst/>
          </a:prstGeom>
          <a:ln cap="rnd" w="19050">
            <a:solidFill>
              <a:srgbClr val="8B7355"/>
            </a:solidFill>
            <a:prstDash val="solid"/>
            <a:headEnd type="none" len="sm" w="sm"/>
            <a:tailEnd type="none" len="sm" w="sm"/>
          </a:ln>
        </p:spPr>
      </p:sp>
      <p:grpSp>
        <p:nvGrpSpPr>
          <p:cNvPr name="Group 15" id="15"/>
          <p:cNvGrpSpPr/>
          <p:nvPr/>
        </p:nvGrpSpPr>
        <p:grpSpPr>
          <a:xfrm rot="0">
            <a:off x="3836927" y="7585967"/>
            <a:ext cx="153419" cy="153419"/>
            <a:chOff x="0" y="0"/>
            <a:chExt cx="204559" cy="204559"/>
          </a:xfrm>
        </p:grpSpPr>
        <p:sp>
          <p:nvSpPr>
            <p:cNvPr name="Freeform 16" id="16"/>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17" id="17"/>
          <p:cNvSpPr txBox="true"/>
          <p:nvPr/>
        </p:nvSpPr>
        <p:spPr>
          <a:xfrm rot="0">
            <a:off x="4187952" y="5613654"/>
            <a:ext cx="5852160" cy="1682496"/>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2. Collocation Sampling (No Labeled Data)</a:t>
            </a:r>
          </a:p>
          <a:p>
            <a:pPr algn="l">
              <a:lnSpc>
                <a:spcPts val="2519"/>
              </a:lnSpc>
            </a:pPr>
            <a:r>
              <a:rPr lang="en-US" sz="1999">
                <a:solidFill>
                  <a:srgbClr val="3A2E24"/>
                </a:solidFill>
                <a:latin typeface="DM Sans"/>
                <a:ea typeface="DM Sans"/>
                <a:cs typeface="DM Sans"/>
                <a:sym typeface="DM Sans"/>
              </a:rPr>
              <a:t>1,500 points over [0, 1] in reference paper; 500 interior points in [0.001, 0.999] in our stabilized setup.       </a:t>
            </a:r>
          </a:p>
        </p:txBody>
      </p:sp>
      <p:sp>
        <p:nvSpPr>
          <p:cNvPr name="AutoShape 18" id="18"/>
          <p:cNvSpPr/>
          <p:nvPr/>
        </p:nvSpPr>
        <p:spPr>
          <a:xfrm rot="5329860">
            <a:off x="6436424" y="4269867"/>
            <a:ext cx="1867291" cy="0"/>
          </a:xfrm>
          <a:prstGeom prst="line">
            <a:avLst/>
          </a:prstGeom>
          <a:ln cap="rnd" w="19050">
            <a:solidFill>
              <a:srgbClr val="8B7355"/>
            </a:solidFill>
            <a:prstDash val="solid"/>
            <a:headEnd type="none" len="sm" w="sm"/>
            <a:tailEnd type="none" len="sm" w="sm"/>
          </a:ln>
        </p:spPr>
      </p:sp>
      <p:grpSp>
        <p:nvGrpSpPr>
          <p:cNvPr name="Group 19" id="19"/>
          <p:cNvGrpSpPr/>
          <p:nvPr/>
        </p:nvGrpSpPr>
        <p:grpSpPr>
          <a:xfrm rot="0">
            <a:off x="7293359" y="3288287"/>
            <a:ext cx="153419" cy="153419"/>
            <a:chOff x="0" y="0"/>
            <a:chExt cx="204559" cy="204559"/>
          </a:xfrm>
        </p:grpSpPr>
        <p:sp>
          <p:nvSpPr>
            <p:cNvPr name="Freeform 20" id="20"/>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21" id="21"/>
          <p:cNvSpPr txBox="true"/>
          <p:nvPr/>
        </p:nvSpPr>
        <p:spPr>
          <a:xfrm rot="0">
            <a:off x="7644384" y="3272790"/>
            <a:ext cx="5029200" cy="1847850"/>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3. Optimizer &amp; Regularization</a:t>
            </a:r>
          </a:p>
          <a:p>
            <a:pPr algn="l">
              <a:lnSpc>
                <a:spcPts val="2520"/>
              </a:lnSpc>
            </a:pPr>
            <a:r>
              <a:rPr lang="en-US" sz="2000">
                <a:solidFill>
                  <a:srgbClr val="3A2E24"/>
                </a:solidFill>
                <a:latin typeface="DM Sans"/>
                <a:ea typeface="DM Sans"/>
                <a:cs typeface="DM Sans"/>
                <a:sym typeface="DM Sans"/>
              </a:rPr>
              <a:t>Adam optimizer (lr = 10−3) via automatic differentiation with penalty factor λ = 10−3.</a:t>
            </a:r>
          </a:p>
        </p:txBody>
      </p:sp>
      <p:sp>
        <p:nvSpPr>
          <p:cNvPr name="AutoShape 22" id="22"/>
          <p:cNvSpPr/>
          <p:nvPr/>
        </p:nvSpPr>
        <p:spPr>
          <a:xfrm rot="5325480">
            <a:off x="9965988" y="6391275"/>
            <a:ext cx="1757582" cy="0"/>
          </a:xfrm>
          <a:prstGeom prst="line">
            <a:avLst/>
          </a:prstGeom>
          <a:ln cap="rnd" w="19050">
            <a:solidFill>
              <a:srgbClr val="8B7355"/>
            </a:solidFill>
            <a:prstDash val="solid"/>
            <a:headEnd type="none" len="sm" w="sm"/>
            <a:tailEnd type="none" len="sm" w="sm"/>
          </a:ln>
        </p:spPr>
      </p:sp>
      <p:grpSp>
        <p:nvGrpSpPr>
          <p:cNvPr name="Group 23" id="23"/>
          <p:cNvGrpSpPr/>
          <p:nvPr/>
        </p:nvGrpSpPr>
        <p:grpSpPr>
          <a:xfrm rot="0">
            <a:off x="10768079" y="7183631"/>
            <a:ext cx="153419" cy="153419"/>
            <a:chOff x="0" y="0"/>
            <a:chExt cx="204559" cy="204559"/>
          </a:xfrm>
        </p:grpSpPr>
        <p:sp>
          <p:nvSpPr>
            <p:cNvPr name="Freeform 24" id="24"/>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25" id="25"/>
          <p:cNvSpPr txBox="true"/>
          <p:nvPr/>
        </p:nvSpPr>
        <p:spPr>
          <a:xfrm rot="0">
            <a:off x="11100816" y="5613654"/>
            <a:ext cx="6217920" cy="1847850"/>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4. Training Epochs &amp; Convergence</a:t>
            </a:r>
          </a:p>
          <a:p>
            <a:pPr algn="l">
              <a:lnSpc>
                <a:spcPts val="2520"/>
              </a:lnSpc>
            </a:pPr>
            <a:r>
              <a:rPr lang="en-US" sz="2000">
                <a:solidFill>
                  <a:srgbClr val="3A2E24"/>
                </a:solidFill>
                <a:latin typeface="DM Sans"/>
                <a:ea typeface="DM Sans"/>
                <a:cs typeface="DM Sans"/>
                <a:sym typeface="DM Sans"/>
              </a:rPr>
              <a:t>10,000 epochs per run in our controlled study (paper tests 3,000 epochs in loss curves &amp; 5k–20k in Table 5).</a:t>
            </a:r>
          </a:p>
        </p:txBody>
      </p:sp>
      <p:sp>
        <p:nvSpPr>
          <p:cNvPr name="AutoShape 26" id="26"/>
          <p:cNvSpPr/>
          <p:nvPr/>
        </p:nvSpPr>
        <p:spPr>
          <a:xfrm rot="5325480">
            <a:off x="12014244" y="4324731"/>
            <a:ext cx="1757582" cy="0"/>
          </a:xfrm>
          <a:prstGeom prst="line">
            <a:avLst/>
          </a:prstGeom>
          <a:ln cap="rnd" w="19050">
            <a:solidFill>
              <a:srgbClr val="8B7355"/>
            </a:solidFill>
            <a:prstDash val="solid"/>
            <a:headEnd type="none" len="sm" w="sm"/>
            <a:tailEnd type="none" len="sm" w="sm"/>
          </a:ln>
        </p:spPr>
      </p:sp>
      <p:grpSp>
        <p:nvGrpSpPr>
          <p:cNvPr name="Group 27" id="27"/>
          <p:cNvGrpSpPr/>
          <p:nvPr/>
        </p:nvGrpSpPr>
        <p:grpSpPr>
          <a:xfrm rot="0">
            <a:off x="12816335" y="3398015"/>
            <a:ext cx="153419" cy="153419"/>
            <a:chOff x="0" y="0"/>
            <a:chExt cx="204559" cy="204559"/>
          </a:xfrm>
        </p:grpSpPr>
        <p:sp>
          <p:nvSpPr>
            <p:cNvPr name="Freeform 28" id="28"/>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29" id="29"/>
          <p:cNvSpPr txBox="true"/>
          <p:nvPr/>
        </p:nvSpPr>
        <p:spPr>
          <a:xfrm rot="0">
            <a:off x="13149072" y="3345942"/>
            <a:ext cx="4224528" cy="1847850"/>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5. Multi-Seed &amp; Metrics</a:t>
            </a:r>
          </a:p>
          <a:p>
            <a:pPr algn="l">
              <a:lnSpc>
                <a:spcPts val="2520"/>
              </a:lnSpc>
            </a:pPr>
            <a:r>
              <a:rPr lang="en-US" sz="2000">
                <a:solidFill>
                  <a:srgbClr val="3A2E24"/>
                </a:solidFill>
                <a:latin typeface="DM Sans"/>
                <a:ea typeface="DM Sans"/>
                <a:cs typeface="DM Sans"/>
                <a:sym typeface="DM Sans"/>
              </a:rPr>
              <a:t>10 seeds (120 runs) scored on 9 metrics (MSE, RMSE, MAE, MAPE, R², R, rSD, NSE, RE).</a:t>
            </a:r>
          </a:p>
        </p:txBody>
      </p:sp>
    </p:spTree>
  </p:cSld>
  <p:clrMapOvr>
    <a:masterClrMapping/>
  </p:clrMapOvr>
  <p:transition spd="slow">
    <p:cover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34304" y="401955"/>
            <a:ext cx="4279952" cy="249555"/>
          </a:xfrm>
          <a:prstGeom prst="rect">
            <a:avLst/>
          </a:prstGeom>
        </p:spPr>
        <p:txBody>
          <a:bodyPr anchor="t" rtlCol="false" tIns="0" lIns="0" bIns="0" rIns="0">
            <a:spAutoFit/>
          </a:bodyPr>
          <a:lstStyle/>
          <a:p>
            <a:pPr algn="l">
              <a:lnSpc>
                <a:spcPts val="1920"/>
              </a:lnSpc>
            </a:pPr>
            <a:r>
              <a:rPr lang="en-US" sz="1600" spc="400" b="true">
                <a:solidFill>
                  <a:srgbClr val="9A7F5E"/>
                </a:solidFill>
                <a:latin typeface="DM Sans Bold"/>
                <a:ea typeface="DM Sans Bold"/>
                <a:cs typeface="DM Sans Bold"/>
                <a:sym typeface="DM Sans Bold"/>
              </a:rPr>
              <a:t>Parameters and Architecture</a:t>
            </a:r>
          </a:p>
        </p:txBody>
      </p:sp>
      <p:grpSp>
        <p:nvGrpSpPr>
          <p:cNvPr name="Group 3" id="3"/>
          <p:cNvGrpSpPr/>
          <p:nvPr/>
        </p:nvGrpSpPr>
        <p:grpSpPr>
          <a:xfrm rot="0">
            <a:off x="914400" y="1005840"/>
            <a:ext cx="16459200" cy="1005840"/>
            <a:chOff x="0" y="0"/>
            <a:chExt cx="21945600" cy="1341120"/>
          </a:xfrm>
        </p:grpSpPr>
        <p:sp>
          <p:nvSpPr>
            <p:cNvPr name="Freeform 4" id="4"/>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5" id="5"/>
            <p:cNvSpPr txBox="true"/>
            <p:nvPr/>
          </p:nvSpPr>
          <p:spPr>
            <a:xfrm>
              <a:off x="0" y="0"/>
              <a:ext cx="21945600" cy="1341120"/>
            </a:xfrm>
            <a:prstGeom prst="rect">
              <a:avLst/>
            </a:prstGeom>
          </p:spPr>
          <p:txBody>
            <a:bodyPr anchor="ctr" rtlCol="false" tIns="0" lIns="0" bIns="0" rIns="0"/>
            <a:lstStyle/>
            <a:p>
              <a:pPr algn="l">
                <a:lnSpc>
                  <a:spcPts val="5759"/>
                </a:lnSpc>
              </a:pPr>
              <a:r>
                <a:rPr lang="en-US" sz="4800" b="true">
                  <a:solidFill>
                    <a:srgbClr val="2A1F18"/>
                  </a:solidFill>
                  <a:latin typeface="DM Sans Bold"/>
                  <a:ea typeface="DM Sans Bold"/>
                  <a:cs typeface="DM Sans Bold"/>
                  <a:sym typeface="DM Sans Bold"/>
                </a:rPr>
                <a:t>Training Parameters &amp; Network Architecture</a:t>
              </a:r>
            </a:p>
          </p:txBody>
        </p:sp>
      </p:grpSp>
      <p:sp>
        <p:nvSpPr>
          <p:cNvPr name="AutoShape 6" id="6"/>
          <p:cNvSpPr/>
          <p:nvPr/>
        </p:nvSpPr>
        <p:spPr>
          <a:xfrm rot="3960">
            <a:off x="904865" y="9322118"/>
            <a:ext cx="16478260" cy="0"/>
          </a:xfrm>
          <a:prstGeom prst="line">
            <a:avLst/>
          </a:prstGeom>
          <a:ln cap="rnd" w="9525">
            <a:solidFill>
              <a:srgbClr val="E6E0D4"/>
            </a:solidFill>
            <a:prstDash val="solid"/>
            <a:headEnd type="none" len="sm" w="sm"/>
            <a:tailEnd type="none" len="sm" w="sm"/>
          </a:ln>
        </p:spPr>
      </p:sp>
      <p:sp>
        <p:nvSpPr>
          <p:cNvPr name="TextBox 7" id="7"/>
          <p:cNvSpPr txBox="true"/>
          <p:nvPr/>
        </p:nvSpPr>
        <p:spPr>
          <a:xfrm rot="0">
            <a:off x="914400" y="9509760"/>
            <a:ext cx="14630400" cy="402336"/>
          </a:xfrm>
          <a:prstGeom prst="rect">
            <a:avLst/>
          </a:prstGeom>
        </p:spPr>
        <p:txBody>
          <a:bodyPr anchor="t" rtlCol="false" tIns="0" lIns="0" bIns="0" rIns="0">
            <a:spAutoFit/>
          </a:bodyPr>
          <a:lstStyle/>
          <a:p>
            <a:pPr algn="l">
              <a:lnSpc>
                <a:spcPts val="2039"/>
              </a:lnSpc>
            </a:pPr>
            <a:r>
              <a:rPr lang="en-US" sz="1700">
                <a:solidFill>
                  <a:srgbClr val="8B7355"/>
                </a:solidFill>
                <a:latin typeface="DM Sans"/>
                <a:ea typeface="DM Sans"/>
                <a:cs typeface="DM Sans"/>
                <a:sym typeface="DM Sans"/>
              </a:rPr>
              <a:t>Four Models Studied: Standard PINN • PINN + L1 • PINN + L2 • Adaptive PINN (A-PINN)</a:t>
            </a:r>
          </a:p>
        </p:txBody>
      </p:sp>
      <p:sp>
        <p:nvSpPr>
          <p:cNvPr name="TextBox 8" id="8"/>
          <p:cNvSpPr txBox="true"/>
          <p:nvPr/>
        </p:nvSpPr>
        <p:spPr>
          <a:xfrm rot="0">
            <a:off x="16459200" y="9509760"/>
            <a:ext cx="914400" cy="266700"/>
          </a:xfrm>
          <a:prstGeom prst="rect">
            <a:avLst/>
          </a:prstGeom>
        </p:spPr>
        <p:txBody>
          <a:bodyPr anchor="t" rtlCol="false" tIns="0" lIns="0" bIns="0" rIns="0">
            <a:spAutoFit/>
          </a:bodyPr>
          <a:lstStyle/>
          <a:p>
            <a:pPr algn="r">
              <a:lnSpc>
                <a:spcPts val="2160"/>
              </a:lnSpc>
            </a:pPr>
            <a:r>
              <a:rPr lang="en-US" sz="1800" b="true">
                <a:solidFill>
                  <a:srgbClr val="2A1F18"/>
                </a:solidFill>
                <a:latin typeface="DM Sans Bold"/>
                <a:ea typeface="DM Sans Bold"/>
                <a:cs typeface="DM Sans Bold"/>
                <a:sym typeface="DM Sans Bold"/>
              </a:rPr>
              <a:t>11</a:t>
            </a:r>
          </a:p>
        </p:txBody>
      </p:sp>
      <p:graphicFrame>
        <p:nvGraphicFramePr>
          <p:cNvPr name="Table 9" id="9"/>
          <p:cNvGraphicFramePr>
            <a:graphicFrameLocks noGrp="true"/>
          </p:cNvGraphicFramePr>
          <p:nvPr/>
        </p:nvGraphicFramePr>
        <p:xfrm>
          <a:off x="914400" y="2633472"/>
          <a:ext cx="10109200" cy="5715000"/>
        </p:xfrm>
        <a:graphic>
          <a:graphicData uri="http://schemas.openxmlformats.org/drawingml/2006/table">
            <a:tbl>
              <a:tblPr/>
              <a:tblGrid>
                <a:gridCol w="2367921"/>
                <a:gridCol w="3369733"/>
                <a:gridCol w="4371546"/>
              </a:tblGrid>
              <a:tr h="634347">
                <a:tc>
                  <a:txBody>
                    <a:bodyPr anchor="t" rtlCol="false"/>
                    <a:lstStyle/>
                    <a:p>
                      <a:pPr algn="l">
                        <a:lnSpc>
                          <a:spcPts val="2280"/>
                        </a:lnSpc>
                        <a:defRPr/>
                      </a:pPr>
                      <a:r>
                        <a:rPr lang="en-US" sz="1900" b="true">
                          <a:solidFill>
                            <a:srgbClr val="FFFFFF"/>
                          </a:solidFill>
                          <a:latin typeface="DM Sans Bold"/>
                          <a:ea typeface="DM Sans Bold"/>
                          <a:cs typeface="DM Sans Bold"/>
                          <a:sym typeface="DM Sans Bold"/>
                        </a:rPr>
                        <a:t>Parameter</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EA3F8"/>
                    </a:solidFill>
                  </a:tcPr>
                </a:tc>
                <a:tc>
                  <a:txBody>
                    <a:bodyPr anchor="t" rtlCol="false"/>
                    <a:lstStyle/>
                    <a:p>
                      <a:pPr algn="l">
                        <a:lnSpc>
                          <a:spcPts val="2280"/>
                        </a:lnSpc>
                        <a:defRPr/>
                      </a:pPr>
                      <a:r>
                        <a:rPr lang="en-US" sz="1900" b="true">
                          <a:solidFill>
                            <a:srgbClr val="FFFFFF"/>
                          </a:solidFill>
                          <a:latin typeface="DM Sans Bold"/>
                          <a:ea typeface="DM Sans Bold"/>
                          <a:cs typeface="DM Sans Bold"/>
                          <a:sym typeface="DM Sans Bold"/>
                        </a:rPr>
                        <a:t>Our Controlled Setup</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EA3F8"/>
                    </a:solidFill>
                  </a:tcPr>
                </a:tc>
                <a:tc>
                  <a:txBody>
                    <a:bodyPr anchor="t" rtlCol="false"/>
                    <a:lstStyle/>
                    <a:p>
                      <a:pPr algn="l">
                        <a:lnSpc>
                          <a:spcPts val="2280"/>
                        </a:lnSpc>
                        <a:defRPr/>
                      </a:pPr>
                      <a:r>
                        <a:rPr lang="en-US" sz="1900" b="true">
                          <a:solidFill>
                            <a:srgbClr val="FFFFFF"/>
                          </a:solidFill>
                          <a:latin typeface="DM Sans Bold"/>
                          <a:ea typeface="DM Sans Bold"/>
                          <a:cs typeface="DM Sans Bold"/>
                          <a:sym typeface="DM Sans Bold"/>
                        </a:rPr>
                        <a:t>Reference Paper (2026)</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EA3F8"/>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Hidden layers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3 layers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3 layers (ablation: 3, 6, 9, 12, 15)</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Neurons / layer</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20 ([20, 20, 20])</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20, 30, 50 (Table 5)</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Activation</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tanh</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tanh (also sigmoid, ReLU, SeLU)</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Optimizer &amp; LR</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Adam (1 × 10−3)</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Adam (also L-BFGS, RMSProp)</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Reg. factor (λ)</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 × 10−3 (L1 &amp; L2)</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 × 10−3 (Eq. 12 &amp; 14)</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Collocation pts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500 in [0.001, 0.999]</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1,500 over [0, 1] (Sec. 2.2)</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Epochs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10,000</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3,000 (plots) / 5k–20k (Table 5)</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Seeds &amp; Runs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b="true">
                          <a:solidFill>
                            <a:srgbClr val="B5573A"/>
                          </a:solidFill>
                          <a:latin typeface="DM Sans Bold"/>
                          <a:ea typeface="DM Sans Bold"/>
                          <a:cs typeface="DM Sans Bold"/>
                          <a:sym typeface="DM Sans Bold"/>
                        </a:rPr>
                        <a:t>10 seeds (120 runs)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 single seed per config</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r>
            </a:tbl>
          </a:graphicData>
        </a:graphic>
      </p:graphicFrame>
      <p:grpSp>
        <p:nvGrpSpPr>
          <p:cNvPr name="Group 10" id="10"/>
          <p:cNvGrpSpPr/>
          <p:nvPr/>
        </p:nvGrpSpPr>
        <p:grpSpPr>
          <a:xfrm rot="0">
            <a:off x="11289287" y="1852679"/>
            <a:ext cx="6097019" cy="7468619"/>
            <a:chOff x="0" y="0"/>
            <a:chExt cx="8129359" cy="9958159"/>
          </a:xfrm>
        </p:grpSpPr>
        <p:sp>
          <p:nvSpPr>
            <p:cNvPr name="Freeform 11" id="11"/>
            <p:cNvSpPr/>
            <p:nvPr/>
          </p:nvSpPr>
          <p:spPr>
            <a:xfrm flipH="false" flipV="false" rot="0">
              <a:off x="0" y="0"/>
              <a:ext cx="8129270" cy="9958070"/>
            </a:xfrm>
            <a:custGeom>
              <a:avLst/>
              <a:gdLst/>
              <a:ahLst/>
              <a:cxnLst/>
              <a:rect r="r" b="b" t="t" l="l"/>
              <a:pathLst>
                <a:path h="9958070" w="8129270">
                  <a:moveTo>
                    <a:pt x="0" y="293751"/>
                  </a:moveTo>
                  <a:cubicBezTo>
                    <a:pt x="0" y="131572"/>
                    <a:pt x="131572" y="0"/>
                    <a:pt x="293751" y="0"/>
                  </a:cubicBezTo>
                  <a:lnTo>
                    <a:pt x="7835519" y="0"/>
                  </a:lnTo>
                  <a:cubicBezTo>
                    <a:pt x="7997825" y="0"/>
                    <a:pt x="8129270" y="131572"/>
                    <a:pt x="8129270" y="293751"/>
                  </a:cubicBezTo>
                  <a:lnTo>
                    <a:pt x="8129270" y="9664319"/>
                  </a:lnTo>
                  <a:cubicBezTo>
                    <a:pt x="8129270" y="9826625"/>
                    <a:pt x="7997698" y="9958070"/>
                    <a:pt x="7835519" y="9958070"/>
                  </a:cubicBezTo>
                  <a:lnTo>
                    <a:pt x="293751" y="9958070"/>
                  </a:lnTo>
                  <a:cubicBezTo>
                    <a:pt x="131572" y="9958197"/>
                    <a:pt x="0" y="9826625"/>
                    <a:pt x="0" y="9664319"/>
                  </a:cubicBezTo>
                  <a:close/>
                </a:path>
              </a:pathLst>
            </a:custGeom>
            <a:solidFill>
              <a:srgbClr val="F3EEE5"/>
            </a:solidFill>
            <a:ln w="22860" cap="sq">
              <a:solidFill>
                <a:srgbClr val="F3EEE5"/>
              </a:solidFill>
              <a:prstDash val="solid"/>
              <a:miter/>
            </a:ln>
          </p:spPr>
        </p:sp>
      </p:grpSp>
      <p:sp>
        <p:nvSpPr>
          <p:cNvPr name="TextBox 12" id="12"/>
          <p:cNvSpPr txBox="true"/>
          <p:nvPr/>
        </p:nvSpPr>
        <p:spPr>
          <a:xfrm rot="0">
            <a:off x="11301984" y="2185035"/>
            <a:ext cx="6071616" cy="375285"/>
          </a:xfrm>
          <a:prstGeom prst="rect">
            <a:avLst/>
          </a:prstGeom>
        </p:spPr>
        <p:txBody>
          <a:bodyPr anchor="t" rtlCol="false" tIns="0" lIns="0" bIns="0" rIns="0">
            <a:spAutoFit/>
          </a:bodyPr>
          <a:lstStyle/>
          <a:p>
            <a:pPr algn="ctr">
              <a:lnSpc>
                <a:spcPts val="1800"/>
              </a:lnSpc>
            </a:pPr>
            <a:r>
              <a:rPr lang="en-US" b="true" sz="1500" spc="300">
                <a:solidFill>
                  <a:srgbClr val="8B7355"/>
                </a:solidFill>
                <a:latin typeface="DM Sans Bold"/>
                <a:ea typeface="DM Sans Bold"/>
                <a:cs typeface="DM Sans Bold"/>
                <a:sym typeface="DM Sans Bold"/>
              </a:rPr>
              <a:t>FEEDFORWARD PINN ARCHITECTURE</a:t>
            </a:r>
          </a:p>
        </p:txBody>
      </p:sp>
      <p:grpSp>
        <p:nvGrpSpPr>
          <p:cNvPr name="Group 13" id="13"/>
          <p:cNvGrpSpPr/>
          <p:nvPr/>
        </p:nvGrpSpPr>
        <p:grpSpPr>
          <a:xfrm rot="0">
            <a:off x="12002519" y="2620775"/>
            <a:ext cx="4670555" cy="647195"/>
            <a:chOff x="0" y="0"/>
            <a:chExt cx="6227407" cy="862927"/>
          </a:xfrm>
        </p:grpSpPr>
        <p:sp>
          <p:nvSpPr>
            <p:cNvPr name="Freeform 14" id="14"/>
            <p:cNvSpPr/>
            <p:nvPr/>
          </p:nvSpPr>
          <p:spPr>
            <a:xfrm flipH="false" flipV="false" rot="0">
              <a:off x="0" y="0"/>
              <a:ext cx="6227318" cy="862838"/>
            </a:xfrm>
            <a:custGeom>
              <a:avLst/>
              <a:gdLst/>
              <a:ahLst/>
              <a:cxnLst/>
              <a:rect r="r" b="b" t="t" l="l"/>
              <a:pathLst>
                <a:path h="862838" w="6227318">
                  <a:moveTo>
                    <a:pt x="0" y="126873"/>
                  </a:moveTo>
                  <a:cubicBezTo>
                    <a:pt x="0" y="56769"/>
                    <a:pt x="56769" y="0"/>
                    <a:pt x="126873" y="0"/>
                  </a:cubicBezTo>
                  <a:lnTo>
                    <a:pt x="6100445" y="0"/>
                  </a:lnTo>
                  <a:cubicBezTo>
                    <a:pt x="6170549" y="0"/>
                    <a:pt x="6227318" y="56769"/>
                    <a:pt x="6227318" y="126873"/>
                  </a:cubicBezTo>
                  <a:lnTo>
                    <a:pt x="6227318" y="735965"/>
                  </a:lnTo>
                  <a:cubicBezTo>
                    <a:pt x="6227318" y="806069"/>
                    <a:pt x="6170549" y="862838"/>
                    <a:pt x="6100445" y="862838"/>
                  </a:cubicBezTo>
                  <a:lnTo>
                    <a:pt x="126873" y="862838"/>
                  </a:lnTo>
                  <a:cubicBezTo>
                    <a:pt x="56769" y="862965"/>
                    <a:pt x="0" y="806069"/>
                    <a:pt x="0" y="735965"/>
                  </a:cubicBezTo>
                  <a:close/>
                </a:path>
              </a:pathLst>
            </a:custGeom>
            <a:solidFill>
              <a:srgbClr val="2A1F18"/>
            </a:solidFill>
            <a:ln w="22860" cap="sq">
              <a:solidFill>
                <a:srgbClr val="2A1F18"/>
              </a:solidFill>
              <a:prstDash val="solid"/>
              <a:miter/>
            </a:ln>
          </p:spPr>
        </p:sp>
      </p:grpSp>
      <p:grpSp>
        <p:nvGrpSpPr>
          <p:cNvPr name="Group 15" id="15"/>
          <p:cNvGrpSpPr/>
          <p:nvPr/>
        </p:nvGrpSpPr>
        <p:grpSpPr>
          <a:xfrm rot="0">
            <a:off x="12198096" y="2633472"/>
            <a:ext cx="4279392" cy="621792"/>
            <a:chOff x="0" y="0"/>
            <a:chExt cx="5705856" cy="829056"/>
          </a:xfrm>
        </p:grpSpPr>
        <p:sp>
          <p:nvSpPr>
            <p:cNvPr name="Freeform 16" id="16"/>
            <p:cNvSpPr/>
            <p:nvPr/>
          </p:nvSpPr>
          <p:spPr>
            <a:xfrm flipH="false" flipV="false" rot="0">
              <a:off x="0" y="0"/>
              <a:ext cx="5705856" cy="829056"/>
            </a:xfrm>
            <a:custGeom>
              <a:avLst/>
              <a:gdLst/>
              <a:ahLst/>
              <a:cxnLst/>
              <a:rect r="r" b="b" t="t" l="l"/>
              <a:pathLst>
                <a:path h="829056" w="5705856">
                  <a:moveTo>
                    <a:pt x="0" y="0"/>
                  </a:moveTo>
                  <a:lnTo>
                    <a:pt x="5705856" y="0"/>
                  </a:lnTo>
                  <a:lnTo>
                    <a:pt x="5705856" y="829056"/>
                  </a:lnTo>
                  <a:lnTo>
                    <a:pt x="0" y="829056"/>
                  </a:lnTo>
                  <a:close/>
                </a:path>
              </a:pathLst>
            </a:custGeom>
            <a:blipFill>
              <a:blip r:embed="rId2">
                <a:alphaModFix amt="0"/>
              </a:blip>
              <a:stretch>
                <a:fillRect l="0" t="-84102" r="0" b="-84102"/>
              </a:stretch>
            </a:blipFill>
          </p:spPr>
        </p:sp>
        <p:sp>
          <p:nvSpPr>
            <p:cNvPr name="TextBox 17" id="17"/>
            <p:cNvSpPr txBox="true"/>
            <p:nvPr/>
          </p:nvSpPr>
          <p:spPr>
            <a:xfrm>
              <a:off x="0" y="-9525"/>
              <a:ext cx="5705856" cy="838581"/>
            </a:xfrm>
            <a:prstGeom prst="rect">
              <a:avLst/>
            </a:prstGeom>
          </p:spPr>
          <p:txBody>
            <a:bodyPr anchor="ctr" rtlCol="false" tIns="0" lIns="0" bIns="0" rIns="0"/>
            <a:lstStyle/>
            <a:p>
              <a:pPr algn="ctr">
                <a:lnSpc>
                  <a:spcPts val="2639"/>
                </a:lnSpc>
              </a:pPr>
              <a:r>
                <a:rPr lang="en-US" sz="2199" b="true">
                  <a:solidFill>
                    <a:srgbClr val="FFFFFF"/>
                  </a:solidFill>
                  <a:latin typeface="DM Sans Bold"/>
                  <a:ea typeface="DM Sans Bold"/>
                  <a:cs typeface="DM Sans Bold"/>
                  <a:sym typeface="DM Sans Bold"/>
                </a:rPr>
                <a:t>Input t ∈ [0, 1]</a:t>
              </a:r>
            </a:p>
          </p:txBody>
        </p:sp>
      </p:grpSp>
      <p:sp>
        <p:nvSpPr>
          <p:cNvPr name="AutoShape 18" id="18"/>
          <p:cNvSpPr/>
          <p:nvPr/>
        </p:nvSpPr>
        <p:spPr>
          <a:xfrm rot="5112840">
            <a:off x="14147521" y="3515678"/>
            <a:ext cx="380552" cy="0"/>
          </a:xfrm>
          <a:prstGeom prst="line">
            <a:avLst/>
          </a:prstGeom>
          <a:ln cap="rnd" w="9525">
            <a:solidFill>
              <a:srgbClr val="8B7355"/>
            </a:solidFill>
            <a:prstDash val="solid"/>
            <a:headEnd type="none" len="sm" w="sm"/>
            <a:tailEnd type="triangle" len="med" w="lg"/>
          </a:ln>
        </p:spPr>
      </p:sp>
      <p:grpSp>
        <p:nvGrpSpPr>
          <p:cNvPr name="Group 19" id="19"/>
          <p:cNvGrpSpPr/>
          <p:nvPr/>
        </p:nvGrpSpPr>
        <p:grpSpPr>
          <a:xfrm rot="0">
            <a:off x="12002519" y="3772919"/>
            <a:ext cx="4670555" cy="994667"/>
            <a:chOff x="0" y="0"/>
            <a:chExt cx="6227407" cy="1326223"/>
          </a:xfrm>
        </p:grpSpPr>
        <p:sp>
          <p:nvSpPr>
            <p:cNvPr name="Freeform 20" id="20"/>
            <p:cNvSpPr/>
            <p:nvPr/>
          </p:nvSpPr>
          <p:spPr>
            <a:xfrm flipH="false" flipV="false" rot="0">
              <a:off x="0" y="0"/>
              <a:ext cx="6227445" cy="1326261"/>
            </a:xfrm>
            <a:custGeom>
              <a:avLst/>
              <a:gdLst/>
              <a:ahLst/>
              <a:cxnLst/>
              <a:rect r="r" b="b" t="t" l="l"/>
              <a:pathLst>
                <a:path h="1326261" w="6227445">
                  <a:moveTo>
                    <a:pt x="0" y="125095"/>
                  </a:moveTo>
                  <a:cubicBezTo>
                    <a:pt x="0" y="56007"/>
                    <a:pt x="56007" y="0"/>
                    <a:pt x="125095" y="0"/>
                  </a:cubicBezTo>
                  <a:lnTo>
                    <a:pt x="6102350" y="0"/>
                  </a:lnTo>
                  <a:cubicBezTo>
                    <a:pt x="6171438" y="0"/>
                    <a:pt x="6227445" y="56007"/>
                    <a:pt x="6227445" y="125095"/>
                  </a:cubicBezTo>
                  <a:lnTo>
                    <a:pt x="6227445" y="1201166"/>
                  </a:lnTo>
                  <a:cubicBezTo>
                    <a:pt x="6227445" y="1270254"/>
                    <a:pt x="6171438" y="1326261"/>
                    <a:pt x="6102350" y="1326261"/>
                  </a:cubicBezTo>
                  <a:lnTo>
                    <a:pt x="125095" y="1326261"/>
                  </a:lnTo>
                  <a:cubicBezTo>
                    <a:pt x="56007" y="1326261"/>
                    <a:pt x="0" y="1270254"/>
                    <a:pt x="0" y="1201166"/>
                  </a:cubicBezTo>
                  <a:close/>
                </a:path>
              </a:pathLst>
            </a:custGeom>
            <a:solidFill>
              <a:srgbClr val="FFFFFF"/>
            </a:solidFill>
            <a:ln w="22860" cap="sq">
              <a:solidFill>
                <a:srgbClr val="FFFFFF"/>
              </a:solidFill>
              <a:prstDash val="solid"/>
              <a:miter/>
            </a:ln>
          </p:spPr>
        </p:sp>
      </p:grpSp>
      <p:grpSp>
        <p:nvGrpSpPr>
          <p:cNvPr name="Group 21" id="21"/>
          <p:cNvGrpSpPr/>
          <p:nvPr/>
        </p:nvGrpSpPr>
        <p:grpSpPr>
          <a:xfrm rot="0">
            <a:off x="12198096" y="3785616"/>
            <a:ext cx="4279392" cy="969264"/>
            <a:chOff x="0" y="0"/>
            <a:chExt cx="5705856" cy="1292352"/>
          </a:xfrm>
        </p:grpSpPr>
        <p:sp>
          <p:nvSpPr>
            <p:cNvPr name="Freeform 22" id="22"/>
            <p:cNvSpPr/>
            <p:nvPr/>
          </p:nvSpPr>
          <p:spPr>
            <a:xfrm flipH="false" flipV="false" rot="0">
              <a:off x="0" y="0"/>
              <a:ext cx="5705856" cy="1292352"/>
            </a:xfrm>
            <a:custGeom>
              <a:avLst/>
              <a:gdLst/>
              <a:ahLst/>
              <a:cxnLst/>
              <a:rect r="r" b="b" t="t" l="l"/>
              <a:pathLst>
                <a:path h="1292352" w="5705856">
                  <a:moveTo>
                    <a:pt x="0" y="0"/>
                  </a:moveTo>
                  <a:lnTo>
                    <a:pt x="5705856" y="0"/>
                  </a:lnTo>
                  <a:lnTo>
                    <a:pt x="5705856" y="1292352"/>
                  </a:lnTo>
                  <a:lnTo>
                    <a:pt x="0" y="1292352"/>
                  </a:lnTo>
                  <a:close/>
                </a:path>
              </a:pathLst>
            </a:custGeom>
            <a:blipFill>
              <a:blip r:embed="rId2">
                <a:alphaModFix amt="0"/>
              </a:blip>
              <a:stretch>
                <a:fillRect l="0" t="-36028" r="0" b="-36028"/>
              </a:stretch>
            </a:blipFill>
          </p:spPr>
        </p:sp>
        <p:sp>
          <p:nvSpPr>
            <p:cNvPr name="TextBox 23" id="23"/>
            <p:cNvSpPr txBox="true"/>
            <p:nvPr/>
          </p:nvSpPr>
          <p:spPr>
            <a:xfrm>
              <a:off x="0" y="0"/>
              <a:ext cx="5705856" cy="1292352"/>
            </a:xfrm>
            <a:prstGeom prst="rect">
              <a:avLst/>
            </a:prstGeom>
          </p:spPr>
          <p:txBody>
            <a:bodyPr anchor="ctr" rtlCol="false" tIns="0" lIns="0" bIns="0" rIns="0"/>
            <a:lstStyle/>
            <a:p>
              <a:pPr algn="ctr">
                <a:lnSpc>
                  <a:spcPts val="2279"/>
                </a:lnSpc>
              </a:pPr>
              <a:r>
                <a:rPr lang="en-US" sz="1899" b="true">
                  <a:solidFill>
                    <a:srgbClr val="2A1F18"/>
                  </a:solidFill>
                  <a:latin typeface="DM Sans Bold"/>
                  <a:ea typeface="DM Sans Bold"/>
                  <a:cs typeface="DM Sans Bold"/>
                  <a:sym typeface="DM Sans Bold"/>
                </a:rPr>
                <a:t>Hidden Layer 1: 20 neurons — tanh</a:t>
              </a:r>
            </a:p>
          </p:txBody>
        </p:sp>
      </p:grpSp>
      <p:sp>
        <p:nvSpPr>
          <p:cNvPr name="AutoShape 24" id="24"/>
          <p:cNvSpPr/>
          <p:nvPr/>
        </p:nvSpPr>
        <p:spPr>
          <a:xfrm rot="5112840">
            <a:off x="14147521" y="5015294"/>
            <a:ext cx="380552" cy="0"/>
          </a:xfrm>
          <a:prstGeom prst="line">
            <a:avLst/>
          </a:prstGeom>
          <a:ln cap="rnd" w="9525">
            <a:solidFill>
              <a:srgbClr val="8B7355"/>
            </a:solidFill>
            <a:prstDash val="solid"/>
            <a:headEnd type="none" len="sm" w="sm"/>
            <a:tailEnd type="triangle" len="med" w="lg"/>
          </a:ln>
        </p:spPr>
      </p:sp>
      <p:grpSp>
        <p:nvGrpSpPr>
          <p:cNvPr name="Group 25" id="25"/>
          <p:cNvGrpSpPr/>
          <p:nvPr/>
        </p:nvGrpSpPr>
        <p:grpSpPr>
          <a:xfrm rot="0">
            <a:off x="12002519" y="5272535"/>
            <a:ext cx="4670555" cy="994667"/>
            <a:chOff x="0" y="0"/>
            <a:chExt cx="6227407" cy="1326223"/>
          </a:xfrm>
        </p:grpSpPr>
        <p:sp>
          <p:nvSpPr>
            <p:cNvPr name="Freeform 26" id="26"/>
            <p:cNvSpPr/>
            <p:nvPr/>
          </p:nvSpPr>
          <p:spPr>
            <a:xfrm flipH="false" flipV="false" rot="0">
              <a:off x="0" y="0"/>
              <a:ext cx="6227445" cy="1326261"/>
            </a:xfrm>
            <a:custGeom>
              <a:avLst/>
              <a:gdLst/>
              <a:ahLst/>
              <a:cxnLst/>
              <a:rect r="r" b="b" t="t" l="l"/>
              <a:pathLst>
                <a:path h="1326261" w="6227445">
                  <a:moveTo>
                    <a:pt x="0" y="125095"/>
                  </a:moveTo>
                  <a:cubicBezTo>
                    <a:pt x="0" y="56007"/>
                    <a:pt x="56007" y="0"/>
                    <a:pt x="125095" y="0"/>
                  </a:cubicBezTo>
                  <a:lnTo>
                    <a:pt x="6102350" y="0"/>
                  </a:lnTo>
                  <a:cubicBezTo>
                    <a:pt x="6171438" y="0"/>
                    <a:pt x="6227445" y="56007"/>
                    <a:pt x="6227445" y="125095"/>
                  </a:cubicBezTo>
                  <a:lnTo>
                    <a:pt x="6227445" y="1201166"/>
                  </a:lnTo>
                  <a:cubicBezTo>
                    <a:pt x="6227445" y="1270254"/>
                    <a:pt x="6171438" y="1326261"/>
                    <a:pt x="6102350" y="1326261"/>
                  </a:cubicBezTo>
                  <a:lnTo>
                    <a:pt x="125095" y="1326261"/>
                  </a:lnTo>
                  <a:cubicBezTo>
                    <a:pt x="56007" y="1326261"/>
                    <a:pt x="0" y="1270254"/>
                    <a:pt x="0" y="1201166"/>
                  </a:cubicBezTo>
                  <a:close/>
                </a:path>
              </a:pathLst>
            </a:custGeom>
            <a:solidFill>
              <a:srgbClr val="FFFFFF"/>
            </a:solidFill>
            <a:ln w="22860" cap="sq">
              <a:solidFill>
                <a:srgbClr val="FFFFFF"/>
              </a:solidFill>
              <a:prstDash val="solid"/>
              <a:miter/>
            </a:ln>
          </p:spPr>
        </p:sp>
      </p:grpSp>
      <p:grpSp>
        <p:nvGrpSpPr>
          <p:cNvPr name="Group 27" id="27"/>
          <p:cNvGrpSpPr/>
          <p:nvPr/>
        </p:nvGrpSpPr>
        <p:grpSpPr>
          <a:xfrm rot="0">
            <a:off x="12198096" y="5285232"/>
            <a:ext cx="4279392" cy="969264"/>
            <a:chOff x="0" y="0"/>
            <a:chExt cx="5705856" cy="1292352"/>
          </a:xfrm>
        </p:grpSpPr>
        <p:sp>
          <p:nvSpPr>
            <p:cNvPr name="Freeform 28" id="28"/>
            <p:cNvSpPr/>
            <p:nvPr/>
          </p:nvSpPr>
          <p:spPr>
            <a:xfrm flipH="false" flipV="false" rot="0">
              <a:off x="0" y="0"/>
              <a:ext cx="5705856" cy="1292352"/>
            </a:xfrm>
            <a:custGeom>
              <a:avLst/>
              <a:gdLst/>
              <a:ahLst/>
              <a:cxnLst/>
              <a:rect r="r" b="b" t="t" l="l"/>
              <a:pathLst>
                <a:path h="1292352" w="5705856">
                  <a:moveTo>
                    <a:pt x="0" y="0"/>
                  </a:moveTo>
                  <a:lnTo>
                    <a:pt x="5705856" y="0"/>
                  </a:lnTo>
                  <a:lnTo>
                    <a:pt x="5705856" y="1292352"/>
                  </a:lnTo>
                  <a:lnTo>
                    <a:pt x="0" y="1292352"/>
                  </a:lnTo>
                  <a:close/>
                </a:path>
              </a:pathLst>
            </a:custGeom>
            <a:blipFill>
              <a:blip r:embed="rId2">
                <a:alphaModFix amt="0"/>
              </a:blip>
              <a:stretch>
                <a:fillRect l="0" t="-36028" r="0" b="-36028"/>
              </a:stretch>
            </a:blipFill>
          </p:spPr>
        </p:sp>
        <p:sp>
          <p:nvSpPr>
            <p:cNvPr name="TextBox 29" id="29"/>
            <p:cNvSpPr txBox="true"/>
            <p:nvPr/>
          </p:nvSpPr>
          <p:spPr>
            <a:xfrm>
              <a:off x="0" y="0"/>
              <a:ext cx="5705856" cy="1292352"/>
            </a:xfrm>
            <a:prstGeom prst="rect">
              <a:avLst/>
            </a:prstGeom>
          </p:spPr>
          <p:txBody>
            <a:bodyPr anchor="ctr" rtlCol="false" tIns="0" lIns="0" bIns="0" rIns="0"/>
            <a:lstStyle/>
            <a:p>
              <a:pPr algn="ctr">
                <a:lnSpc>
                  <a:spcPts val="2279"/>
                </a:lnSpc>
              </a:pPr>
              <a:r>
                <a:rPr lang="en-US" sz="1899" b="true">
                  <a:solidFill>
                    <a:srgbClr val="2A1F18"/>
                  </a:solidFill>
                  <a:latin typeface="DM Sans Bold"/>
                  <a:ea typeface="DM Sans Bold"/>
                  <a:cs typeface="DM Sans Bold"/>
                  <a:sym typeface="DM Sans Bold"/>
                </a:rPr>
                <a:t>Hidden Layer 2: 20 neurons — tanh</a:t>
              </a:r>
            </a:p>
          </p:txBody>
        </p:sp>
      </p:grpSp>
      <p:sp>
        <p:nvSpPr>
          <p:cNvPr name="AutoShape 30" id="30"/>
          <p:cNvSpPr/>
          <p:nvPr/>
        </p:nvSpPr>
        <p:spPr>
          <a:xfrm rot="5112840">
            <a:off x="14147521" y="6514910"/>
            <a:ext cx="380552" cy="0"/>
          </a:xfrm>
          <a:prstGeom prst="line">
            <a:avLst/>
          </a:prstGeom>
          <a:ln cap="rnd" w="9525">
            <a:solidFill>
              <a:srgbClr val="8B7355"/>
            </a:solidFill>
            <a:prstDash val="solid"/>
            <a:headEnd type="none" len="sm" w="sm"/>
            <a:tailEnd type="triangle" len="med" w="lg"/>
          </a:ln>
        </p:spPr>
      </p:sp>
      <p:grpSp>
        <p:nvGrpSpPr>
          <p:cNvPr name="Group 31" id="31"/>
          <p:cNvGrpSpPr/>
          <p:nvPr/>
        </p:nvGrpSpPr>
        <p:grpSpPr>
          <a:xfrm rot="0">
            <a:off x="12002519" y="6772151"/>
            <a:ext cx="4670555" cy="994667"/>
            <a:chOff x="0" y="0"/>
            <a:chExt cx="6227407" cy="1326223"/>
          </a:xfrm>
        </p:grpSpPr>
        <p:sp>
          <p:nvSpPr>
            <p:cNvPr name="Freeform 32" id="32"/>
            <p:cNvSpPr/>
            <p:nvPr/>
          </p:nvSpPr>
          <p:spPr>
            <a:xfrm flipH="false" flipV="false" rot="0">
              <a:off x="0" y="0"/>
              <a:ext cx="6227445" cy="1326261"/>
            </a:xfrm>
            <a:custGeom>
              <a:avLst/>
              <a:gdLst/>
              <a:ahLst/>
              <a:cxnLst/>
              <a:rect r="r" b="b" t="t" l="l"/>
              <a:pathLst>
                <a:path h="1326261" w="6227445">
                  <a:moveTo>
                    <a:pt x="0" y="125095"/>
                  </a:moveTo>
                  <a:cubicBezTo>
                    <a:pt x="0" y="56007"/>
                    <a:pt x="56007" y="0"/>
                    <a:pt x="125095" y="0"/>
                  </a:cubicBezTo>
                  <a:lnTo>
                    <a:pt x="6102350" y="0"/>
                  </a:lnTo>
                  <a:cubicBezTo>
                    <a:pt x="6171438" y="0"/>
                    <a:pt x="6227445" y="56007"/>
                    <a:pt x="6227445" y="125095"/>
                  </a:cubicBezTo>
                  <a:lnTo>
                    <a:pt x="6227445" y="1201166"/>
                  </a:lnTo>
                  <a:cubicBezTo>
                    <a:pt x="6227445" y="1270254"/>
                    <a:pt x="6171438" y="1326261"/>
                    <a:pt x="6102350" y="1326261"/>
                  </a:cubicBezTo>
                  <a:lnTo>
                    <a:pt x="125095" y="1326261"/>
                  </a:lnTo>
                  <a:cubicBezTo>
                    <a:pt x="56007" y="1326261"/>
                    <a:pt x="0" y="1270254"/>
                    <a:pt x="0" y="1201166"/>
                  </a:cubicBezTo>
                  <a:close/>
                </a:path>
              </a:pathLst>
            </a:custGeom>
            <a:solidFill>
              <a:srgbClr val="FFFFFF"/>
            </a:solidFill>
            <a:ln w="22860" cap="sq">
              <a:solidFill>
                <a:srgbClr val="FFFFFF"/>
              </a:solidFill>
              <a:prstDash val="solid"/>
              <a:miter/>
            </a:ln>
          </p:spPr>
        </p:sp>
      </p:grpSp>
      <p:grpSp>
        <p:nvGrpSpPr>
          <p:cNvPr name="Group 33" id="33"/>
          <p:cNvGrpSpPr/>
          <p:nvPr/>
        </p:nvGrpSpPr>
        <p:grpSpPr>
          <a:xfrm rot="0">
            <a:off x="12198096" y="6784848"/>
            <a:ext cx="4279392" cy="969264"/>
            <a:chOff x="0" y="0"/>
            <a:chExt cx="5705856" cy="1292352"/>
          </a:xfrm>
        </p:grpSpPr>
        <p:sp>
          <p:nvSpPr>
            <p:cNvPr name="Freeform 34" id="34"/>
            <p:cNvSpPr/>
            <p:nvPr/>
          </p:nvSpPr>
          <p:spPr>
            <a:xfrm flipH="false" flipV="false" rot="0">
              <a:off x="0" y="0"/>
              <a:ext cx="5705856" cy="1292352"/>
            </a:xfrm>
            <a:custGeom>
              <a:avLst/>
              <a:gdLst/>
              <a:ahLst/>
              <a:cxnLst/>
              <a:rect r="r" b="b" t="t" l="l"/>
              <a:pathLst>
                <a:path h="1292352" w="5705856">
                  <a:moveTo>
                    <a:pt x="0" y="0"/>
                  </a:moveTo>
                  <a:lnTo>
                    <a:pt x="5705856" y="0"/>
                  </a:lnTo>
                  <a:lnTo>
                    <a:pt x="5705856" y="1292352"/>
                  </a:lnTo>
                  <a:lnTo>
                    <a:pt x="0" y="1292352"/>
                  </a:lnTo>
                  <a:close/>
                </a:path>
              </a:pathLst>
            </a:custGeom>
            <a:blipFill>
              <a:blip r:embed="rId2">
                <a:alphaModFix amt="0"/>
              </a:blip>
              <a:stretch>
                <a:fillRect l="0" t="-36028" r="0" b="-36028"/>
              </a:stretch>
            </a:blipFill>
          </p:spPr>
        </p:sp>
        <p:sp>
          <p:nvSpPr>
            <p:cNvPr name="TextBox 35" id="35"/>
            <p:cNvSpPr txBox="true"/>
            <p:nvPr/>
          </p:nvSpPr>
          <p:spPr>
            <a:xfrm>
              <a:off x="0" y="0"/>
              <a:ext cx="5705856" cy="1292352"/>
            </a:xfrm>
            <a:prstGeom prst="rect">
              <a:avLst/>
            </a:prstGeom>
          </p:spPr>
          <p:txBody>
            <a:bodyPr anchor="ctr" rtlCol="false" tIns="0" lIns="0" bIns="0" rIns="0"/>
            <a:lstStyle/>
            <a:p>
              <a:pPr algn="ctr">
                <a:lnSpc>
                  <a:spcPts val="2279"/>
                </a:lnSpc>
              </a:pPr>
              <a:r>
                <a:rPr lang="en-US" sz="1899" b="true">
                  <a:solidFill>
                    <a:srgbClr val="2A1F18"/>
                  </a:solidFill>
                  <a:latin typeface="DM Sans Bold"/>
                  <a:ea typeface="DM Sans Bold"/>
                  <a:cs typeface="DM Sans Bold"/>
                  <a:sym typeface="DM Sans Bold"/>
                </a:rPr>
                <a:t>Hidden Layer 3: 20 neurons — tanh</a:t>
              </a:r>
            </a:p>
          </p:txBody>
        </p:sp>
      </p:grpSp>
      <p:sp>
        <p:nvSpPr>
          <p:cNvPr name="AutoShape 36" id="36"/>
          <p:cNvSpPr/>
          <p:nvPr/>
        </p:nvSpPr>
        <p:spPr>
          <a:xfrm rot="5112840">
            <a:off x="14147521" y="8014526"/>
            <a:ext cx="380552" cy="0"/>
          </a:xfrm>
          <a:prstGeom prst="line">
            <a:avLst/>
          </a:prstGeom>
          <a:ln cap="rnd" w="9525">
            <a:solidFill>
              <a:srgbClr val="8B7355"/>
            </a:solidFill>
            <a:prstDash val="solid"/>
            <a:headEnd type="none" len="sm" w="sm"/>
            <a:tailEnd type="triangle" len="med" w="lg"/>
          </a:ln>
        </p:spPr>
      </p:sp>
      <p:grpSp>
        <p:nvGrpSpPr>
          <p:cNvPr name="Group 37" id="37"/>
          <p:cNvGrpSpPr/>
          <p:nvPr/>
        </p:nvGrpSpPr>
        <p:grpSpPr>
          <a:xfrm rot="0">
            <a:off x="12002519" y="8271767"/>
            <a:ext cx="4670555" cy="702059"/>
            <a:chOff x="0" y="0"/>
            <a:chExt cx="6227407" cy="936079"/>
          </a:xfrm>
        </p:grpSpPr>
        <p:sp>
          <p:nvSpPr>
            <p:cNvPr name="Freeform 38" id="38"/>
            <p:cNvSpPr/>
            <p:nvPr/>
          </p:nvSpPr>
          <p:spPr>
            <a:xfrm flipH="false" flipV="false" rot="0">
              <a:off x="0" y="0"/>
              <a:ext cx="6227445" cy="936117"/>
            </a:xfrm>
            <a:custGeom>
              <a:avLst/>
              <a:gdLst/>
              <a:ahLst/>
              <a:cxnLst/>
              <a:rect r="r" b="b" t="t" l="l"/>
              <a:pathLst>
                <a:path h="936117" w="6227445">
                  <a:moveTo>
                    <a:pt x="0" y="126492"/>
                  </a:moveTo>
                  <a:cubicBezTo>
                    <a:pt x="0" y="56642"/>
                    <a:pt x="56642" y="0"/>
                    <a:pt x="126492" y="0"/>
                  </a:cubicBezTo>
                  <a:lnTo>
                    <a:pt x="6100953" y="0"/>
                  </a:lnTo>
                  <a:cubicBezTo>
                    <a:pt x="6170803" y="0"/>
                    <a:pt x="6227445" y="56642"/>
                    <a:pt x="6227445" y="126492"/>
                  </a:cubicBezTo>
                  <a:lnTo>
                    <a:pt x="6227445" y="809625"/>
                  </a:lnTo>
                  <a:cubicBezTo>
                    <a:pt x="6227445" y="879475"/>
                    <a:pt x="6170803" y="936117"/>
                    <a:pt x="6100953" y="936117"/>
                  </a:cubicBezTo>
                  <a:lnTo>
                    <a:pt x="126492" y="936117"/>
                  </a:lnTo>
                  <a:cubicBezTo>
                    <a:pt x="56642" y="936117"/>
                    <a:pt x="0" y="879475"/>
                    <a:pt x="0" y="809625"/>
                  </a:cubicBezTo>
                  <a:close/>
                </a:path>
              </a:pathLst>
            </a:custGeom>
            <a:solidFill>
              <a:srgbClr val="5EA3F8"/>
            </a:solidFill>
            <a:ln w="22860" cap="sq">
              <a:solidFill>
                <a:srgbClr val="8B7355"/>
              </a:solidFill>
              <a:prstDash val="solid"/>
              <a:miter/>
            </a:ln>
          </p:spPr>
        </p:sp>
      </p:grpSp>
      <p:grpSp>
        <p:nvGrpSpPr>
          <p:cNvPr name="Group 39" id="39"/>
          <p:cNvGrpSpPr/>
          <p:nvPr/>
        </p:nvGrpSpPr>
        <p:grpSpPr>
          <a:xfrm rot="0">
            <a:off x="12198096" y="8284464"/>
            <a:ext cx="4279392" cy="676656"/>
            <a:chOff x="0" y="0"/>
            <a:chExt cx="5705856" cy="902208"/>
          </a:xfrm>
        </p:grpSpPr>
        <p:sp>
          <p:nvSpPr>
            <p:cNvPr name="Freeform 40" id="40"/>
            <p:cNvSpPr/>
            <p:nvPr/>
          </p:nvSpPr>
          <p:spPr>
            <a:xfrm flipH="false" flipV="false" rot="0">
              <a:off x="0" y="0"/>
              <a:ext cx="5705856" cy="902208"/>
            </a:xfrm>
            <a:custGeom>
              <a:avLst/>
              <a:gdLst/>
              <a:ahLst/>
              <a:cxnLst/>
              <a:rect r="r" b="b" t="t" l="l"/>
              <a:pathLst>
                <a:path h="902208" w="5705856">
                  <a:moveTo>
                    <a:pt x="0" y="0"/>
                  </a:moveTo>
                  <a:lnTo>
                    <a:pt x="5705856" y="0"/>
                  </a:lnTo>
                  <a:lnTo>
                    <a:pt x="5705856" y="902208"/>
                  </a:lnTo>
                  <a:lnTo>
                    <a:pt x="0" y="902208"/>
                  </a:lnTo>
                  <a:close/>
                </a:path>
              </a:pathLst>
            </a:custGeom>
            <a:blipFill>
              <a:blip r:embed="rId2">
                <a:alphaModFix amt="0"/>
              </a:blip>
              <a:stretch>
                <a:fillRect l="0" t="-73229" r="0" b="-73229"/>
              </a:stretch>
            </a:blipFill>
          </p:spPr>
        </p:sp>
        <p:sp>
          <p:nvSpPr>
            <p:cNvPr name="TextBox 41" id="41"/>
            <p:cNvSpPr txBox="true"/>
            <p:nvPr/>
          </p:nvSpPr>
          <p:spPr>
            <a:xfrm>
              <a:off x="0" y="-9525"/>
              <a:ext cx="5705856" cy="911733"/>
            </a:xfrm>
            <a:prstGeom prst="rect">
              <a:avLst/>
            </a:prstGeom>
          </p:spPr>
          <p:txBody>
            <a:bodyPr anchor="ctr" rtlCol="false" tIns="0" lIns="0" bIns="0" rIns="0"/>
            <a:lstStyle/>
            <a:p>
              <a:pPr algn="ctr">
                <a:lnSpc>
                  <a:spcPts val="2639"/>
                </a:lnSpc>
              </a:pPr>
              <a:r>
                <a:rPr lang="en-US" sz="2199" b="true">
                  <a:solidFill>
                    <a:srgbClr val="FFFFFF"/>
                  </a:solidFill>
                  <a:latin typeface="DM Sans Bold"/>
                  <a:ea typeface="DM Sans Bold"/>
                  <a:cs typeface="DM Sans Bold"/>
                  <a:sym typeface="DM Sans Bold"/>
                </a:rPr>
                <a:t>Output ŷNN(t; Θ)</a:t>
              </a:r>
            </a:p>
          </p:txBody>
        </p:sp>
      </p:grpSp>
    </p:spTree>
  </p:cSld>
  <p:clrMapOvr>
    <a:masterClrMapping/>
  </p:clrMapOvr>
  <p:transition spd="slow">
    <p:cover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615101" y="-820709"/>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06125" y="280677"/>
            <a:ext cx="14890821" cy="614344"/>
          </a:xfrm>
          <a:prstGeom prst="rect">
            <a:avLst/>
          </a:prstGeom>
        </p:spPr>
        <p:txBody>
          <a:bodyPr anchor="t" rtlCol="false" tIns="0" lIns="0" bIns="0" rIns="0">
            <a:spAutoFit/>
          </a:bodyPr>
          <a:lstStyle/>
          <a:p>
            <a:pPr algn="ctr">
              <a:lnSpc>
                <a:spcPts val="5116"/>
              </a:lnSpc>
              <a:spcBef>
                <a:spcPct val="0"/>
              </a:spcBef>
            </a:pPr>
            <a:r>
              <a:rPr lang="en-US" b="true" sz="3654">
                <a:solidFill>
                  <a:srgbClr val="000000"/>
                </a:solidFill>
                <a:latin typeface="Open Sans Bold"/>
                <a:ea typeface="Open Sans Bold"/>
                <a:cs typeface="Open Sans Bold"/>
                <a:sym typeface="Open Sans Bold"/>
              </a:rPr>
              <a:t>Methodology and Data collection and preparation </a:t>
            </a:r>
          </a:p>
        </p:txBody>
      </p:sp>
      <p:grpSp>
        <p:nvGrpSpPr>
          <p:cNvPr name="Group 4" id="4"/>
          <p:cNvGrpSpPr/>
          <p:nvPr/>
        </p:nvGrpSpPr>
        <p:grpSpPr>
          <a:xfrm rot="0">
            <a:off x="694490" y="1515741"/>
            <a:ext cx="8004357" cy="784240"/>
            <a:chOff x="0" y="0"/>
            <a:chExt cx="2108143" cy="206549"/>
          </a:xfrm>
        </p:grpSpPr>
        <p:sp>
          <p:nvSpPr>
            <p:cNvPr name="Freeform 5" id="5"/>
            <p:cNvSpPr/>
            <p:nvPr/>
          </p:nvSpPr>
          <p:spPr>
            <a:xfrm flipH="false" flipV="false" rot="0">
              <a:off x="0" y="0"/>
              <a:ext cx="2108143" cy="206549"/>
            </a:xfrm>
            <a:custGeom>
              <a:avLst/>
              <a:gdLst/>
              <a:ahLst/>
              <a:cxnLst/>
              <a:rect r="r" b="b" t="t" l="l"/>
              <a:pathLst>
                <a:path h="206549" w="2108143">
                  <a:moveTo>
                    <a:pt x="19344" y="0"/>
                  </a:moveTo>
                  <a:lnTo>
                    <a:pt x="2088799" y="0"/>
                  </a:lnTo>
                  <a:cubicBezTo>
                    <a:pt x="2099483" y="0"/>
                    <a:pt x="2108143" y="8661"/>
                    <a:pt x="2108143" y="19344"/>
                  </a:cubicBezTo>
                  <a:lnTo>
                    <a:pt x="2108143" y="187205"/>
                  </a:lnTo>
                  <a:cubicBezTo>
                    <a:pt x="2108143" y="197888"/>
                    <a:pt x="2099483" y="206549"/>
                    <a:pt x="2088799" y="206549"/>
                  </a:cubicBezTo>
                  <a:lnTo>
                    <a:pt x="19344" y="206549"/>
                  </a:lnTo>
                  <a:cubicBezTo>
                    <a:pt x="8661" y="206549"/>
                    <a:pt x="0" y="197888"/>
                    <a:pt x="0" y="187205"/>
                  </a:cubicBezTo>
                  <a:lnTo>
                    <a:pt x="0" y="19344"/>
                  </a:lnTo>
                  <a:cubicBezTo>
                    <a:pt x="0" y="8661"/>
                    <a:pt x="8661" y="0"/>
                    <a:pt x="19344" y="0"/>
                  </a:cubicBezTo>
                  <a:close/>
                </a:path>
              </a:pathLst>
            </a:custGeom>
            <a:solidFill>
              <a:srgbClr val="4A8681"/>
            </a:solidFill>
          </p:spPr>
        </p:sp>
        <p:sp>
          <p:nvSpPr>
            <p:cNvPr name="TextBox 6" id="6"/>
            <p:cNvSpPr txBox="true"/>
            <p:nvPr/>
          </p:nvSpPr>
          <p:spPr>
            <a:xfrm>
              <a:off x="0" y="-47625"/>
              <a:ext cx="2108143" cy="254174"/>
            </a:xfrm>
            <a:prstGeom prst="rect">
              <a:avLst/>
            </a:prstGeom>
          </p:spPr>
          <p:txBody>
            <a:bodyPr anchor="ctr" rtlCol="false" tIns="50800" lIns="50800" bIns="50800" rIns="50800"/>
            <a:lstStyle/>
            <a:p>
              <a:pPr algn="ctr">
                <a:lnSpc>
                  <a:spcPts val="3499"/>
                </a:lnSpc>
              </a:pPr>
              <a:r>
                <a:rPr lang="en-US" b="true" sz="2499">
                  <a:solidFill>
                    <a:srgbClr val="FFFFFF"/>
                  </a:solidFill>
                  <a:latin typeface="Open Sans Bold"/>
                  <a:ea typeface="Open Sans Bold"/>
                  <a:cs typeface="Open Sans Bold"/>
                  <a:sym typeface="Open Sans Bold"/>
                </a:rPr>
                <a:t>My Work</a:t>
              </a:r>
            </a:p>
          </p:txBody>
        </p:sp>
      </p:grpSp>
      <p:grpSp>
        <p:nvGrpSpPr>
          <p:cNvPr name="Group 7" id="7"/>
          <p:cNvGrpSpPr/>
          <p:nvPr/>
        </p:nvGrpSpPr>
        <p:grpSpPr>
          <a:xfrm rot="0">
            <a:off x="694490" y="2563742"/>
            <a:ext cx="8004357" cy="947504"/>
            <a:chOff x="0" y="0"/>
            <a:chExt cx="2108143" cy="249548"/>
          </a:xfrm>
        </p:grpSpPr>
        <p:sp>
          <p:nvSpPr>
            <p:cNvPr name="Freeform 8" id="8"/>
            <p:cNvSpPr/>
            <p:nvPr/>
          </p:nvSpPr>
          <p:spPr>
            <a:xfrm flipH="false" flipV="false" rot="0">
              <a:off x="0" y="0"/>
              <a:ext cx="2108143" cy="249548"/>
            </a:xfrm>
            <a:custGeom>
              <a:avLst/>
              <a:gdLst/>
              <a:ahLst/>
              <a:cxnLst/>
              <a:rect r="r" b="b" t="t" l="l"/>
              <a:pathLst>
                <a:path h="249548" w="2108143">
                  <a:moveTo>
                    <a:pt x="19344" y="0"/>
                  </a:moveTo>
                  <a:lnTo>
                    <a:pt x="2088799" y="0"/>
                  </a:lnTo>
                  <a:cubicBezTo>
                    <a:pt x="2099483" y="0"/>
                    <a:pt x="2108143" y="8661"/>
                    <a:pt x="2108143" y="19344"/>
                  </a:cubicBezTo>
                  <a:lnTo>
                    <a:pt x="2108143" y="230204"/>
                  </a:lnTo>
                  <a:cubicBezTo>
                    <a:pt x="2108143" y="240888"/>
                    <a:pt x="2099483" y="249548"/>
                    <a:pt x="2088799" y="249548"/>
                  </a:cubicBezTo>
                  <a:lnTo>
                    <a:pt x="19344" y="249548"/>
                  </a:lnTo>
                  <a:cubicBezTo>
                    <a:pt x="8661" y="249548"/>
                    <a:pt x="0" y="240888"/>
                    <a:pt x="0" y="230204"/>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9" id="9"/>
            <p:cNvSpPr txBox="true"/>
            <p:nvPr/>
          </p:nvSpPr>
          <p:spPr>
            <a:xfrm>
              <a:off x="0" y="-47625"/>
              <a:ext cx="2108143" cy="297173"/>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4" action="ppaction://hlinksldjump"/>
                </a:rPr>
                <a:t>    Data</a:t>
              </a:r>
            </a:p>
            <a:p>
              <a:pPr algn="l">
                <a:lnSpc>
                  <a:spcPts val="2800"/>
                </a:lnSpc>
              </a:pPr>
              <a:r>
                <a:rPr lang="en-US" b="true" sz="2000">
                  <a:solidFill>
                    <a:srgbClr val="000000"/>
                  </a:solidFill>
                  <a:latin typeface="Open Sans Bold"/>
                  <a:ea typeface="Open Sans Bold"/>
                  <a:cs typeface="Open Sans Bold"/>
                  <a:sym typeface="Open Sans Bold"/>
                  <a:hlinkClick r:id="rId4" action="ppaction://hlinksldjump"/>
                </a:rPr>
                <a:t>    </a:t>
              </a:r>
              <a:r>
                <a:rPr lang="en-US" sz="2000">
                  <a:solidFill>
                    <a:srgbClr val="000000"/>
                  </a:solidFill>
                  <a:latin typeface="Open Sans"/>
                  <a:ea typeface="Open Sans"/>
                  <a:cs typeface="Open Sans"/>
                  <a:sym typeface="Open Sans"/>
                  <a:hlinkClick r:id="rId4" action="ppaction://hlinksldjump"/>
                </a:rPr>
                <a:t>Physics only (ODE + 3-point BC), no labelled data</a:t>
              </a:r>
            </a:p>
          </p:txBody>
        </p:sp>
      </p:grpSp>
      <p:grpSp>
        <p:nvGrpSpPr>
          <p:cNvPr name="Group 10" id="10"/>
          <p:cNvGrpSpPr/>
          <p:nvPr/>
        </p:nvGrpSpPr>
        <p:grpSpPr>
          <a:xfrm rot="0">
            <a:off x="694490" y="3777947"/>
            <a:ext cx="8004357" cy="950069"/>
            <a:chOff x="0" y="0"/>
            <a:chExt cx="2108143" cy="250224"/>
          </a:xfrm>
        </p:grpSpPr>
        <p:sp>
          <p:nvSpPr>
            <p:cNvPr name="Freeform 11" id="11"/>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12" id="12"/>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5" action="ppaction://hlinksldjump"/>
                </a:rPr>
                <a:t>    Collocation points</a:t>
              </a:r>
            </a:p>
            <a:p>
              <a:pPr algn="l">
                <a:lnSpc>
                  <a:spcPts val="2800"/>
                </a:lnSpc>
              </a:pPr>
              <a:r>
                <a:rPr lang="en-US" b="true" sz="2000">
                  <a:solidFill>
                    <a:srgbClr val="000000"/>
                  </a:solidFill>
                  <a:latin typeface="Open Sans Bold"/>
                  <a:ea typeface="Open Sans Bold"/>
                  <a:cs typeface="Open Sans Bold"/>
                  <a:sym typeface="Open Sans Bold"/>
                  <a:hlinkClick r:id="rId5" action="ppaction://hlinksldjump"/>
                </a:rPr>
                <a:t>   </a:t>
              </a:r>
              <a:r>
                <a:rPr lang="en-US" sz="2000">
                  <a:solidFill>
                    <a:srgbClr val="000000"/>
                  </a:solidFill>
                  <a:latin typeface="Open Sans"/>
                  <a:ea typeface="Open Sans"/>
                  <a:cs typeface="Open Sans"/>
                  <a:sym typeface="Open Sans"/>
                  <a:hlinkClick r:id="rId5" action="ppaction://hlinksldjump"/>
                </a:rPr>
                <a:t> 500 points, uniform in [0.001, 0.999]</a:t>
              </a:r>
            </a:p>
          </p:txBody>
        </p:sp>
      </p:grpSp>
      <p:grpSp>
        <p:nvGrpSpPr>
          <p:cNvPr name="Group 13" id="13"/>
          <p:cNvGrpSpPr/>
          <p:nvPr/>
        </p:nvGrpSpPr>
        <p:grpSpPr>
          <a:xfrm rot="0">
            <a:off x="694490" y="4994716"/>
            <a:ext cx="8004357" cy="975223"/>
            <a:chOff x="0" y="0"/>
            <a:chExt cx="2108143" cy="256849"/>
          </a:xfrm>
        </p:grpSpPr>
        <p:sp>
          <p:nvSpPr>
            <p:cNvPr name="Freeform 14" id="14"/>
            <p:cNvSpPr/>
            <p:nvPr/>
          </p:nvSpPr>
          <p:spPr>
            <a:xfrm flipH="false" flipV="false" rot="0">
              <a:off x="0" y="0"/>
              <a:ext cx="2108143" cy="256849"/>
            </a:xfrm>
            <a:custGeom>
              <a:avLst/>
              <a:gdLst/>
              <a:ahLst/>
              <a:cxnLst/>
              <a:rect r="r" b="b" t="t" l="l"/>
              <a:pathLst>
                <a:path h="256849" w="2108143">
                  <a:moveTo>
                    <a:pt x="19344" y="0"/>
                  </a:moveTo>
                  <a:lnTo>
                    <a:pt x="2088799" y="0"/>
                  </a:lnTo>
                  <a:cubicBezTo>
                    <a:pt x="2099483" y="0"/>
                    <a:pt x="2108143" y="8661"/>
                    <a:pt x="2108143" y="19344"/>
                  </a:cubicBezTo>
                  <a:lnTo>
                    <a:pt x="2108143" y="237505"/>
                  </a:lnTo>
                  <a:cubicBezTo>
                    <a:pt x="2108143" y="248188"/>
                    <a:pt x="2099483" y="256849"/>
                    <a:pt x="2088799" y="256849"/>
                  </a:cubicBezTo>
                  <a:lnTo>
                    <a:pt x="19344" y="256849"/>
                  </a:lnTo>
                  <a:cubicBezTo>
                    <a:pt x="8661" y="256849"/>
                    <a:pt x="0" y="248188"/>
                    <a:pt x="0" y="237505"/>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15" id="15"/>
            <p:cNvSpPr txBox="true"/>
            <p:nvPr/>
          </p:nvSpPr>
          <p:spPr>
            <a:xfrm>
              <a:off x="0" y="-47625"/>
              <a:ext cx="2108143" cy="304474"/>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6" action="ppaction://hlinksldjump"/>
                </a:rPr>
                <a:t>    Pre-processing</a:t>
              </a:r>
            </a:p>
            <a:p>
              <a:pPr algn="l">
                <a:lnSpc>
                  <a:spcPts val="2800"/>
                </a:lnSpc>
              </a:pPr>
              <a:r>
                <a:rPr lang="en-US" b="true" sz="2000">
                  <a:solidFill>
                    <a:srgbClr val="000000"/>
                  </a:solidFill>
                  <a:latin typeface="Open Sans Bold"/>
                  <a:ea typeface="Open Sans Bold"/>
                  <a:cs typeface="Open Sans Bold"/>
                  <a:sym typeface="Open Sans Bold"/>
                  <a:hlinkClick r:id="rId6" action="ppaction://hlinksldjump"/>
                </a:rPr>
                <a:t>    </a:t>
              </a:r>
              <a:r>
                <a:rPr lang="en-US" sz="2000">
                  <a:solidFill>
                    <a:srgbClr val="000000"/>
                  </a:solidFill>
                  <a:latin typeface="Open Sans"/>
                  <a:ea typeface="Open Sans"/>
                  <a:cs typeface="Open Sans"/>
                  <a:sym typeface="Open Sans"/>
                  <a:hlinkClick r:id="rId6" action="ppaction://hlinksldjump"/>
                </a:rPr>
                <a:t>Residual x singular factor (stabilised)</a:t>
              </a:r>
            </a:p>
          </p:txBody>
        </p:sp>
      </p:grpSp>
      <p:grpSp>
        <p:nvGrpSpPr>
          <p:cNvPr name="Group 16" id="16"/>
          <p:cNvGrpSpPr/>
          <p:nvPr/>
        </p:nvGrpSpPr>
        <p:grpSpPr>
          <a:xfrm rot="0">
            <a:off x="694490" y="6236639"/>
            <a:ext cx="8004357" cy="946957"/>
            <a:chOff x="0" y="0"/>
            <a:chExt cx="2108143" cy="249404"/>
          </a:xfrm>
        </p:grpSpPr>
        <p:sp>
          <p:nvSpPr>
            <p:cNvPr name="Freeform 17" id="17"/>
            <p:cNvSpPr/>
            <p:nvPr/>
          </p:nvSpPr>
          <p:spPr>
            <a:xfrm flipH="false" flipV="false" rot="0">
              <a:off x="0" y="0"/>
              <a:ext cx="2108143" cy="249404"/>
            </a:xfrm>
            <a:custGeom>
              <a:avLst/>
              <a:gdLst/>
              <a:ahLst/>
              <a:cxnLst/>
              <a:rect r="r" b="b" t="t" l="l"/>
              <a:pathLst>
                <a:path h="249404" w="2108143">
                  <a:moveTo>
                    <a:pt x="19344" y="0"/>
                  </a:moveTo>
                  <a:lnTo>
                    <a:pt x="2088799" y="0"/>
                  </a:lnTo>
                  <a:cubicBezTo>
                    <a:pt x="2099483" y="0"/>
                    <a:pt x="2108143" y="8661"/>
                    <a:pt x="2108143" y="19344"/>
                  </a:cubicBezTo>
                  <a:lnTo>
                    <a:pt x="2108143" y="230060"/>
                  </a:lnTo>
                  <a:cubicBezTo>
                    <a:pt x="2108143" y="240744"/>
                    <a:pt x="2099483" y="249404"/>
                    <a:pt x="2088799" y="249404"/>
                  </a:cubicBezTo>
                  <a:lnTo>
                    <a:pt x="19344" y="249404"/>
                  </a:lnTo>
                  <a:cubicBezTo>
                    <a:pt x="8661" y="249404"/>
                    <a:pt x="0" y="240744"/>
                    <a:pt x="0" y="230060"/>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18" id="18"/>
            <p:cNvSpPr txBox="true"/>
            <p:nvPr/>
          </p:nvSpPr>
          <p:spPr>
            <a:xfrm>
              <a:off x="0" y="-47625"/>
              <a:ext cx="2108143" cy="29702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7" action="ppaction://hlinksldjump"/>
                </a:rPr>
                <a:t>    Network</a:t>
              </a:r>
            </a:p>
            <a:p>
              <a:pPr algn="l">
                <a:lnSpc>
                  <a:spcPts val="2800"/>
                </a:lnSpc>
              </a:pPr>
              <a:r>
                <a:rPr lang="en-US" b="true" sz="2000">
                  <a:solidFill>
                    <a:srgbClr val="000000"/>
                  </a:solidFill>
                  <a:latin typeface="Open Sans Bold"/>
                  <a:ea typeface="Open Sans Bold"/>
                  <a:cs typeface="Open Sans Bold"/>
                  <a:sym typeface="Open Sans Bold"/>
                  <a:hlinkClick r:id="rId7" action="ppaction://hlinksldjump"/>
                </a:rPr>
                <a:t>    </a:t>
              </a:r>
              <a:r>
                <a:rPr lang="en-US" sz="2000">
                  <a:solidFill>
                    <a:srgbClr val="000000"/>
                  </a:solidFill>
                  <a:latin typeface="Open Sans"/>
                  <a:ea typeface="Open Sans"/>
                  <a:cs typeface="Open Sans"/>
                  <a:sym typeface="Open Sans"/>
                  <a:hlinkClick r:id="rId7" action="ppaction://hlinksldjump"/>
                </a:rPr>
                <a:t>MLP 20x3, tanh (PyTorch, GPU)</a:t>
              </a:r>
            </a:p>
          </p:txBody>
        </p:sp>
      </p:grpSp>
      <p:grpSp>
        <p:nvGrpSpPr>
          <p:cNvPr name="Group 19" id="19"/>
          <p:cNvGrpSpPr/>
          <p:nvPr/>
        </p:nvGrpSpPr>
        <p:grpSpPr>
          <a:xfrm rot="0">
            <a:off x="694490" y="7450570"/>
            <a:ext cx="8004357" cy="950069"/>
            <a:chOff x="0" y="0"/>
            <a:chExt cx="2108143" cy="250224"/>
          </a:xfrm>
        </p:grpSpPr>
        <p:sp>
          <p:nvSpPr>
            <p:cNvPr name="Freeform 20" id="20"/>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21" id="21"/>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8" action="ppaction://hlinksldjump"/>
                </a:rPr>
                <a:t>    Training</a:t>
              </a:r>
            </a:p>
            <a:p>
              <a:pPr algn="l">
                <a:lnSpc>
                  <a:spcPts val="2800"/>
                </a:lnSpc>
              </a:pPr>
              <a:r>
                <a:rPr lang="en-US" b="true" sz="2000">
                  <a:solidFill>
                    <a:srgbClr val="000000"/>
                  </a:solidFill>
                  <a:latin typeface="Open Sans Bold"/>
                  <a:ea typeface="Open Sans Bold"/>
                  <a:cs typeface="Open Sans Bold"/>
                  <a:sym typeface="Open Sans Bold"/>
                  <a:hlinkClick r:id="rId8" action="ppaction://hlinksldjump"/>
                </a:rPr>
                <a:t>    </a:t>
              </a:r>
              <a:r>
                <a:rPr lang="en-US" sz="2000">
                  <a:solidFill>
                    <a:srgbClr val="000000"/>
                  </a:solidFill>
                  <a:latin typeface="Open Sans"/>
                  <a:ea typeface="Open Sans"/>
                  <a:cs typeface="Open Sans"/>
                  <a:sym typeface="Open Sans"/>
                  <a:hlinkClick r:id="rId8" action="ppaction://hlinksldjump"/>
                </a:rPr>
                <a:t>PINN, +L1, +L2, A-PINN · Adam · 10,000 epochs x 10 seeds</a:t>
              </a:r>
            </a:p>
          </p:txBody>
        </p:sp>
      </p:grpSp>
      <p:grpSp>
        <p:nvGrpSpPr>
          <p:cNvPr name="Group 22" id="22"/>
          <p:cNvGrpSpPr/>
          <p:nvPr/>
        </p:nvGrpSpPr>
        <p:grpSpPr>
          <a:xfrm rot="0">
            <a:off x="694490" y="8667338"/>
            <a:ext cx="8004357" cy="950069"/>
            <a:chOff x="0" y="0"/>
            <a:chExt cx="2108143" cy="250224"/>
          </a:xfrm>
        </p:grpSpPr>
        <p:sp>
          <p:nvSpPr>
            <p:cNvPr name="Freeform 23" id="23"/>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24" id="24"/>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9" action="ppaction://hlinksldjump"/>
                </a:rPr>
                <a:t>    Evaluation</a:t>
              </a:r>
            </a:p>
            <a:p>
              <a:pPr algn="l">
                <a:lnSpc>
                  <a:spcPts val="2800"/>
                </a:lnSpc>
              </a:pPr>
              <a:r>
                <a:rPr lang="en-US" b="true" sz="2000">
                  <a:solidFill>
                    <a:srgbClr val="000000"/>
                  </a:solidFill>
                  <a:latin typeface="Open Sans Bold"/>
                  <a:ea typeface="Open Sans Bold"/>
                  <a:cs typeface="Open Sans Bold"/>
                  <a:sym typeface="Open Sans Bold"/>
                  <a:hlinkClick r:id="rId9" action="ppaction://hlinksldjump"/>
                </a:rPr>
                <a:t>    </a:t>
              </a:r>
              <a:r>
                <a:rPr lang="en-US" sz="2000">
                  <a:solidFill>
                    <a:srgbClr val="000000"/>
                  </a:solidFill>
                  <a:latin typeface="Open Sans"/>
                  <a:ea typeface="Open Sans"/>
                  <a:cs typeface="Open Sans"/>
                  <a:sym typeface="Open Sans"/>
                  <a:hlinkClick r:id="rId9" action="ppaction://hlinksldjump"/>
                </a:rPr>
                <a:t>Exact solution (1000 pts) + finite-difference baseline</a:t>
              </a:r>
            </a:p>
          </p:txBody>
        </p:sp>
      </p:grpSp>
      <p:sp>
        <p:nvSpPr>
          <p:cNvPr name="AutoShape 25" id="25"/>
          <p:cNvSpPr/>
          <p:nvPr/>
        </p:nvSpPr>
        <p:spPr>
          <a:xfrm>
            <a:off x="4696668" y="3511247"/>
            <a:ext cx="0" cy="266700"/>
          </a:xfrm>
          <a:prstGeom prst="line">
            <a:avLst/>
          </a:prstGeom>
          <a:ln cap="flat" w="38100">
            <a:solidFill>
              <a:srgbClr val="4A8681"/>
            </a:solidFill>
            <a:prstDash val="solid"/>
            <a:headEnd type="none" len="sm" w="sm"/>
            <a:tailEnd type="arrow" len="sm" w="med"/>
          </a:ln>
        </p:spPr>
      </p:sp>
      <p:sp>
        <p:nvSpPr>
          <p:cNvPr name="AutoShape 26" id="26"/>
          <p:cNvSpPr/>
          <p:nvPr/>
        </p:nvSpPr>
        <p:spPr>
          <a:xfrm>
            <a:off x="4696668" y="4728016"/>
            <a:ext cx="0" cy="266700"/>
          </a:xfrm>
          <a:prstGeom prst="line">
            <a:avLst/>
          </a:prstGeom>
          <a:ln cap="flat" w="38100">
            <a:solidFill>
              <a:srgbClr val="4A8681"/>
            </a:solidFill>
            <a:prstDash val="solid"/>
            <a:headEnd type="none" len="sm" w="sm"/>
            <a:tailEnd type="arrow" len="sm" w="med"/>
          </a:ln>
        </p:spPr>
      </p:sp>
      <p:sp>
        <p:nvSpPr>
          <p:cNvPr name="AutoShape 27" id="27"/>
          <p:cNvSpPr/>
          <p:nvPr/>
        </p:nvSpPr>
        <p:spPr>
          <a:xfrm>
            <a:off x="4696668" y="5969939"/>
            <a:ext cx="0" cy="266700"/>
          </a:xfrm>
          <a:prstGeom prst="line">
            <a:avLst/>
          </a:prstGeom>
          <a:ln cap="flat" w="38100">
            <a:solidFill>
              <a:srgbClr val="4A8681"/>
            </a:solidFill>
            <a:prstDash val="solid"/>
            <a:headEnd type="none" len="sm" w="sm"/>
            <a:tailEnd type="arrow" len="sm" w="med"/>
          </a:ln>
        </p:spPr>
      </p:sp>
      <p:sp>
        <p:nvSpPr>
          <p:cNvPr name="AutoShape 28" id="28"/>
          <p:cNvSpPr/>
          <p:nvPr/>
        </p:nvSpPr>
        <p:spPr>
          <a:xfrm>
            <a:off x="4696668" y="7183596"/>
            <a:ext cx="0" cy="266973"/>
          </a:xfrm>
          <a:prstGeom prst="line">
            <a:avLst/>
          </a:prstGeom>
          <a:ln cap="flat" w="38100">
            <a:solidFill>
              <a:srgbClr val="4A8681"/>
            </a:solidFill>
            <a:prstDash val="solid"/>
            <a:headEnd type="none" len="sm" w="sm"/>
            <a:tailEnd type="arrow" len="sm" w="med"/>
          </a:ln>
        </p:spPr>
      </p:sp>
      <p:sp>
        <p:nvSpPr>
          <p:cNvPr name="AutoShape 29" id="29"/>
          <p:cNvSpPr/>
          <p:nvPr/>
        </p:nvSpPr>
        <p:spPr>
          <a:xfrm>
            <a:off x="4696668" y="8400638"/>
            <a:ext cx="0" cy="266700"/>
          </a:xfrm>
          <a:prstGeom prst="line">
            <a:avLst/>
          </a:prstGeom>
          <a:ln cap="flat" w="38100">
            <a:solidFill>
              <a:srgbClr val="4A8681"/>
            </a:solidFill>
            <a:prstDash val="solid"/>
            <a:headEnd type="none" len="sm" w="sm"/>
            <a:tailEnd type="arrow" len="sm" w="med"/>
          </a:ln>
        </p:spPr>
      </p:sp>
      <p:grpSp>
        <p:nvGrpSpPr>
          <p:cNvPr name="Group 30" id="30"/>
          <p:cNvGrpSpPr/>
          <p:nvPr/>
        </p:nvGrpSpPr>
        <p:grpSpPr>
          <a:xfrm rot="0">
            <a:off x="9424538" y="1515741"/>
            <a:ext cx="8004357" cy="784240"/>
            <a:chOff x="0" y="0"/>
            <a:chExt cx="2108143" cy="206549"/>
          </a:xfrm>
        </p:grpSpPr>
        <p:sp>
          <p:nvSpPr>
            <p:cNvPr name="Freeform 31" id="31"/>
            <p:cNvSpPr/>
            <p:nvPr/>
          </p:nvSpPr>
          <p:spPr>
            <a:xfrm flipH="false" flipV="false" rot="0">
              <a:off x="0" y="0"/>
              <a:ext cx="2108143" cy="206549"/>
            </a:xfrm>
            <a:custGeom>
              <a:avLst/>
              <a:gdLst/>
              <a:ahLst/>
              <a:cxnLst/>
              <a:rect r="r" b="b" t="t" l="l"/>
              <a:pathLst>
                <a:path h="206549" w="2108143">
                  <a:moveTo>
                    <a:pt x="19344" y="0"/>
                  </a:moveTo>
                  <a:lnTo>
                    <a:pt x="2088799" y="0"/>
                  </a:lnTo>
                  <a:cubicBezTo>
                    <a:pt x="2099483" y="0"/>
                    <a:pt x="2108143" y="8661"/>
                    <a:pt x="2108143" y="19344"/>
                  </a:cubicBezTo>
                  <a:lnTo>
                    <a:pt x="2108143" y="187205"/>
                  </a:lnTo>
                  <a:cubicBezTo>
                    <a:pt x="2108143" y="197888"/>
                    <a:pt x="2099483" y="206549"/>
                    <a:pt x="2088799" y="206549"/>
                  </a:cubicBezTo>
                  <a:lnTo>
                    <a:pt x="19344" y="206549"/>
                  </a:lnTo>
                  <a:cubicBezTo>
                    <a:pt x="8661" y="206549"/>
                    <a:pt x="0" y="197888"/>
                    <a:pt x="0" y="187205"/>
                  </a:cubicBezTo>
                  <a:lnTo>
                    <a:pt x="0" y="19344"/>
                  </a:lnTo>
                  <a:cubicBezTo>
                    <a:pt x="0" y="8661"/>
                    <a:pt x="8661" y="0"/>
                    <a:pt x="19344" y="0"/>
                  </a:cubicBezTo>
                  <a:close/>
                </a:path>
              </a:pathLst>
            </a:custGeom>
            <a:solidFill>
              <a:srgbClr val="FF5757"/>
            </a:solidFill>
          </p:spPr>
        </p:sp>
        <p:sp>
          <p:nvSpPr>
            <p:cNvPr name="TextBox 32" id="32"/>
            <p:cNvSpPr txBox="true"/>
            <p:nvPr/>
          </p:nvSpPr>
          <p:spPr>
            <a:xfrm>
              <a:off x="0" y="-47625"/>
              <a:ext cx="2108143" cy="254174"/>
            </a:xfrm>
            <a:prstGeom prst="rect">
              <a:avLst/>
            </a:prstGeom>
          </p:spPr>
          <p:txBody>
            <a:bodyPr anchor="ctr" rtlCol="false" tIns="50800" lIns="50800" bIns="50800" rIns="50800"/>
            <a:lstStyle/>
            <a:p>
              <a:pPr algn="ctr">
                <a:lnSpc>
                  <a:spcPts val="3499"/>
                </a:lnSpc>
              </a:pPr>
              <a:r>
                <a:rPr lang="en-US" b="true" sz="2499">
                  <a:solidFill>
                    <a:srgbClr val="FFFFFF"/>
                  </a:solidFill>
                  <a:latin typeface="Open Sans Bold"/>
                  <a:ea typeface="Open Sans Bold"/>
                  <a:cs typeface="Open Sans Bold"/>
                  <a:sym typeface="Open Sans Bold"/>
                </a:rPr>
                <a:t>Reference Work</a:t>
              </a:r>
            </a:p>
          </p:txBody>
        </p:sp>
      </p:grpSp>
      <p:grpSp>
        <p:nvGrpSpPr>
          <p:cNvPr name="Group 33" id="33"/>
          <p:cNvGrpSpPr/>
          <p:nvPr/>
        </p:nvGrpSpPr>
        <p:grpSpPr>
          <a:xfrm rot="0">
            <a:off x="9424538" y="2563742"/>
            <a:ext cx="8004357" cy="947504"/>
            <a:chOff x="0" y="0"/>
            <a:chExt cx="2108143" cy="249548"/>
          </a:xfrm>
        </p:grpSpPr>
        <p:sp>
          <p:nvSpPr>
            <p:cNvPr name="Freeform 34" id="34"/>
            <p:cNvSpPr/>
            <p:nvPr/>
          </p:nvSpPr>
          <p:spPr>
            <a:xfrm flipH="false" flipV="false" rot="0">
              <a:off x="0" y="0"/>
              <a:ext cx="2108143" cy="249548"/>
            </a:xfrm>
            <a:custGeom>
              <a:avLst/>
              <a:gdLst/>
              <a:ahLst/>
              <a:cxnLst/>
              <a:rect r="r" b="b" t="t" l="l"/>
              <a:pathLst>
                <a:path h="249548" w="2108143">
                  <a:moveTo>
                    <a:pt x="19344" y="0"/>
                  </a:moveTo>
                  <a:lnTo>
                    <a:pt x="2088799" y="0"/>
                  </a:lnTo>
                  <a:cubicBezTo>
                    <a:pt x="2099483" y="0"/>
                    <a:pt x="2108143" y="8661"/>
                    <a:pt x="2108143" y="19344"/>
                  </a:cubicBezTo>
                  <a:lnTo>
                    <a:pt x="2108143" y="230204"/>
                  </a:lnTo>
                  <a:cubicBezTo>
                    <a:pt x="2108143" y="240888"/>
                    <a:pt x="2099483" y="249548"/>
                    <a:pt x="2088799" y="249548"/>
                  </a:cubicBezTo>
                  <a:lnTo>
                    <a:pt x="19344" y="249548"/>
                  </a:lnTo>
                  <a:cubicBezTo>
                    <a:pt x="8661" y="249548"/>
                    <a:pt x="0" y="240888"/>
                    <a:pt x="0" y="230204"/>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35" id="35"/>
            <p:cNvSpPr txBox="true"/>
            <p:nvPr/>
          </p:nvSpPr>
          <p:spPr>
            <a:xfrm>
              <a:off x="0" y="-47625"/>
              <a:ext cx="2108143" cy="297173"/>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Data</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Physics only (ODE + 3-point BC), no labelled data</a:t>
              </a:r>
            </a:p>
          </p:txBody>
        </p:sp>
      </p:grpSp>
      <p:grpSp>
        <p:nvGrpSpPr>
          <p:cNvPr name="Group 36" id="36"/>
          <p:cNvGrpSpPr/>
          <p:nvPr/>
        </p:nvGrpSpPr>
        <p:grpSpPr>
          <a:xfrm rot="0">
            <a:off x="9424538" y="3777947"/>
            <a:ext cx="8004357" cy="950069"/>
            <a:chOff x="0" y="0"/>
            <a:chExt cx="2108143" cy="250224"/>
          </a:xfrm>
        </p:grpSpPr>
        <p:sp>
          <p:nvSpPr>
            <p:cNvPr name="Freeform 37" id="37"/>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38" id="38"/>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Collocation points</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 1,500 points over [0, 1]</a:t>
              </a:r>
            </a:p>
          </p:txBody>
        </p:sp>
      </p:grpSp>
      <p:grpSp>
        <p:nvGrpSpPr>
          <p:cNvPr name="Group 39" id="39"/>
          <p:cNvGrpSpPr/>
          <p:nvPr/>
        </p:nvGrpSpPr>
        <p:grpSpPr>
          <a:xfrm rot="0">
            <a:off x="9424538" y="4994716"/>
            <a:ext cx="8004357" cy="975223"/>
            <a:chOff x="0" y="0"/>
            <a:chExt cx="2108143" cy="256849"/>
          </a:xfrm>
        </p:grpSpPr>
        <p:sp>
          <p:nvSpPr>
            <p:cNvPr name="Freeform 40" id="40"/>
            <p:cNvSpPr/>
            <p:nvPr/>
          </p:nvSpPr>
          <p:spPr>
            <a:xfrm flipH="false" flipV="false" rot="0">
              <a:off x="0" y="0"/>
              <a:ext cx="2108143" cy="256849"/>
            </a:xfrm>
            <a:custGeom>
              <a:avLst/>
              <a:gdLst/>
              <a:ahLst/>
              <a:cxnLst/>
              <a:rect r="r" b="b" t="t" l="l"/>
              <a:pathLst>
                <a:path h="256849" w="2108143">
                  <a:moveTo>
                    <a:pt x="19344" y="0"/>
                  </a:moveTo>
                  <a:lnTo>
                    <a:pt x="2088799" y="0"/>
                  </a:lnTo>
                  <a:cubicBezTo>
                    <a:pt x="2099483" y="0"/>
                    <a:pt x="2108143" y="8661"/>
                    <a:pt x="2108143" y="19344"/>
                  </a:cubicBezTo>
                  <a:lnTo>
                    <a:pt x="2108143" y="237505"/>
                  </a:lnTo>
                  <a:cubicBezTo>
                    <a:pt x="2108143" y="248188"/>
                    <a:pt x="2099483" y="256849"/>
                    <a:pt x="2088799" y="256849"/>
                  </a:cubicBezTo>
                  <a:lnTo>
                    <a:pt x="19344" y="256849"/>
                  </a:lnTo>
                  <a:cubicBezTo>
                    <a:pt x="8661" y="256849"/>
                    <a:pt x="0" y="248188"/>
                    <a:pt x="0" y="237505"/>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41" id="41"/>
            <p:cNvSpPr txBox="true"/>
            <p:nvPr/>
          </p:nvSpPr>
          <p:spPr>
            <a:xfrm>
              <a:off x="0" y="-47625"/>
              <a:ext cx="2108143" cy="304474"/>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 Pre-processing</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Raw residual with singular terms</a:t>
              </a:r>
            </a:p>
          </p:txBody>
        </p:sp>
      </p:grpSp>
      <p:grpSp>
        <p:nvGrpSpPr>
          <p:cNvPr name="Group 42" id="42"/>
          <p:cNvGrpSpPr/>
          <p:nvPr/>
        </p:nvGrpSpPr>
        <p:grpSpPr>
          <a:xfrm rot="0">
            <a:off x="9424538" y="6236639"/>
            <a:ext cx="8004357" cy="946957"/>
            <a:chOff x="0" y="0"/>
            <a:chExt cx="2108143" cy="249404"/>
          </a:xfrm>
        </p:grpSpPr>
        <p:sp>
          <p:nvSpPr>
            <p:cNvPr name="Freeform 43" id="43"/>
            <p:cNvSpPr/>
            <p:nvPr/>
          </p:nvSpPr>
          <p:spPr>
            <a:xfrm flipH="false" flipV="false" rot="0">
              <a:off x="0" y="0"/>
              <a:ext cx="2108143" cy="249404"/>
            </a:xfrm>
            <a:custGeom>
              <a:avLst/>
              <a:gdLst/>
              <a:ahLst/>
              <a:cxnLst/>
              <a:rect r="r" b="b" t="t" l="l"/>
              <a:pathLst>
                <a:path h="249404" w="2108143">
                  <a:moveTo>
                    <a:pt x="19344" y="0"/>
                  </a:moveTo>
                  <a:lnTo>
                    <a:pt x="2088799" y="0"/>
                  </a:lnTo>
                  <a:cubicBezTo>
                    <a:pt x="2099483" y="0"/>
                    <a:pt x="2108143" y="8661"/>
                    <a:pt x="2108143" y="19344"/>
                  </a:cubicBezTo>
                  <a:lnTo>
                    <a:pt x="2108143" y="230060"/>
                  </a:lnTo>
                  <a:cubicBezTo>
                    <a:pt x="2108143" y="240744"/>
                    <a:pt x="2099483" y="249404"/>
                    <a:pt x="2088799" y="249404"/>
                  </a:cubicBezTo>
                  <a:lnTo>
                    <a:pt x="19344" y="249404"/>
                  </a:lnTo>
                  <a:cubicBezTo>
                    <a:pt x="8661" y="249404"/>
                    <a:pt x="0" y="240744"/>
                    <a:pt x="0" y="230060"/>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44" id="44"/>
            <p:cNvSpPr txBox="true"/>
            <p:nvPr/>
          </p:nvSpPr>
          <p:spPr>
            <a:xfrm>
              <a:off x="0" y="-47625"/>
              <a:ext cx="2108143" cy="29702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Network</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Deep NN, tanh (TensorFlow), depth 3-15</a:t>
              </a:r>
            </a:p>
          </p:txBody>
        </p:sp>
      </p:grpSp>
      <p:grpSp>
        <p:nvGrpSpPr>
          <p:cNvPr name="Group 45" id="45"/>
          <p:cNvGrpSpPr/>
          <p:nvPr/>
        </p:nvGrpSpPr>
        <p:grpSpPr>
          <a:xfrm rot="0">
            <a:off x="9424538" y="7450570"/>
            <a:ext cx="8004357" cy="950069"/>
            <a:chOff x="0" y="0"/>
            <a:chExt cx="2108143" cy="250224"/>
          </a:xfrm>
        </p:grpSpPr>
        <p:sp>
          <p:nvSpPr>
            <p:cNvPr name="Freeform 46" id="46"/>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47" id="47"/>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Training</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PINN, +L1, +L2, A-PINN · Adam · 3,000 epochs</a:t>
              </a:r>
            </a:p>
          </p:txBody>
        </p:sp>
      </p:grpSp>
      <p:grpSp>
        <p:nvGrpSpPr>
          <p:cNvPr name="Group 48" id="48"/>
          <p:cNvGrpSpPr/>
          <p:nvPr/>
        </p:nvGrpSpPr>
        <p:grpSpPr>
          <a:xfrm rot="0">
            <a:off x="9424538" y="8667338"/>
            <a:ext cx="8004357" cy="950069"/>
            <a:chOff x="0" y="0"/>
            <a:chExt cx="2108143" cy="250224"/>
          </a:xfrm>
        </p:grpSpPr>
        <p:sp>
          <p:nvSpPr>
            <p:cNvPr name="Freeform 49" id="49"/>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50" id="50"/>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Evaluation</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Exact solution, 8 error metrics</a:t>
              </a:r>
            </a:p>
          </p:txBody>
        </p:sp>
      </p:grpSp>
      <p:sp>
        <p:nvSpPr>
          <p:cNvPr name="AutoShape 51" id="51"/>
          <p:cNvSpPr/>
          <p:nvPr/>
        </p:nvSpPr>
        <p:spPr>
          <a:xfrm>
            <a:off x="13426717" y="3511247"/>
            <a:ext cx="0" cy="266700"/>
          </a:xfrm>
          <a:prstGeom prst="line">
            <a:avLst/>
          </a:prstGeom>
          <a:ln cap="flat" w="38100">
            <a:solidFill>
              <a:srgbClr val="FF5757"/>
            </a:solidFill>
            <a:prstDash val="solid"/>
            <a:headEnd type="none" len="sm" w="sm"/>
            <a:tailEnd type="arrow" len="sm" w="med"/>
          </a:ln>
        </p:spPr>
      </p:sp>
      <p:sp>
        <p:nvSpPr>
          <p:cNvPr name="AutoShape 52" id="52"/>
          <p:cNvSpPr/>
          <p:nvPr/>
        </p:nvSpPr>
        <p:spPr>
          <a:xfrm>
            <a:off x="13426717" y="4728016"/>
            <a:ext cx="0" cy="266700"/>
          </a:xfrm>
          <a:prstGeom prst="line">
            <a:avLst/>
          </a:prstGeom>
          <a:ln cap="flat" w="38100">
            <a:solidFill>
              <a:srgbClr val="FF5757"/>
            </a:solidFill>
            <a:prstDash val="solid"/>
            <a:headEnd type="none" len="sm" w="sm"/>
            <a:tailEnd type="arrow" len="sm" w="med"/>
          </a:ln>
        </p:spPr>
      </p:sp>
      <p:sp>
        <p:nvSpPr>
          <p:cNvPr name="AutoShape 53" id="53"/>
          <p:cNvSpPr/>
          <p:nvPr/>
        </p:nvSpPr>
        <p:spPr>
          <a:xfrm>
            <a:off x="13426717" y="5969939"/>
            <a:ext cx="0" cy="266700"/>
          </a:xfrm>
          <a:prstGeom prst="line">
            <a:avLst/>
          </a:prstGeom>
          <a:ln cap="flat" w="38100">
            <a:solidFill>
              <a:srgbClr val="FF5757"/>
            </a:solidFill>
            <a:prstDash val="solid"/>
            <a:headEnd type="none" len="sm" w="sm"/>
            <a:tailEnd type="arrow" len="sm" w="med"/>
          </a:ln>
        </p:spPr>
      </p:sp>
      <p:sp>
        <p:nvSpPr>
          <p:cNvPr name="AutoShape 54" id="54"/>
          <p:cNvSpPr/>
          <p:nvPr/>
        </p:nvSpPr>
        <p:spPr>
          <a:xfrm>
            <a:off x="13426717" y="7183596"/>
            <a:ext cx="0" cy="266973"/>
          </a:xfrm>
          <a:prstGeom prst="line">
            <a:avLst/>
          </a:prstGeom>
          <a:ln cap="flat" w="38100">
            <a:solidFill>
              <a:srgbClr val="FF5757"/>
            </a:solidFill>
            <a:prstDash val="solid"/>
            <a:headEnd type="none" len="sm" w="sm"/>
            <a:tailEnd type="arrow" len="sm" w="med"/>
          </a:ln>
        </p:spPr>
      </p:sp>
      <p:sp>
        <p:nvSpPr>
          <p:cNvPr name="AutoShape 55" id="55"/>
          <p:cNvSpPr/>
          <p:nvPr/>
        </p:nvSpPr>
        <p:spPr>
          <a:xfrm>
            <a:off x="13426717" y="8400638"/>
            <a:ext cx="0" cy="266700"/>
          </a:xfrm>
          <a:prstGeom prst="line">
            <a:avLst/>
          </a:prstGeom>
          <a:ln cap="flat" w="38100">
            <a:solidFill>
              <a:srgbClr val="FF5757"/>
            </a:solidFill>
            <a:prstDash val="solid"/>
            <a:headEnd type="none" len="sm" w="sm"/>
            <a:tailEnd type="arrow" len="sm" w="med"/>
          </a:ln>
        </p:spPr>
      </p:sp>
      <p:sp>
        <p:nvSpPr>
          <p:cNvPr name="Freeform 56" id="56"/>
          <p:cNvSpPr/>
          <p:nvPr/>
        </p:nvSpPr>
        <p:spPr>
          <a:xfrm flipH="false" flipV="false" rot="0">
            <a:off x="17440992" y="9439992"/>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0411719" y="3366577"/>
            <a:ext cx="6830369" cy="5958704"/>
            <a:chOff x="0" y="0"/>
            <a:chExt cx="1505159" cy="1313076"/>
          </a:xfrm>
        </p:grpSpPr>
        <p:sp>
          <p:nvSpPr>
            <p:cNvPr name="Freeform 11" id="11"/>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2" id="12"/>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Freeform 13" id="13"/>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028700" y="4365446"/>
            <a:ext cx="6798885" cy="90271"/>
            <a:chOff x="0" y="0"/>
            <a:chExt cx="1790653" cy="23775"/>
          </a:xfrm>
        </p:grpSpPr>
        <p:sp>
          <p:nvSpPr>
            <p:cNvPr name="Freeform 16" id="16"/>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17" id="17"/>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18" id="18">
            <a:hlinkClick r:id="rId8" action="ppaction://hlinksldjump"/>
          </p:cNvPr>
          <p:cNvPicPr>
            <a:picLocks noChangeAspect="true"/>
          </p:cNvPicPr>
          <p:nvPr/>
        </p:nvPicPr>
        <p:blipFill>
          <a:blip r:embed="rId7"/>
          <a:stretch>
            <a:fillRect/>
          </a:stretch>
        </p:blipFill>
        <p:spPr>
          <a:xfrm rot="0">
            <a:off x="17153968" y="6044242"/>
            <a:ext cx="1263989" cy="516307"/>
          </a:xfrm>
          <a:prstGeom prst="rect">
            <a:avLst/>
          </a:prstGeom>
        </p:spPr>
      </p:pic>
      <p:sp>
        <p:nvSpPr>
          <p:cNvPr name="TextBox 19" id="19"/>
          <p:cNvSpPr txBox="true"/>
          <p:nvPr/>
        </p:nvSpPr>
        <p:spPr>
          <a:xfrm rot="0">
            <a:off x="7997720" y="1039874"/>
            <a:ext cx="2292560"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Data</a:t>
            </a:r>
          </a:p>
        </p:txBody>
      </p:sp>
      <p:sp>
        <p:nvSpPr>
          <p:cNvPr name="TextBox 20" id="20"/>
          <p:cNvSpPr txBox="true"/>
          <p:nvPr/>
        </p:nvSpPr>
        <p:spPr>
          <a:xfrm rot="0">
            <a:off x="1028700" y="4771245"/>
            <a:ext cx="6798885" cy="36195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Physics only (ODE + 3-point BC), no labelled data</a:t>
            </a:r>
          </a:p>
        </p:txBody>
      </p:sp>
      <p:sp>
        <p:nvSpPr>
          <p:cNvPr name="TextBox 21" id="21"/>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sp>
        <p:nvSpPr>
          <p:cNvPr name="TextBox 22" id="22"/>
          <p:cNvSpPr txBox="true"/>
          <p:nvPr/>
        </p:nvSpPr>
        <p:spPr>
          <a:xfrm rot="0">
            <a:off x="10706264" y="3855062"/>
            <a:ext cx="6210401" cy="5113146"/>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 Physics Loss (ODE Residual) — No labelled target data used!</a:t>
            </a:r>
          </a:p>
          <a:p>
            <a:pPr algn="l">
              <a:lnSpc>
                <a:spcPts val="2411"/>
              </a:lnSpc>
            </a:pPr>
            <a:r>
              <a:rPr lang="en-US" sz="2009" spc="-100">
                <a:solidFill>
                  <a:srgbClr val="E8E8E8"/>
                </a:solidFill>
                <a:latin typeface="Open Sauce"/>
                <a:ea typeface="Open Sauce"/>
                <a:cs typeface="Open Sauce"/>
                <a:sym typeface="Open Sauce"/>
              </a:rPr>
              <a:t>y, yt, ytt = derivatives(net, t_col)</a:t>
            </a:r>
          </a:p>
          <a:p>
            <a:pPr algn="l">
              <a:lnSpc>
                <a:spcPts val="2411"/>
              </a:lnSpc>
            </a:pPr>
            <a:r>
              <a:rPr lang="en-US" sz="2009" spc="-100">
                <a:solidFill>
                  <a:srgbClr val="E8E8E8"/>
                </a:solidFill>
                <a:latin typeface="Open Sauce"/>
                <a:ea typeface="Open Sauce"/>
                <a:cs typeface="Open Sauce"/>
                <a:sym typeface="Open Sauce"/>
              </a:rPr>
              <a:t>residual = residual_fn(t_col, y, yt, ytt)</a:t>
            </a:r>
          </a:p>
          <a:p>
            <a:pPr algn="l">
              <a:lnSpc>
                <a:spcPts val="2411"/>
              </a:lnSpc>
            </a:pPr>
            <a:r>
              <a:rPr lang="en-US" sz="2009" spc="-100">
                <a:solidFill>
                  <a:srgbClr val="E8E8E8"/>
                </a:solidFill>
                <a:latin typeface="Open Sauce"/>
                <a:ea typeface="Open Sauce"/>
                <a:cs typeface="Open Sauce"/>
                <a:sym typeface="Open Sauce"/>
              </a:rPr>
              <a:t>Lf = torch.mean(residual**2)</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3-Point Boundary Condition: y(0) = alpha, y(1) = epsilon * y(theta) + beta</a:t>
            </a:r>
          </a:p>
          <a:p>
            <a:pPr algn="l">
              <a:lnSpc>
                <a:spcPts val="2411"/>
              </a:lnSpc>
            </a:pPr>
            <a:r>
              <a:rPr lang="en-US" sz="2009" spc="-100">
                <a:solidFill>
                  <a:srgbClr val="E8E8E8"/>
                </a:solidFill>
                <a:latin typeface="Open Sauce"/>
                <a:ea typeface="Open Sauce"/>
                <a:cs typeface="Open Sauce"/>
                <a:sym typeface="Open Sauce"/>
              </a:rPr>
              <a:t>t0 = torch.tensor([[0.0]], dtype=DTYPE, device=DEVICE)</a:t>
            </a:r>
          </a:p>
          <a:p>
            <a:pPr algn="l">
              <a:lnSpc>
                <a:spcPts val="2411"/>
              </a:lnSpc>
            </a:pPr>
            <a:r>
              <a:rPr lang="en-US" sz="2009" spc="-100">
                <a:solidFill>
                  <a:srgbClr val="E8E8E8"/>
                </a:solidFill>
                <a:latin typeface="Open Sauce"/>
                <a:ea typeface="Open Sauce"/>
                <a:cs typeface="Open Sauce"/>
                <a:sym typeface="Open Sauce"/>
              </a:rPr>
              <a:t>t1 = torch.tensor([[1.0]], dtype=DTYPE, device=DEVICE)</a:t>
            </a:r>
          </a:p>
          <a:p>
            <a:pPr algn="l">
              <a:lnSpc>
                <a:spcPts val="2411"/>
              </a:lnSpc>
            </a:pPr>
            <a:r>
              <a:rPr lang="en-US" sz="2009" spc="-100">
                <a:solidFill>
                  <a:srgbClr val="E8E8E8"/>
                </a:solidFill>
                <a:latin typeface="Open Sauce"/>
                <a:ea typeface="Open Sauce"/>
                <a:cs typeface="Open Sauce"/>
                <a:sym typeface="Open Sauce"/>
              </a:rPr>
              <a:t>ttheta = torch.tensor([[problem.theta]], dtype=DTYPE, device=DEVICE)</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bc_res = net(t1) - (problem.epsilon * net(ttheta) + problem.beta)</a:t>
            </a:r>
          </a:p>
          <a:p>
            <a:pPr algn="l">
              <a:lnSpc>
                <a:spcPts val="2411"/>
              </a:lnSpc>
            </a:pPr>
            <a:r>
              <a:rPr lang="en-US" sz="2009" spc="-100">
                <a:solidFill>
                  <a:srgbClr val="E8E8E8"/>
                </a:solidFill>
                <a:latin typeface="Open Sauce"/>
                <a:ea typeface="Open Sauce"/>
                <a:cs typeface="Open Sauce"/>
                <a:sym typeface="Open Sauce"/>
              </a:rPr>
              <a:t>Lbc = torch.mean((net(t0) - problem.alpha)**2 + bc_res**2)</a:t>
            </a:r>
          </a:p>
        </p:txBody>
      </p:sp>
      <p:sp>
        <p:nvSpPr>
          <p:cNvPr name="Freeform 23" id="23">
            <a:hlinkClick r:id="rId11" action="ppaction://hlinksldjump"/>
          </p:cNvPr>
          <p:cNvSpPr/>
          <p:nvPr/>
        </p:nvSpPr>
        <p:spPr>
          <a:xfrm flipH="false" flipV="false" rot="0">
            <a:off x="9419008"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transition spd="slow">
    <p:cover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6981075" y="906666"/>
            <a:ext cx="6188731"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Collocation points</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771245"/>
            <a:ext cx="6798885" cy="36195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 500 points, uniform in [0.001, 0.999]</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5293223"/>
            <a:ext cx="6210401" cy="2105413"/>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N_COLLOC = 500</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Do not evaluate singular coefficients exactly at t=0 or t=1</a:t>
            </a:r>
          </a:p>
          <a:p>
            <a:pPr algn="l">
              <a:lnSpc>
                <a:spcPts val="2411"/>
              </a:lnSpc>
            </a:pPr>
            <a:r>
              <a:rPr lang="en-US" sz="2009" spc="-100">
                <a:solidFill>
                  <a:srgbClr val="E8E8E8"/>
                </a:solidFill>
                <a:latin typeface="Open Sauce"/>
                <a:ea typeface="Open Sauce"/>
                <a:cs typeface="Open Sauce"/>
                <a:sym typeface="Open Sauce"/>
              </a:rPr>
              <a:t># Uniformly spaced in [0.001, 0.999]</a:t>
            </a:r>
          </a:p>
          <a:p>
            <a:pPr algn="l">
              <a:lnSpc>
                <a:spcPts val="2411"/>
              </a:lnSpc>
            </a:pPr>
            <a:r>
              <a:rPr lang="en-US" sz="2009" spc="-100">
                <a:solidFill>
                  <a:srgbClr val="E8E8E8"/>
                </a:solidFill>
                <a:latin typeface="Open Sauce"/>
                <a:ea typeface="Open Sauce"/>
                <a:cs typeface="Open Sauce"/>
                <a:sym typeface="Open Sauce"/>
              </a:rPr>
              <a:t>t_col = torch.linspace(1e-3, 1.0 - 1e-3, n_colloc, device=DEVICE).view(-1, 1)</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22" id="22">
            <a:hlinkClick r:id="rId8" action="ppaction://hlinksldjump"/>
          </p:cNvPr>
          <p:cNvPicPr>
            <a:picLocks noChangeAspect="true"/>
          </p:cNvPicPr>
          <p:nvPr/>
        </p:nvPicPr>
        <p:blipFill>
          <a:blip r:embed="rId7"/>
          <a:stretch>
            <a:fillRect/>
          </a:stretch>
        </p:blipFill>
        <p:spPr>
          <a:xfrm rot="0">
            <a:off x="17153968" y="6044242"/>
            <a:ext cx="1263989" cy="516307"/>
          </a:xfrm>
          <a:prstGeom prst="rect">
            <a:avLst/>
          </a:prstGeom>
        </p:spPr>
      </p:pic>
      <p:pic>
        <p:nvPicPr>
          <p:cNvPr name="Picture 23" id="23">
            <a:hlinkClick r:id="rId10" action="ppaction://hlinksldjump"/>
          </p:cNvPr>
          <p:cNvPicPr>
            <a:picLocks noChangeAspect="true"/>
          </p:cNvPicPr>
          <p:nvPr/>
        </p:nvPicPr>
        <p:blipFill>
          <a:blip r:embed="rId9"/>
          <a:stretch>
            <a:fillRect/>
          </a:stretch>
        </p:blipFill>
        <p:spPr>
          <a:xfrm rot="0">
            <a:off x="9263852" y="6044242"/>
            <a:ext cx="1263989" cy="516307"/>
          </a:xfrm>
          <a:prstGeom prst="rect">
            <a:avLst/>
          </a:prstGeom>
        </p:spPr>
      </p:pic>
      <p:sp>
        <p:nvSpPr>
          <p:cNvPr name="Freeform 24" id="24">
            <a:hlinkClick r:id="rId13"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transition spd="slow">
    <p:cover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104754" y="990505"/>
            <a:ext cx="5648340"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Pre </a:t>
            </a:r>
            <a:r>
              <a:rPr lang="en-US" sz="6124" spc="-502">
                <a:solidFill>
                  <a:srgbClr val="E8E8E8"/>
                </a:solidFill>
                <a:latin typeface="Open Sauce"/>
                <a:ea typeface="Open Sauce"/>
                <a:cs typeface="Open Sauce"/>
                <a:sym typeface="Open Sauce"/>
              </a:rPr>
              <a:t>- </a:t>
            </a:r>
            <a:r>
              <a:rPr lang="en-US" b="true" sz="6124" spc="-502">
                <a:solidFill>
                  <a:srgbClr val="E8E8E8"/>
                </a:solidFill>
                <a:latin typeface="Open Sauce Bold"/>
                <a:ea typeface="Open Sauce Bold"/>
                <a:cs typeface="Open Sauce Bold"/>
                <a:sym typeface="Open Sauce Bold"/>
              </a:rPr>
              <a:t>processing</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618260"/>
            <a:ext cx="6798885" cy="72390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Physics only (ODE + 3-point BC), Residual x singular factor (stabilised)no labelled data</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4365446"/>
            <a:ext cx="6210401" cy="3910053"/>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USE_STABILIZED_RESIDUAL = True</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Reference Work: Raw residual with singular 1/[t(1-t)] terms (Ex 3.2)</a:t>
            </a:r>
          </a:p>
          <a:p>
            <a:pPr algn="l">
              <a:lnSpc>
                <a:spcPts val="2411"/>
              </a:lnSpc>
            </a:pPr>
            <a:r>
              <a:rPr lang="en-US" sz="2009" spc="-100">
                <a:solidFill>
                  <a:srgbClr val="E8E8E8"/>
                </a:solidFill>
                <a:latin typeface="Open Sauce"/>
                <a:ea typeface="Open Sauce"/>
                <a:cs typeface="Open Sauce"/>
                <a:sym typeface="Open Sauce"/>
              </a:rPr>
              <a:t>d</a:t>
            </a:r>
            <a:r>
              <a:rPr lang="en-US" sz="2009" spc="-100">
                <a:solidFill>
                  <a:srgbClr val="E8E8E8"/>
                </a:solidFill>
                <a:latin typeface="Open Sauce"/>
                <a:ea typeface="Open Sauce"/>
                <a:cs typeface="Open Sauce"/>
                <a:sym typeface="Open Sauce"/>
              </a:rPr>
              <a:t>ef ex2_paper(t, y, yt, ytt):</a:t>
            </a:r>
          </a:p>
          <a:p>
            <a:pPr algn="l">
              <a:lnSpc>
                <a:spcPts val="2411"/>
              </a:lnSpc>
            </a:pPr>
            <a:r>
              <a:rPr lang="en-US" sz="2009" spc="-100">
                <a:solidFill>
                  <a:srgbClr val="E8E8E8"/>
                </a:solidFill>
                <a:latin typeface="Open Sauce"/>
                <a:ea typeface="Open Sauce"/>
                <a:cs typeface="Open Sauce"/>
                <a:sym typeface="Open Sauce"/>
              </a:rPr>
              <a:t>  </a:t>
            </a:r>
            <a:r>
              <a:rPr lang="en-US" sz="2009" spc="-100">
                <a:solidFill>
                  <a:srgbClr val="E8E8E8"/>
                </a:solidFill>
                <a:latin typeface="Open Sauce"/>
                <a:ea typeface="Open Sauce"/>
                <a:cs typeface="Open Sauce"/>
                <a:sym typeface="Open Sauce"/>
              </a:rPr>
              <a:t>  return ytt + yt/t + y/(t*(1.0 - t)) - torch.sinh(t)/(t*(1.0 - t)) - torch.cosh(t)/t - torch.sinh(t)</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My Work: Stabilised residual multiplied by singular factor t(1-t)</a:t>
            </a:r>
          </a:p>
          <a:p>
            <a:pPr algn="l">
              <a:lnSpc>
                <a:spcPts val="2411"/>
              </a:lnSpc>
            </a:pPr>
            <a:r>
              <a:rPr lang="en-US" sz="2009" spc="-100">
                <a:solidFill>
                  <a:srgbClr val="E8E8E8"/>
                </a:solidFill>
                <a:latin typeface="Open Sauce"/>
                <a:ea typeface="Open Sauce"/>
                <a:cs typeface="Open Sauce"/>
                <a:sym typeface="Open Sauce"/>
              </a:rPr>
              <a:t>def ex2_sta</a:t>
            </a:r>
            <a:r>
              <a:rPr lang="en-US" sz="2009" spc="-100">
                <a:solidFill>
                  <a:srgbClr val="E8E8E8"/>
                </a:solidFill>
                <a:latin typeface="Open Sauce"/>
                <a:ea typeface="Open Sauce"/>
                <a:cs typeface="Open Sauce"/>
                <a:sym typeface="Open Sauce"/>
              </a:rPr>
              <a:t>ble(t, y, yt, ytt):</a:t>
            </a:r>
          </a:p>
          <a:p>
            <a:pPr algn="l">
              <a:lnSpc>
                <a:spcPts val="2411"/>
              </a:lnSpc>
            </a:pPr>
            <a:r>
              <a:rPr lang="en-US" sz="2009" spc="-100">
                <a:solidFill>
                  <a:srgbClr val="E8E8E8"/>
                </a:solidFill>
                <a:latin typeface="Open Sauce"/>
                <a:ea typeface="Open Sauce"/>
                <a:cs typeface="Open Sauce"/>
                <a:sym typeface="Open Sauce"/>
              </a:rPr>
              <a:t>    return t*(1.0 - t)*ytt + (1.0 - t)*yt + y - torch.sinh(t) - (1.0 - t)*torch.cosh(t) - t*(1.0 - t)*torch.sinh(t)</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22" id="22">
            <a:hlinkClick r:id="rId8" action="ppaction://hlinksldjump"/>
          </p:cNvPr>
          <p:cNvPicPr>
            <a:picLocks noChangeAspect="true"/>
          </p:cNvPicPr>
          <p:nvPr/>
        </p:nvPicPr>
        <p:blipFill>
          <a:blip r:embed="rId7"/>
          <a:stretch>
            <a:fillRect/>
          </a:stretch>
        </p:blipFill>
        <p:spPr>
          <a:xfrm rot="0">
            <a:off x="17153968" y="6044242"/>
            <a:ext cx="1263989" cy="516307"/>
          </a:xfrm>
          <a:prstGeom prst="rect">
            <a:avLst/>
          </a:prstGeom>
        </p:spPr>
      </p:pic>
      <p:pic>
        <p:nvPicPr>
          <p:cNvPr name="Picture 23" id="23">
            <a:hlinkClick r:id="rId10" action="ppaction://hlinksldjump"/>
          </p:cNvPr>
          <p:cNvPicPr>
            <a:picLocks noChangeAspect="true"/>
          </p:cNvPicPr>
          <p:nvPr/>
        </p:nvPicPr>
        <p:blipFill>
          <a:blip r:embed="rId9"/>
          <a:stretch>
            <a:fillRect/>
          </a:stretch>
        </p:blipFill>
        <p:spPr>
          <a:xfrm rot="0">
            <a:off x="9234012" y="6044242"/>
            <a:ext cx="1263989" cy="516307"/>
          </a:xfrm>
          <a:prstGeom prst="rect">
            <a:avLst/>
          </a:prstGeom>
        </p:spPr>
      </p:pic>
      <p:sp>
        <p:nvSpPr>
          <p:cNvPr name="Freeform 24" id="24">
            <a:hlinkClick r:id="rId13"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transition spd="slow">
    <p:cover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997720" y="1039874"/>
            <a:ext cx="2951731"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Network</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771245"/>
            <a:ext cx="6798885" cy="36195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MLP 20x3, tanh (PyTorch, GPU)</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4240516"/>
            <a:ext cx="6210401" cy="4210826"/>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HIDDEN, DEPTH, ACTIVATION = 20, 3, "tanh"</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class MLP(nn.Module):</a:t>
            </a:r>
          </a:p>
          <a:p>
            <a:pPr algn="l">
              <a:lnSpc>
                <a:spcPts val="2411"/>
              </a:lnSpc>
            </a:pPr>
            <a:r>
              <a:rPr lang="en-US" sz="2009" spc="-100">
                <a:solidFill>
                  <a:srgbClr val="E8E8E8"/>
                </a:solidFill>
                <a:latin typeface="Open Sauce"/>
                <a:ea typeface="Open Sauce"/>
                <a:cs typeface="Open Sauce"/>
                <a:sym typeface="Open Sauce"/>
              </a:rPr>
              <a:t>    def __init__(self, width=HIDDEN, depth=DEPTH, activation=ACTIVATION):</a:t>
            </a:r>
          </a:p>
          <a:p>
            <a:pPr algn="l">
              <a:lnSpc>
                <a:spcPts val="2411"/>
              </a:lnSpc>
            </a:pPr>
            <a:r>
              <a:rPr lang="en-US" sz="2009" spc="-100">
                <a:solidFill>
                  <a:srgbClr val="E8E8E8"/>
                </a:solidFill>
                <a:latin typeface="Open Sauce"/>
                <a:ea typeface="Open Sauce"/>
                <a:cs typeface="Open Sauce"/>
                <a:sym typeface="Open Sauce"/>
              </a:rPr>
              <a:t>      </a:t>
            </a:r>
            <a:r>
              <a:rPr lang="en-US" sz="2009" spc="-100">
                <a:solidFill>
                  <a:srgbClr val="E8E8E8"/>
                </a:solidFill>
                <a:latin typeface="Open Sauce"/>
                <a:ea typeface="Open Sauce"/>
                <a:cs typeface="Open Sauce"/>
                <a:sym typeface="Open Sauce"/>
              </a:rPr>
              <a:t>  super().__init__()</a:t>
            </a:r>
          </a:p>
          <a:p>
            <a:pPr algn="l">
              <a:lnSpc>
                <a:spcPts val="2411"/>
              </a:lnSpc>
            </a:pPr>
            <a:r>
              <a:rPr lang="en-US" sz="2009" spc="-100">
                <a:solidFill>
                  <a:srgbClr val="E8E8E8"/>
                </a:solidFill>
                <a:latin typeface="Open Sauce"/>
                <a:ea typeface="Open Sauce"/>
                <a:cs typeface="Open Sauce"/>
                <a:sym typeface="Open Sauce"/>
              </a:rPr>
              <a:t>        layers = [nn.Linear(1, width), nn.Tanh()]</a:t>
            </a:r>
          </a:p>
          <a:p>
            <a:pPr algn="l">
              <a:lnSpc>
                <a:spcPts val="2411"/>
              </a:lnSpc>
            </a:pPr>
            <a:r>
              <a:rPr lang="en-US" sz="2009" spc="-100">
                <a:solidFill>
                  <a:srgbClr val="E8E8E8"/>
                </a:solidFill>
                <a:latin typeface="Open Sauce"/>
                <a:ea typeface="Open Sauce"/>
                <a:cs typeface="Open Sauce"/>
                <a:sym typeface="Open Sauce"/>
              </a:rPr>
              <a:t>        for _ in range(depth - 1):</a:t>
            </a:r>
          </a:p>
          <a:p>
            <a:pPr algn="l">
              <a:lnSpc>
                <a:spcPts val="2411"/>
              </a:lnSpc>
            </a:pPr>
            <a:r>
              <a:rPr lang="en-US" sz="2009" spc="-100">
                <a:solidFill>
                  <a:srgbClr val="E8E8E8"/>
                </a:solidFill>
                <a:latin typeface="Open Sauce"/>
                <a:ea typeface="Open Sauce"/>
                <a:cs typeface="Open Sauce"/>
                <a:sym typeface="Open Sauce"/>
              </a:rPr>
              <a:t>            layers += [nn.Linear(width, width), nn.Tanh()]</a:t>
            </a:r>
          </a:p>
          <a:p>
            <a:pPr algn="l">
              <a:lnSpc>
                <a:spcPts val="2411"/>
              </a:lnSpc>
            </a:pPr>
            <a:r>
              <a:rPr lang="en-US" sz="2009" spc="-100">
                <a:solidFill>
                  <a:srgbClr val="E8E8E8"/>
                </a:solidFill>
                <a:latin typeface="Open Sauce"/>
                <a:ea typeface="Open Sauce"/>
                <a:cs typeface="Open Sauce"/>
                <a:sym typeface="Open Sauce"/>
              </a:rPr>
              <a:t>        layers += [nn.Linear(width, 1)]</a:t>
            </a:r>
          </a:p>
          <a:p>
            <a:pPr algn="l">
              <a:lnSpc>
                <a:spcPts val="2411"/>
              </a:lnSpc>
            </a:pPr>
            <a:r>
              <a:rPr lang="en-US" sz="2009" spc="-100">
                <a:solidFill>
                  <a:srgbClr val="E8E8E8"/>
                </a:solidFill>
                <a:latin typeface="Open Sauce"/>
                <a:ea typeface="Open Sauce"/>
                <a:cs typeface="Open Sauce"/>
                <a:sym typeface="Open Sauce"/>
              </a:rPr>
              <a:t>        self.net = nn.Sequential(*layers)</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a:t>
            </a:r>
            <a:r>
              <a:rPr lang="en-US" sz="2009" spc="-100">
                <a:solidFill>
                  <a:srgbClr val="E8E8E8"/>
                </a:solidFill>
                <a:latin typeface="Open Sauce"/>
                <a:ea typeface="Open Sauce"/>
                <a:cs typeface="Open Sauce"/>
                <a:sym typeface="Open Sauce"/>
              </a:rPr>
              <a:t>   def forward(self, t):</a:t>
            </a:r>
          </a:p>
          <a:p>
            <a:pPr algn="l">
              <a:lnSpc>
                <a:spcPts val="2411"/>
              </a:lnSpc>
            </a:pPr>
            <a:r>
              <a:rPr lang="en-US" sz="2009" spc="-100">
                <a:solidFill>
                  <a:srgbClr val="E8E8E8"/>
                </a:solidFill>
                <a:latin typeface="Open Sauce"/>
                <a:ea typeface="Open Sauce"/>
                <a:cs typeface="Open Sauce"/>
                <a:sym typeface="Open Sauce"/>
              </a:rPr>
              <a:t>        return self.net(t)</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22" id="22">
            <a:hlinkClick r:id="rId8" action="ppaction://hlinksldjump"/>
          </p:cNvPr>
          <p:cNvPicPr>
            <a:picLocks noChangeAspect="true"/>
          </p:cNvPicPr>
          <p:nvPr/>
        </p:nvPicPr>
        <p:blipFill>
          <a:blip r:embed="rId7"/>
          <a:stretch>
            <a:fillRect/>
          </a:stretch>
        </p:blipFill>
        <p:spPr>
          <a:xfrm rot="0">
            <a:off x="17153968" y="6044242"/>
            <a:ext cx="1263989" cy="516307"/>
          </a:xfrm>
          <a:prstGeom prst="rect">
            <a:avLst/>
          </a:prstGeom>
        </p:spPr>
      </p:pic>
      <p:sp>
        <p:nvSpPr>
          <p:cNvPr name="Freeform 23" id="23">
            <a:hlinkClick r:id="rId11"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pic>
        <p:nvPicPr>
          <p:cNvPr name="Picture 24" id="24">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Tree>
  </p:cSld>
  <p:clrMapOvr>
    <a:masterClrMapping/>
  </p:clrMapOvr>
  <p:transition spd="slow">
    <p:cover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963913" y="9684838"/>
            <a:ext cx="320854" cy="249099"/>
          </a:xfrm>
          <a:custGeom>
            <a:avLst/>
            <a:gdLst/>
            <a:ahLst/>
            <a:cxnLst/>
            <a:rect r="r" b="b" t="t" l="l"/>
            <a:pathLst>
              <a:path h="249099" w="320854">
                <a:moveTo>
                  <a:pt x="0" y="0"/>
                </a:moveTo>
                <a:lnTo>
                  <a:pt x="320854" y="0"/>
                </a:lnTo>
                <a:lnTo>
                  <a:pt x="320854" y="249100"/>
                </a:lnTo>
                <a:lnTo>
                  <a:pt x="0" y="2491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748034" y="774400"/>
            <a:ext cx="2791932"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Training</a:t>
            </a:r>
          </a:p>
        </p:txBody>
      </p:sp>
      <p:sp>
        <p:nvSpPr>
          <p:cNvPr name="Freeform 9" id="9"/>
          <p:cNvSpPr/>
          <p:nvPr/>
        </p:nvSpPr>
        <p:spPr>
          <a:xfrm flipH="true" flipV="false" rot="0">
            <a:off x="17122891" y="9684838"/>
            <a:ext cx="320854" cy="249099"/>
          </a:xfrm>
          <a:custGeom>
            <a:avLst/>
            <a:gdLst/>
            <a:ahLst/>
            <a:cxnLst/>
            <a:rect r="r" b="b" t="t" l="l"/>
            <a:pathLst>
              <a:path h="249099" w="320854">
                <a:moveTo>
                  <a:pt x="320854" y="0"/>
                </a:moveTo>
                <a:lnTo>
                  <a:pt x="0" y="0"/>
                </a:lnTo>
                <a:lnTo>
                  <a:pt x="0" y="249100"/>
                </a:lnTo>
                <a:lnTo>
                  <a:pt x="320854" y="249100"/>
                </a:lnTo>
                <a:lnTo>
                  <a:pt x="32085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618260"/>
            <a:ext cx="6798885" cy="72390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PINN, +L1, +L2, A-PINN · Adam · 10,000 epochs x 10 seeds</a:t>
            </a:r>
          </a:p>
        </p:txBody>
      </p:sp>
      <p:sp>
        <p:nvSpPr>
          <p:cNvPr name="Freeform 11" id="11"/>
          <p:cNvSpPr/>
          <p:nvPr/>
        </p:nvSpPr>
        <p:spPr>
          <a:xfrm flipH="false" flipV="false" rot="0">
            <a:off x="15599107" y="762285"/>
            <a:ext cx="449514" cy="532829"/>
          </a:xfrm>
          <a:custGeom>
            <a:avLst/>
            <a:gdLst/>
            <a:ahLst/>
            <a:cxnLst/>
            <a:rect r="r" b="b" t="t" l="l"/>
            <a:pathLst>
              <a:path h="532829" w="449514">
                <a:moveTo>
                  <a:pt x="0" y="0"/>
                </a:moveTo>
                <a:lnTo>
                  <a:pt x="449515" y="0"/>
                </a:lnTo>
                <a:lnTo>
                  <a:pt x="449515" y="532830"/>
                </a:lnTo>
                <a:lnTo>
                  <a:pt x="0" y="5328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895493"/>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284943" y="2233571"/>
            <a:ext cx="6837948" cy="7451267"/>
            <a:chOff x="0" y="0"/>
            <a:chExt cx="1531880" cy="1669279"/>
          </a:xfrm>
        </p:grpSpPr>
        <p:sp>
          <p:nvSpPr>
            <p:cNvPr name="Freeform 14" id="14"/>
            <p:cNvSpPr/>
            <p:nvPr/>
          </p:nvSpPr>
          <p:spPr>
            <a:xfrm flipH="false" flipV="false" rot="0">
              <a:off x="0" y="0"/>
              <a:ext cx="1531880" cy="1669279"/>
            </a:xfrm>
            <a:custGeom>
              <a:avLst/>
              <a:gdLst/>
              <a:ahLst/>
              <a:cxnLst/>
              <a:rect r="r" b="b" t="t" l="l"/>
              <a:pathLst>
                <a:path h="1669279" w="1531880">
                  <a:moveTo>
                    <a:pt x="0" y="0"/>
                  </a:moveTo>
                  <a:lnTo>
                    <a:pt x="1531880" y="0"/>
                  </a:lnTo>
                  <a:lnTo>
                    <a:pt x="1531880" y="1669279"/>
                  </a:lnTo>
                  <a:lnTo>
                    <a:pt x="0" y="1669279"/>
                  </a:lnTo>
                  <a:close/>
                </a:path>
              </a:pathLst>
            </a:custGeom>
            <a:solidFill>
              <a:srgbClr val="202020"/>
            </a:solidFill>
          </p:spPr>
        </p:sp>
        <p:sp>
          <p:nvSpPr>
            <p:cNvPr name="TextBox 15" id="15"/>
            <p:cNvSpPr txBox="true"/>
            <p:nvPr/>
          </p:nvSpPr>
          <p:spPr>
            <a:xfrm>
              <a:off x="0" y="-28575"/>
              <a:ext cx="1531880" cy="1697854"/>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598716" y="2641288"/>
            <a:ext cx="6210401" cy="6617012"/>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FULL_SEEDS  = list(range(10))  # 10 seeds (0-9) vs Paper's single seed</a:t>
            </a:r>
          </a:p>
          <a:p>
            <a:pPr algn="l">
              <a:lnSpc>
                <a:spcPts val="2411"/>
              </a:lnSpc>
            </a:pPr>
            <a:r>
              <a:rPr lang="en-US" sz="2009" spc="-100">
                <a:solidFill>
                  <a:srgbClr val="E8E8E8"/>
                </a:solidFill>
                <a:latin typeface="Open Sauce"/>
                <a:ea typeface="Open Sauce"/>
                <a:cs typeface="Open Sauce"/>
                <a:sym typeface="Open Sauce"/>
              </a:rPr>
              <a:t>FULL_EPOCHS = 10_000 </a:t>
            </a:r>
            <a:r>
              <a:rPr lang="en-US" sz="2009" spc="-100">
                <a:solidFill>
                  <a:srgbClr val="E8E8E8"/>
                </a:solidFill>
                <a:latin typeface="Open Sauce"/>
                <a:ea typeface="Open Sauce"/>
                <a:cs typeface="Open Sauce"/>
                <a:sym typeface="Open Sauce"/>
              </a:rPr>
              <a:t>          # 10,000 epochs vs Paper's 3,000 epochs</a:t>
            </a:r>
          </a:p>
          <a:p>
            <a:pPr algn="l">
              <a:lnSpc>
                <a:spcPts val="2411"/>
              </a:lnSpc>
            </a:pPr>
            <a:r>
              <a:rPr lang="en-US" sz="2009" spc="-100">
                <a:solidFill>
                  <a:srgbClr val="E8E8E8"/>
                </a:solidFill>
                <a:latin typeface="Open Sauce"/>
                <a:ea typeface="Open Sauce"/>
                <a:cs typeface="Open Sauce"/>
                <a:sym typeface="Open Sauce"/>
              </a:rPr>
              <a:t>MODES      </a:t>
            </a:r>
            <a:r>
              <a:rPr lang="en-US" sz="2009" spc="-100">
                <a:solidFill>
                  <a:srgbClr val="E8E8E8"/>
                </a:solidFill>
                <a:latin typeface="Open Sauce"/>
                <a:ea typeface="Open Sauce"/>
                <a:cs typeface="Open Sauce"/>
                <a:sym typeface="Open Sauce"/>
              </a:rPr>
              <a:t> = ["standard", "l1", "l2", "apinn"]</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optimizer</a:t>
            </a:r>
            <a:r>
              <a:rPr lang="en-US" sz="2009" spc="-100">
                <a:solidFill>
                  <a:srgbClr val="E8E8E8"/>
                </a:solidFill>
                <a:latin typeface="Open Sauce"/>
                <a:ea typeface="Open Sauce"/>
                <a:cs typeface="Open Sauce"/>
                <a:sym typeface="Open Sauce"/>
              </a:rPr>
              <a:t> = torch.optim.Adam(net.parameters(), lr=1e-3)</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f</a:t>
            </a:r>
            <a:r>
              <a:rPr lang="en-US" sz="2009" spc="-100">
                <a:solidFill>
                  <a:srgbClr val="E8E8E8"/>
                </a:solidFill>
                <a:latin typeface="Open Sauce"/>
                <a:ea typeface="Open Sauce"/>
                <a:cs typeface="Open Sauce"/>
                <a:sym typeface="Open Sauce"/>
              </a:rPr>
              <a:t>or ep in range(epochs):</a:t>
            </a:r>
          </a:p>
          <a:p>
            <a:pPr algn="l">
              <a:lnSpc>
                <a:spcPts val="2411"/>
              </a:lnSpc>
            </a:pPr>
            <a:r>
              <a:rPr lang="en-US" sz="2009" spc="-100">
                <a:solidFill>
                  <a:srgbClr val="E8E8E8"/>
                </a:solidFill>
                <a:latin typeface="Open Sauce"/>
                <a:ea typeface="Open Sauce"/>
                <a:cs typeface="Open Sauce"/>
                <a:sym typeface="Open Sauce"/>
              </a:rPr>
              <a:t>    optimizer.zero_grad(set_to_none=True)</a:t>
            </a:r>
          </a:p>
          <a:p>
            <a:pPr algn="l">
              <a:lnSpc>
                <a:spcPts val="2411"/>
              </a:lnSpc>
            </a:pPr>
            <a:r>
              <a:rPr lang="en-US" sz="2009" spc="-100">
                <a:solidFill>
                  <a:srgbClr val="E8E8E8"/>
                </a:solidFill>
                <a:latin typeface="Open Sauce"/>
                <a:ea typeface="Open Sauce"/>
                <a:cs typeface="Open Sauce"/>
                <a:sym typeface="Open Sauce"/>
              </a:rPr>
              <a:t>    Lf, Lbc = compute_losses(net, problem, t_col)</a:t>
            </a:r>
          </a:p>
          <a:p>
            <a:pPr algn="l">
              <a:lnSpc>
                <a:spcPts val="2411"/>
              </a:lnSpc>
            </a:pPr>
            <a:r>
              <a:rPr lang="en-US" sz="2009" spc="-100">
                <a:solidFill>
                  <a:srgbClr val="E8E8E8"/>
                </a:solidFill>
                <a:latin typeface="Open Sauce"/>
                <a:ea typeface="Open Sauce"/>
                <a:cs typeface="Open Sauce"/>
                <a:sym typeface="Open Sauce"/>
              </a:rPr>
              <a:t>    </a:t>
            </a:r>
          </a:p>
          <a:p>
            <a:pPr algn="l">
              <a:lnSpc>
                <a:spcPts val="2411"/>
              </a:lnSpc>
            </a:pPr>
            <a:r>
              <a:rPr lang="en-US" sz="2009" spc="-100">
                <a:solidFill>
                  <a:srgbClr val="E8E8E8"/>
                </a:solidFill>
                <a:latin typeface="Open Sauce"/>
                <a:ea typeface="Open Sauce"/>
                <a:cs typeface="Open Sauce"/>
                <a:sym typeface="Open Sauce"/>
              </a:rPr>
              <a:t>    if mode</a:t>
            </a:r>
            <a:r>
              <a:rPr lang="en-US" sz="2009" spc="-100">
                <a:solidFill>
                  <a:srgbClr val="E8E8E8"/>
                </a:solidFill>
                <a:latin typeface="Open Sauce"/>
                <a:ea typeface="Open Sauce"/>
                <a:cs typeface="Open Sauce"/>
                <a:sym typeface="Open Sauce"/>
              </a:rPr>
              <a:t> == "standard": loss = Lf + Lbc</a:t>
            </a:r>
          </a:p>
          <a:p>
            <a:pPr algn="l">
              <a:lnSpc>
                <a:spcPts val="2411"/>
              </a:lnSpc>
            </a:pPr>
            <a:r>
              <a:rPr lang="en-US" sz="2009" spc="-100">
                <a:solidFill>
                  <a:srgbClr val="E8E8E8"/>
                </a:solidFill>
                <a:latin typeface="Open Sauce"/>
                <a:ea typeface="Open Sauce"/>
                <a:cs typeface="Open Sauce"/>
                <a:sym typeface="Open Sauce"/>
              </a:rPr>
              <a:t>    elif mode == "l1":     loss = Lf + Lbc + 1e-3 * weight_penalty(net, order=1)</a:t>
            </a:r>
          </a:p>
          <a:p>
            <a:pPr algn="l">
              <a:lnSpc>
                <a:spcPts val="2411"/>
              </a:lnSpc>
            </a:pPr>
            <a:r>
              <a:rPr lang="en-US" sz="2009" spc="-100">
                <a:solidFill>
                  <a:srgbClr val="E8E8E8"/>
                </a:solidFill>
                <a:latin typeface="Open Sauce"/>
                <a:ea typeface="Open Sauce"/>
                <a:cs typeface="Open Sauce"/>
                <a:sym typeface="Open Sauce"/>
              </a:rPr>
              <a:t>    elif mod</a:t>
            </a:r>
            <a:r>
              <a:rPr lang="en-US" sz="2009" spc="-100">
                <a:solidFill>
                  <a:srgbClr val="E8E8E8"/>
                </a:solidFill>
                <a:latin typeface="Open Sauce"/>
                <a:ea typeface="Open Sauce"/>
                <a:cs typeface="Open Sauce"/>
                <a:sym typeface="Open Sauce"/>
              </a:rPr>
              <a:t>e == "l2":     loss = Lf + Lbc + 1e-3 * weight_penalty(net, order=2)</a:t>
            </a:r>
          </a:p>
          <a:p>
            <a:pPr algn="l">
              <a:lnSpc>
                <a:spcPts val="2411"/>
              </a:lnSpc>
            </a:pPr>
            <a:r>
              <a:rPr lang="en-US" sz="2009" spc="-100">
                <a:solidFill>
                  <a:srgbClr val="E8E8E8"/>
                </a:solidFill>
                <a:latin typeface="Open Sauce"/>
                <a:ea typeface="Open Sauce"/>
                <a:cs typeface="Open Sauce"/>
                <a:sym typeface="Open Sauce"/>
              </a:rPr>
              <a:t>    elif mode == "apinn":  loss = w_f * Lf + w_bc * Lbc # Updated every 500 epochs</a:t>
            </a:r>
          </a:p>
          <a:p>
            <a:pPr algn="l">
              <a:lnSpc>
                <a:spcPts val="2411"/>
              </a:lnSpc>
            </a:pPr>
            <a:r>
              <a:rPr lang="en-US" sz="2009" spc="-100">
                <a:solidFill>
                  <a:srgbClr val="E8E8E8"/>
                </a:solidFill>
                <a:latin typeface="Open Sauce"/>
                <a:ea typeface="Open Sauce"/>
                <a:cs typeface="Open Sauce"/>
                <a:sym typeface="Open Sauce"/>
              </a:rPr>
              <a:t>    </a:t>
            </a:r>
          </a:p>
          <a:p>
            <a:pPr algn="l">
              <a:lnSpc>
                <a:spcPts val="2411"/>
              </a:lnSpc>
            </a:pPr>
            <a:r>
              <a:rPr lang="en-US" sz="2009" spc="-100">
                <a:solidFill>
                  <a:srgbClr val="E8E8E8"/>
                </a:solidFill>
                <a:latin typeface="Open Sauce"/>
                <a:ea typeface="Open Sauce"/>
                <a:cs typeface="Open Sauce"/>
                <a:sym typeface="Open Sauce"/>
              </a:rPr>
              <a:t>    loss.backward()</a:t>
            </a:r>
          </a:p>
          <a:p>
            <a:pPr algn="l">
              <a:lnSpc>
                <a:spcPts val="2411"/>
              </a:lnSpc>
            </a:pPr>
            <a:r>
              <a:rPr lang="en-US" sz="2009" spc="-100">
                <a:solidFill>
                  <a:srgbClr val="E8E8E8"/>
                </a:solidFill>
                <a:latin typeface="Open Sauce"/>
                <a:ea typeface="Open Sauce"/>
                <a:cs typeface="Open Sauce"/>
                <a:sym typeface="Open Sauce"/>
              </a:rPr>
              <a:t>    optimizer.step()</a:t>
            </a:r>
          </a:p>
        </p:txBody>
      </p:sp>
      <p:sp>
        <p:nvSpPr>
          <p:cNvPr name="Freeform 17" id="17"/>
          <p:cNvSpPr/>
          <p:nvPr/>
        </p:nvSpPr>
        <p:spPr>
          <a:xfrm flipH="false" flipV="true" rot="0">
            <a:off x="9963913" y="1984472"/>
            <a:ext cx="320854" cy="249099"/>
          </a:xfrm>
          <a:custGeom>
            <a:avLst/>
            <a:gdLst/>
            <a:ahLst/>
            <a:cxnLst/>
            <a:rect r="r" b="b" t="t" l="l"/>
            <a:pathLst>
              <a:path h="249099" w="320854">
                <a:moveTo>
                  <a:pt x="0" y="249099"/>
                </a:moveTo>
                <a:lnTo>
                  <a:pt x="320854" y="249099"/>
                </a:lnTo>
                <a:lnTo>
                  <a:pt x="320854" y="0"/>
                </a:lnTo>
                <a:lnTo>
                  <a:pt x="0" y="0"/>
                </a:lnTo>
                <a:lnTo>
                  <a:pt x="0" y="24909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122891" y="1984472"/>
            <a:ext cx="320854" cy="249099"/>
          </a:xfrm>
          <a:custGeom>
            <a:avLst/>
            <a:gdLst/>
            <a:ahLst/>
            <a:cxnLst/>
            <a:rect r="r" b="b" t="t" l="l"/>
            <a:pathLst>
              <a:path h="249099" w="320854">
                <a:moveTo>
                  <a:pt x="320854" y="249099"/>
                </a:moveTo>
                <a:lnTo>
                  <a:pt x="0" y="249099"/>
                </a:lnTo>
                <a:lnTo>
                  <a:pt x="0" y="0"/>
                </a:lnTo>
                <a:lnTo>
                  <a:pt x="320854" y="0"/>
                </a:lnTo>
                <a:lnTo>
                  <a:pt x="320854" y="249099"/>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22" id="22">
            <a:hlinkClick r:id="rId8" action="ppaction://hlinksldjump"/>
          </p:cNvPr>
          <p:cNvPicPr>
            <a:picLocks noChangeAspect="true"/>
          </p:cNvPicPr>
          <p:nvPr/>
        </p:nvPicPr>
        <p:blipFill>
          <a:blip r:embed="rId7"/>
          <a:stretch>
            <a:fillRect/>
          </a:stretch>
        </p:blipFill>
        <p:spPr>
          <a:xfrm rot="0">
            <a:off x="17003918" y="6030601"/>
            <a:ext cx="1427681" cy="583171"/>
          </a:xfrm>
          <a:prstGeom prst="rect">
            <a:avLst/>
          </a:prstGeom>
        </p:spPr>
      </p:pic>
      <p:sp>
        <p:nvSpPr>
          <p:cNvPr name="Freeform 23" id="23">
            <a:hlinkClick r:id="rId11" action="ppaction://hlinksldjump"/>
          </p:cNvPr>
          <p:cNvSpPr/>
          <p:nvPr/>
        </p:nvSpPr>
        <p:spPr>
          <a:xfrm flipH="false" flipV="false" rot="0">
            <a:off x="13207561" y="124086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pic>
        <p:nvPicPr>
          <p:cNvPr name="Picture 24" id="24">
            <a:hlinkClick r:id="rId13" action="ppaction://hlinksldjump"/>
          </p:cNvPr>
          <p:cNvPicPr>
            <a:picLocks noChangeAspect="true"/>
          </p:cNvPicPr>
          <p:nvPr/>
        </p:nvPicPr>
        <p:blipFill>
          <a:blip r:embed="rId12"/>
          <a:stretch>
            <a:fillRect/>
          </a:stretch>
        </p:blipFill>
        <p:spPr>
          <a:xfrm rot="0">
            <a:off x="9038668" y="6044242"/>
            <a:ext cx="1263989" cy="516307"/>
          </a:xfrm>
          <a:prstGeom prst="rect">
            <a:avLst/>
          </a:prstGeom>
        </p:spPr>
      </p:pic>
    </p:spTree>
  </p:cSld>
  <p:clrMapOvr>
    <a:masterClrMapping/>
  </p:clrMapOvr>
  <p:transition spd="slow">
    <p:cover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448411" y="1040815"/>
            <a:ext cx="3391179"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Evalu</a:t>
            </a:r>
            <a:r>
              <a:rPr lang="en-US" b="true" sz="6124" spc="-502">
                <a:solidFill>
                  <a:srgbClr val="E8E8E8"/>
                </a:solidFill>
                <a:latin typeface="Open Sauce Bold"/>
                <a:ea typeface="Open Sauce Bold"/>
                <a:cs typeface="Open Sauce Bold"/>
                <a:sym typeface="Open Sauce Bold"/>
              </a:rPr>
              <a:t>ation</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618260"/>
            <a:ext cx="6798885" cy="72390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Exact solution (1000 pts) + finite-difference baseline</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4090130"/>
            <a:ext cx="6210401" cy="4511599"/>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FD_N = 400</a:t>
            </a:r>
          </a:p>
          <a:p>
            <a:pPr algn="l">
              <a:lnSpc>
                <a:spcPts val="2411"/>
              </a:lnSpc>
            </a:pPr>
            <a:r>
              <a:rPr lang="en-US" sz="2009" spc="-100">
                <a:solidFill>
                  <a:srgbClr val="E8E8E8"/>
                </a:solidFill>
                <a:latin typeface="Open Sauce"/>
                <a:ea typeface="Open Sauce"/>
                <a:cs typeface="Open Sauce"/>
                <a:sym typeface="Open Sauce"/>
              </a:rPr>
              <a:t>FD_GRID_SIZES = [50, 100, 200, 400] # Classical FDM baseline &amp; convergence study</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def evaluate(net, problem, n_test=1000):</a:t>
            </a:r>
          </a:p>
          <a:p>
            <a:pPr algn="l">
              <a:lnSpc>
                <a:spcPts val="2411"/>
              </a:lnSpc>
            </a:pPr>
            <a:r>
              <a:rPr lang="en-US" sz="2009" spc="-100">
                <a:solidFill>
                  <a:srgbClr val="E8E8E8"/>
                </a:solidFill>
                <a:latin typeface="Open Sauce"/>
                <a:ea typeface="Open Sauce"/>
                <a:cs typeface="Open Sauce"/>
                <a:sym typeface="Open Sauce"/>
              </a:rPr>
              <a:t>    t = np.linspace(0.0, 1.0, n_test) # 1000 test points over full [0, 1] domain</a:t>
            </a:r>
          </a:p>
          <a:p>
            <a:pPr algn="l">
              <a:lnSpc>
                <a:spcPts val="2411"/>
              </a:lnSpc>
            </a:pPr>
            <a:r>
              <a:rPr lang="en-US" sz="2009" spc="-100">
                <a:solidFill>
                  <a:srgbClr val="E8E8E8"/>
                </a:solidFill>
                <a:latin typeface="Open Sauce"/>
                <a:ea typeface="Open Sauce"/>
                <a:cs typeface="Open Sauce"/>
                <a:sym typeface="Open Sauce"/>
              </a:rPr>
              <a:t>    tt = torch.tensor(t, dtype=DTYPE, device=DEVICE).view(-1, 1)</a:t>
            </a:r>
          </a:p>
          <a:p>
            <a:pPr algn="l">
              <a:lnSpc>
                <a:spcPts val="2411"/>
              </a:lnSpc>
            </a:pPr>
            <a:r>
              <a:rPr lang="en-US" sz="2009" spc="-100">
                <a:solidFill>
                  <a:srgbClr val="E8E8E8"/>
                </a:solidFill>
                <a:latin typeface="Open Sauce"/>
                <a:ea typeface="Open Sauce"/>
                <a:cs typeface="Open Sauce"/>
                <a:sym typeface="Open Sauce"/>
              </a:rPr>
              <a:t>    net.eval()</a:t>
            </a:r>
          </a:p>
          <a:p>
            <a:pPr algn="l">
              <a:lnSpc>
                <a:spcPts val="2411"/>
              </a:lnSpc>
            </a:pPr>
            <a:r>
              <a:rPr lang="en-US" sz="2009" spc="-100">
                <a:solidFill>
                  <a:srgbClr val="E8E8E8"/>
                </a:solidFill>
                <a:latin typeface="Open Sauce"/>
                <a:ea typeface="Open Sauce"/>
                <a:cs typeface="Open Sauce"/>
                <a:sym typeface="Open Sauce"/>
              </a:rPr>
              <a:t>    wi</a:t>
            </a:r>
            <a:r>
              <a:rPr lang="en-US" sz="2009" spc="-100">
                <a:solidFill>
                  <a:srgbClr val="E8E8E8"/>
                </a:solidFill>
                <a:latin typeface="Open Sauce"/>
                <a:ea typeface="Open Sauce"/>
                <a:cs typeface="Open Sauce"/>
                <a:sym typeface="Open Sauce"/>
              </a:rPr>
              <a:t>th torch.no_grad():</a:t>
            </a:r>
          </a:p>
          <a:p>
            <a:pPr algn="l">
              <a:lnSpc>
                <a:spcPts val="2411"/>
              </a:lnSpc>
            </a:pPr>
            <a:r>
              <a:rPr lang="en-US" sz="2009" spc="-100">
                <a:solidFill>
                  <a:srgbClr val="E8E8E8"/>
                </a:solidFill>
                <a:latin typeface="Open Sauce"/>
                <a:ea typeface="Open Sauce"/>
                <a:cs typeface="Open Sauce"/>
                <a:sym typeface="Open Sauce"/>
              </a:rPr>
              <a:t>        y</a:t>
            </a:r>
            <a:r>
              <a:rPr lang="en-US" sz="2009" spc="-100">
                <a:solidFill>
                  <a:srgbClr val="E8E8E8"/>
                </a:solidFill>
                <a:latin typeface="Open Sauce"/>
                <a:ea typeface="Open Sauce"/>
                <a:cs typeface="Open Sauce"/>
                <a:sym typeface="Open Sauce"/>
              </a:rPr>
              <a:t>_pred = net(tt).cpu().numpy().ravel()</a:t>
            </a:r>
          </a:p>
          <a:p>
            <a:pPr algn="l">
              <a:lnSpc>
                <a:spcPts val="2411"/>
              </a:lnSpc>
            </a:pPr>
            <a:r>
              <a:rPr lang="en-US" sz="2009" spc="-100">
                <a:solidFill>
                  <a:srgbClr val="E8E8E8"/>
                </a:solidFill>
                <a:latin typeface="Open Sauce"/>
                <a:ea typeface="Open Sauce"/>
                <a:cs typeface="Open Sauce"/>
                <a:sym typeface="Open Sauce"/>
              </a:rPr>
              <a:t>    y_true = problem.exact_fn(t)</a:t>
            </a:r>
          </a:p>
          <a:p>
            <a:pPr algn="l">
              <a:lnSpc>
                <a:spcPts val="2411"/>
              </a:lnSpc>
            </a:pPr>
            <a:r>
              <a:rPr lang="en-US" sz="2009" spc="-100">
                <a:solidFill>
                  <a:srgbClr val="E8E8E8"/>
                </a:solidFill>
                <a:latin typeface="Open Sauce"/>
                <a:ea typeface="Open Sauce"/>
                <a:cs typeface="Open Sauce"/>
                <a:sym typeface="Open Sauce"/>
              </a:rPr>
              <a:t>  </a:t>
            </a:r>
            <a:r>
              <a:rPr lang="en-US" sz="2009" spc="-100">
                <a:solidFill>
                  <a:srgbClr val="E8E8E8"/>
                </a:solidFill>
                <a:latin typeface="Open Sauce"/>
                <a:ea typeface="Open Sauce"/>
                <a:cs typeface="Open Sauce"/>
                <a:sym typeface="Open Sauce"/>
              </a:rPr>
              <a:t>  return t, y_true, y_pred, stats_table(y_true, y_pred) # 8 error metrics (RMSE, MAE, R2...)</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22" id="22"/>
          <p:cNvSpPr/>
          <p:nvPr/>
        </p:nvSpPr>
        <p:spPr>
          <a:xfrm flipH="false" flipV="false" rot="0">
            <a:off x="17241909"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a:hlinkClick r:id="rId11"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pic>
        <p:nvPicPr>
          <p:cNvPr name="Picture 24" id="24">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Tree>
  </p:cSld>
  <p:clrMapOvr>
    <a:masterClrMapping/>
  </p:clrMapOvr>
  <p:transition spd="slow">
    <p:cover dir="l"/>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5EA3F8"/>
            </a:solidFill>
          </p:spPr>
        </p:sp>
      </p:grpSp>
      <p:sp>
        <p:nvSpPr>
          <p:cNvPr name="TextBox 4" id="4"/>
          <p:cNvSpPr txBox="true"/>
          <p:nvPr/>
        </p:nvSpPr>
        <p:spPr>
          <a:xfrm rot="0">
            <a:off x="1143000" y="447675"/>
            <a:ext cx="16717518" cy="432397"/>
          </a:xfrm>
          <a:prstGeom prst="rect">
            <a:avLst/>
          </a:prstGeom>
        </p:spPr>
        <p:txBody>
          <a:bodyPr anchor="t" rtlCol="false" tIns="0" lIns="0" bIns="0" rIns="0">
            <a:spAutoFit/>
          </a:bodyPr>
          <a:lstStyle/>
          <a:p>
            <a:pPr algn="l">
              <a:lnSpc>
                <a:spcPts val="2729"/>
              </a:lnSpc>
            </a:pPr>
            <a:r>
              <a:rPr lang="en-US" sz="1950" b="true">
                <a:solidFill>
                  <a:srgbClr val="5EA3F8"/>
                </a:solidFill>
                <a:latin typeface="Open Sans Bold"/>
                <a:ea typeface="Open Sans Bold"/>
                <a:cs typeface="Open Sans Bold"/>
                <a:sym typeface="Open Sans Bold"/>
              </a:rPr>
              <a:t>Finite Difference Extension</a:t>
            </a:r>
          </a:p>
        </p:txBody>
      </p:sp>
      <p:sp>
        <p:nvSpPr>
          <p:cNvPr name="TextBox 5" id="5"/>
          <p:cNvSpPr txBox="true"/>
          <p:nvPr/>
        </p:nvSpPr>
        <p:spPr>
          <a:xfrm rot="0">
            <a:off x="1143000" y="1066800"/>
            <a:ext cx="16717518" cy="645719"/>
          </a:xfrm>
          <a:prstGeom prst="rect">
            <a:avLst/>
          </a:prstGeom>
        </p:spPr>
        <p:txBody>
          <a:bodyPr anchor="t" rtlCol="false" tIns="0" lIns="0" bIns="0" rIns="0">
            <a:spAutoFit/>
          </a:bodyPr>
          <a:lstStyle/>
          <a:p>
            <a:pPr algn="l">
              <a:lnSpc>
                <a:spcPts val="4785"/>
              </a:lnSpc>
            </a:pPr>
            <a:r>
              <a:rPr lang="en-US" sz="4350" b="true">
                <a:solidFill>
                  <a:srgbClr val="1F2A44"/>
                </a:solidFill>
                <a:latin typeface="Poppins Bold"/>
                <a:ea typeface="Poppins Bold"/>
                <a:cs typeface="Poppins Bold"/>
                <a:sym typeface="Poppins Bold"/>
              </a:rPr>
              <a:t>Our Main Extension: Finite Difference Method</a:t>
            </a:r>
          </a:p>
        </p:txBody>
      </p:sp>
      <p:sp>
        <p:nvSpPr>
          <p:cNvPr name="AutoShape 6" id="6"/>
          <p:cNvSpPr/>
          <p:nvPr/>
        </p:nvSpPr>
        <p:spPr>
          <a:xfrm flipH="true">
            <a:off x="898851" y="1856232"/>
            <a:ext cx="110792" cy="686943"/>
          </a:xfrm>
          <a:prstGeom prst="line">
            <a:avLst/>
          </a:prstGeom>
          <a:ln cap="rnd" w="28575">
            <a:solidFill>
              <a:srgbClr val="5EA3F8"/>
            </a:solidFill>
            <a:prstDash val="solid"/>
            <a:headEnd type="none" len="sm" w="sm"/>
            <a:tailEnd type="none" len="sm" w="sm"/>
          </a:ln>
        </p:spPr>
      </p:sp>
      <p:sp>
        <p:nvSpPr>
          <p:cNvPr name="TextBox 7" id="7"/>
          <p:cNvSpPr txBox="true"/>
          <p:nvPr/>
        </p:nvSpPr>
        <p:spPr>
          <a:xfrm rot="0">
            <a:off x="1390650" y="1876425"/>
            <a:ext cx="16462438" cy="478136"/>
          </a:xfrm>
          <a:prstGeom prst="rect">
            <a:avLst/>
          </a:prstGeom>
        </p:spPr>
        <p:txBody>
          <a:bodyPr anchor="t" rtlCol="false" tIns="0" lIns="0" bIns="0" rIns="0">
            <a:spAutoFit/>
          </a:bodyPr>
          <a:lstStyle/>
          <a:p>
            <a:pPr algn="l">
              <a:lnSpc>
                <a:spcPts val="3240"/>
              </a:lnSpc>
            </a:pPr>
            <a:r>
              <a:rPr lang="en-US" sz="2400">
                <a:solidFill>
                  <a:srgbClr val="1F2A44"/>
                </a:solidFill>
                <a:latin typeface="Open Sans"/>
                <a:ea typeface="Open Sans"/>
                <a:cs typeface="Open Sans"/>
                <a:sym typeface="Open Sans"/>
              </a:rPr>
              <a:t>A classical method: cut the problem into many small steps and solve for the answer at every step.</a:t>
            </a:r>
          </a:p>
        </p:txBody>
      </p:sp>
      <p:grpSp>
        <p:nvGrpSpPr>
          <p:cNvPr name="Group 8" id="8"/>
          <p:cNvGrpSpPr/>
          <p:nvPr/>
        </p:nvGrpSpPr>
        <p:grpSpPr>
          <a:xfrm rot="0">
            <a:off x="1009642" y="2522980"/>
            <a:ext cx="5257800" cy="2552700"/>
            <a:chOff x="0" y="0"/>
            <a:chExt cx="7010400" cy="3403600"/>
          </a:xfrm>
        </p:grpSpPr>
        <p:sp>
          <p:nvSpPr>
            <p:cNvPr name="Freeform 9" id="9"/>
            <p:cNvSpPr/>
            <p:nvPr/>
          </p:nvSpPr>
          <p:spPr>
            <a:xfrm flipH="false" flipV="false" rot="0">
              <a:off x="0" y="0"/>
              <a:ext cx="7010400" cy="3403600"/>
            </a:xfrm>
            <a:custGeom>
              <a:avLst/>
              <a:gdLst/>
              <a:ahLst/>
              <a:cxnLst/>
              <a:rect r="r" b="b" t="t" l="l"/>
              <a:pathLst>
                <a:path h="3403600" w="7010400">
                  <a:moveTo>
                    <a:pt x="0" y="203200"/>
                  </a:moveTo>
                  <a:cubicBezTo>
                    <a:pt x="0" y="90932"/>
                    <a:pt x="90932" y="0"/>
                    <a:pt x="203200" y="0"/>
                  </a:cubicBezTo>
                  <a:lnTo>
                    <a:pt x="6807200" y="0"/>
                  </a:lnTo>
                  <a:cubicBezTo>
                    <a:pt x="6919468" y="0"/>
                    <a:pt x="7010400" y="90932"/>
                    <a:pt x="7010400" y="203200"/>
                  </a:cubicBezTo>
                  <a:lnTo>
                    <a:pt x="7010400" y="3200400"/>
                  </a:lnTo>
                  <a:cubicBezTo>
                    <a:pt x="7010400" y="3312668"/>
                    <a:pt x="6919468" y="3403600"/>
                    <a:pt x="6807200" y="3403600"/>
                  </a:cubicBezTo>
                  <a:lnTo>
                    <a:pt x="203200" y="3403600"/>
                  </a:lnTo>
                  <a:cubicBezTo>
                    <a:pt x="90932" y="3403600"/>
                    <a:pt x="0" y="3312668"/>
                    <a:pt x="0" y="3200400"/>
                  </a:cubicBezTo>
                  <a:close/>
                </a:path>
              </a:pathLst>
            </a:custGeom>
            <a:solidFill>
              <a:srgbClr val="E8F1FD"/>
            </a:solidFill>
          </p:spPr>
        </p:sp>
      </p:grpSp>
      <p:sp>
        <p:nvSpPr>
          <p:cNvPr name="TextBox 10" id="10"/>
          <p:cNvSpPr txBox="true"/>
          <p:nvPr/>
        </p:nvSpPr>
        <p:spPr>
          <a:xfrm rot="0">
            <a:off x="1409700" y="2800350"/>
            <a:ext cx="157659" cy="474345"/>
          </a:xfrm>
          <a:prstGeom prst="rect">
            <a:avLst/>
          </a:prstGeom>
        </p:spPr>
        <p:txBody>
          <a:bodyPr anchor="t" rtlCol="false" tIns="0" lIns="0" bIns="0" rIns="0">
            <a:spAutoFit/>
          </a:bodyPr>
          <a:lstStyle/>
          <a:p>
            <a:pPr algn="l">
              <a:lnSpc>
                <a:spcPts val="3300"/>
              </a:lnSpc>
            </a:pPr>
            <a:r>
              <a:rPr lang="en-US" b="true" sz="3300" u="sng">
                <a:solidFill>
                  <a:srgbClr val="5EA3F8"/>
                </a:solidFill>
                <a:latin typeface="Poppins Bold"/>
                <a:ea typeface="Poppins Bold"/>
                <a:cs typeface="Poppins Bold"/>
                <a:sym typeface="Poppins Bold"/>
                <a:hlinkClick r:id="rId2" action="ppaction://hlinksldjump"/>
              </a:rPr>
              <a:t>1</a:t>
            </a:r>
          </a:p>
        </p:txBody>
      </p:sp>
      <p:sp>
        <p:nvSpPr>
          <p:cNvPr name="TextBox 11" id="11"/>
          <p:cNvSpPr txBox="true"/>
          <p:nvPr/>
        </p:nvSpPr>
        <p:spPr>
          <a:xfrm rot="0">
            <a:off x="1409700" y="3286125"/>
            <a:ext cx="4866132" cy="422872"/>
          </a:xfrm>
          <a:prstGeom prst="rect">
            <a:avLst/>
          </a:prstGeom>
        </p:spPr>
        <p:txBody>
          <a:bodyPr anchor="t" rtlCol="false" tIns="0" lIns="0" bIns="0" rIns="0">
            <a:spAutoFit/>
          </a:bodyPr>
          <a:lstStyle/>
          <a:p>
            <a:pPr algn="l">
              <a:lnSpc>
                <a:spcPts val="2879"/>
              </a:lnSpc>
            </a:pPr>
            <a:r>
              <a:rPr lang="en-US" sz="2400" b="true">
                <a:solidFill>
                  <a:srgbClr val="1F2A44"/>
                </a:solidFill>
                <a:latin typeface="Poppins Bold"/>
                <a:ea typeface="Poppins Bold"/>
                <a:cs typeface="Poppins Bold"/>
                <a:sym typeface="Poppins Bold"/>
              </a:rPr>
              <a:t>Split into small steps</a:t>
            </a:r>
          </a:p>
        </p:txBody>
      </p:sp>
      <p:sp>
        <p:nvSpPr>
          <p:cNvPr name="TextBox 12" id="12"/>
          <p:cNvSpPr txBox="true"/>
          <p:nvPr/>
        </p:nvSpPr>
        <p:spPr>
          <a:xfrm rot="0">
            <a:off x="1409700" y="3756622"/>
            <a:ext cx="4866132" cy="786603"/>
          </a:xfrm>
          <a:prstGeom prst="rect">
            <a:avLst/>
          </a:prstGeom>
        </p:spPr>
        <p:txBody>
          <a:bodyPr anchor="t" rtlCol="false" tIns="0" lIns="0" bIns="0" rIns="0">
            <a:spAutoFit/>
          </a:bodyPr>
          <a:lstStyle/>
          <a:p>
            <a:pPr algn="l">
              <a:lnSpc>
                <a:spcPts val="2835"/>
              </a:lnSpc>
            </a:pPr>
            <a:r>
              <a:rPr lang="en-US" sz="2100">
                <a:solidFill>
                  <a:srgbClr val="1F2A44"/>
                </a:solidFill>
                <a:latin typeface="Open Sans"/>
                <a:ea typeface="Open Sans"/>
                <a:cs typeface="Open Sans"/>
                <a:sym typeface="Open Sans"/>
              </a:rPr>
              <a:t>Divide the interval from 0 to 1 into many equally spaced points.</a:t>
            </a:r>
          </a:p>
        </p:txBody>
      </p:sp>
      <p:grpSp>
        <p:nvGrpSpPr>
          <p:cNvPr name="Group 13" id="13"/>
          <p:cNvGrpSpPr/>
          <p:nvPr/>
        </p:nvGrpSpPr>
        <p:grpSpPr>
          <a:xfrm rot="0">
            <a:off x="6629400" y="2543175"/>
            <a:ext cx="5257800" cy="2552700"/>
            <a:chOff x="0" y="0"/>
            <a:chExt cx="7010400" cy="3403600"/>
          </a:xfrm>
        </p:grpSpPr>
        <p:sp>
          <p:nvSpPr>
            <p:cNvPr name="Freeform 14" id="14"/>
            <p:cNvSpPr/>
            <p:nvPr/>
          </p:nvSpPr>
          <p:spPr>
            <a:xfrm flipH="false" flipV="false" rot="0">
              <a:off x="0" y="0"/>
              <a:ext cx="7010400" cy="3403600"/>
            </a:xfrm>
            <a:custGeom>
              <a:avLst/>
              <a:gdLst/>
              <a:ahLst/>
              <a:cxnLst/>
              <a:rect r="r" b="b" t="t" l="l"/>
              <a:pathLst>
                <a:path h="3403600" w="7010400">
                  <a:moveTo>
                    <a:pt x="0" y="203200"/>
                  </a:moveTo>
                  <a:cubicBezTo>
                    <a:pt x="0" y="90932"/>
                    <a:pt x="90932" y="0"/>
                    <a:pt x="203200" y="0"/>
                  </a:cubicBezTo>
                  <a:lnTo>
                    <a:pt x="6807200" y="0"/>
                  </a:lnTo>
                  <a:cubicBezTo>
                    <a:pt x="6919468" y="0"/>
                    <a:pt x="7010400" y="90932"/>
                    <a:pt x="7010400" y="203200"/>
                  </a:cubicBezTo>
                  <a:lnTo>
                    <a:pt x="7010400" y="3200400"/>
                  </a:lnTo>
                  <a:cubicBezTo>
                    <a:pt x="7010400" y="3312668"/>
                    <a:pt x="6919468" y="3403600"/>
                    <a:pt x="6807200" y="3403600"/>
                  </a:cubicBezTo>
                  <a:lnTo>
                    <a:pt x="203200" y="3403600"/>
                  </a:lnTo>
                  <a:cubicBezTo>
                    <a:pt x="90932" y="3403600"/>
                    <a:pt x="0" y="3312668"/>
                    <a:pt x="0" y="3200400"/>
                  </a:cubicBezTo>
                  <a:close/>
                </a:path>
              </a:pathLst>
            </a:custGeom>
            <a:solidFill>
              <a:srgbClr val="E8F1FD"/>
            </a:solidFill>
          </p:spPr>
        </p:sp>
      </p:grpSp>
      <p:sp>
        <p:nvSpPr>
          <p:cNvPr name="TextBox 15" id="15"/>
          <p:cNvSpPr txBox="true"/>
          <p:nvPr/>
        </p:nvSpPr>
        <p:spPr>
          <a:xfrm rot="0">
            <a:off x="6896100" y="2800350"/>
            <a:ext cx="239316" cy="474345"/>
          </a:xfrm>
          <a:prstGeom prst="rect">
            <a:avLst/>
          </a:prstGeom>
        </p:spPr>
        <p:txBody>
          <a:bodyPr anchor="t" rtlCol="false" tIns="0" lIns="0" bIns="0" rIns="0">
            <a:spAutoFit/>
          </a:bodyPr>
          <a:lstStyle/>
          <a:p>
            <a:pPr algn="l">
              <a:lnSpc>
                <a:spcPts val="3300"/>
              </a:lnSpc>
            </a:pPr>
            <a:r>
              <a:rPr lang="en-US" b="true" sz="3300" u="sng">
                <a:solidFill>
                  <a:srgbClr val="5EA3F8"/>
                </a:solidFill>
                <a:latin typeface="Poppins Bold"/>
                <a:ea typeface="Poppins Bold"/>
                <a:cs typeface="Poppins Bold"/>
                <a:sym typeface="Poppins Bold"/>
                <a:hlinkClick r:id="rId3" action="ppaction://hlinksldjump"/>
              </a:rPr>
              <a:t>2</a:t>
            </a:r>
          </a:p>
        </p:txBody>
      </p:sp>
      <p:sp>
        <p:nvSpPr>
          <p:cNvPr name="TextBox 16" id="16"/>
          <p:cNvSpPr txBox="true"/>
          <p:nvPr/>
        </p:nvSpPr>
        <p:spPr>
          <a:xfrm rot="0">
            <a:off x="6896100" y="3286125"/>
            <a:ext cx="4866132" cy="422872"/>
          </a:xfrm>
          <a:prstGeom prst="rect">
            <a:avLst/>
          </a:prstGeom>
        </p:spPr>
        <p:txBody>
          <a:bodyPr anchor="t" rtlCol="false" tIns="0" lIns="0" bIns="0" rIns="0">
            <a:spAutoFit/>
          </a:bodyPr>
          <a:lstStyle/>
          <a:p>
            <a:pPr algn="l">
              <a:lnSpc>
                <a:spcPts val="2879"/>
              </a:lnSpc>
            </a:pPr>
            <a:r>
              <a:rPr lang="en-US" sz="2400" b="true">
                <a:solidFill>
                  <a:srgbClr val="1F2A44"/>
                </a:solidFill>
                <a:latin typeface="Poppins Bold"/>
                <a:ea typeface="Poppins Bold"/>
                <a:cs typeface="Poppins Bold"/>
                <a:sym typeface="Poppins Bold"/>
              </a:rPr>
              <a:t>Link neighbours</a:t>
            </a:r>
          </a:p>
        </p:txBody>
      </p:sp>
      <p:sp>
        <p:nvSpPr>
          <p:cNvPr name="TextBox 17" id="17"/>
          <p:cNvSpPr txBox="true"/>
          <p:nvPr/>
        </p:nvSpPr>
        <p:spPr>
          <a:xfrm rot="0">
            <a:off x="6896100" y="3756622"/>
            <a:ext cx="4866132" cy="1146572"/>
          </a:xfrm>
          <a:prstGeom prst="rect">
            <a:avLst/>
          </a:prstGeom>
        </p:spPr>
        <p:txBody>
          <a:bodyPr anchor="t" rtlCol="false" tIns="0" lIns="0" bIns="0" rIns="0">
            <a:spAutoFit/>
          </a:bodyPr>
          <a:lstStyle/>
          <a:p>
            <a:pPr algn="l">
              <a:lnSpc>
                <a:spcPts val="2835"/>
              </a:lnSpc>
            </a:pPr>
            <a:r>
              <a:rPr lang="en-US" sz="2100">
                <a:solidFill>
                  <a:srgbClr val="1F2A44"/>
                </a:solidFill>
                <a:latin typeface="Open Sans"/>
                <a:ea typeface="Open Sans"/>
                <a:cs typeface="Open Sans"/>
                <a:sym typeface="Open Sans"/>
              </a:rPr>
              <a:t>Each point is connected to the points next to it, so the problem becomes simple arithmetic.</a:t>
            </a:r>
          </a:p>
        </p:txBody>
      </p:sp>
      <p:grpSp>
        <p:nvGrpSpPr>
          <p:cNvPr name="Group 18" id="18"/>
          <p:cNvGrpSpPr/>
          <p:nvPr/>
        </p:nvGrpSpPr>
        <p:grpSpPr>
          <a:xfrm rot="0">
            <a:off x="12115800" y="2543175"/>
            <a:ext cx="5257800" cy="2552700"/>
            <a:chOff x="0" y="0"/>
            <a:chExt cx="7010400" cy="3403600"/>
          </a:xfrm>
        </p:grpSpPr>
        <p:sp>
          <p:nvSpPr>
            <p:cNvPr name="Freeform 19" id="19"/>
            <p:cNvSpPr/>
            <p:nvPr/>
          </p:nvSpPr>
          <p:spPr>
            <a:xfrm flipH="false" flipV="false" rot="0">
              <a:off x="0" y="0"/>
              <a:ext cx="7010400" cy="3403600"/>
            </a:xfrm>
            <a:custGeom>
              <a:avLst/>
              <a:gdLst/>
              <a:ahLst/>
              <a:cxnLst/>
              <a:rect r="r" b="b" t="t" l="l"/>
              <a:pathLst>
                <a:path h="3403600" w="7010400">
                  <a:moveTo>
                    <a:pt x="0" y="203200"/>
                  </a:moveTo>
                  <a:cubicBezTo>
                    <a:pt x="0" y="90932"/>
                    <a:pt x="90932" y="0"/>
                    <a:pt x="203200" y="0"/>
                  </a:cubicBezTo>
                  <a:lnTo>
                    <a:pt x="6807200" y="0"/>
                  </a:lnTo>
                  <a:cubicBezTo>
                    <a:pt x="6919468" y="0"/>
                    <a:pt x="7010400" y="90932"/>
                    <a:pt x="7010400" y="203200"/>
                  </a:cubicBezTo>
                  <a:lnTo>
                    <a:pt x="7010400" y="3200400"/>
                  </a:lnTo>
                  <a:cubicBezTo>
                    <a:pt x="7010400" y="3312668"/>
                    <a:pt x="6919468" y="3403600"/>
                    <a:pt x="6807200" y="3403600"/>
                  </a:cubicBezTo>
                  <a:lnTo>
                    <a:pt x="203200" y="3403600"/>
                  </a:lnTo>
                  <a:cubicBezTo>
                    <a:pt x="90932" y="3403600"/>
                    <a:pt x="0" y="3312668"/>
                    <a:pt x="0" y="3200400"/>
                  </a:cubicBezTo>
                  <a:close/>
                </a:path>
              </a:pathLst>
            </a:custGeom>
            <a:solidFill>
              <a:srgbClr val="E8F1FD"/>
            </a:solidFill>
          </p:spPr>
        </p:sp>
      </p:grpSp>
      <p:sp>
        <p:nvSpPr>
          <p:cNvPr name="TextBox 20" id="20"/>
          <p:cNvSpPr txBox="true"/>
          <p:nvPr/>
        </p:nvSpPr>
        <p:spPr>
          <a:xfrm rot="0">
            <a:off x="12382500" y="2800350"/>
            <a:ext cx="253603" cy="474345"/>
          </a:xfrm>
          <a:prstGeom prst="rect">
            <a:avLst/>
          </a:prstGeom>
        </p:spPr>
        <p:txBody>
          <a:bodyPr anchor="t" rtlCol="false" tIns="0" lIns="0" bIns="0" rIns="0">
            <a:spAutoFit/>
          </a:bodyPr>
          <a:lstStyle/>
          <a:p>
            <a:pPr algn="l">
              <a:lnSpc>
                <a:spcPts val="3300"/>
              </a:lnSpc>
            </a:pPr>
            <a:r>
              <a:rPr lang="en-US" b="true" sz="3300" u="sng">
                <a:solidFill>
                  <a:srgbClr val="5EA3F8"/>
                </a:solidFill>
                <a:latin typeface="Poppins Bold"/>
                <a:ea typeface="Poppins Bold"/>
                <a:cs typeface="Poppins Bold"/>
                <a:sym typeface="Poppins Bold"/>
                <a:hlinkClick r:id="rId4" action="ppaction://hlinksldjump"/>
              </a:rPr>
              <a:t>3</a:t>
            </a:r>
          </a:p>
        </p:txBody>
      </p:sp>
      <p:sp>
        <p:nvSpPr>
          <p:cNvPr name="TextBox 21" id="21"/>
          <p:cNvSpPr txBox="true"/>
          <p:nvPr/>
        </p:nvSpPr>
        <p:spPr>
          <a:xfrm rot="0">
            <a:off x="12382500" y="3286125"/>
            <a:ext cx="4991100" cy="422872"/>
          </a:xfrm>
          <a:prstGeom prst="rect">
            <a:avLst/>
          </a:prstGeom>
        </p:spPr>
        <p:txBody>
          <a:bodyPr anchor="t" rtlCol="false" tIns="0" lIns="0" bIns="0" rIns="0">
            <a:spAutoFit/>
          </a:bodyPr>
          <a:lstStyle/>
          <a:p>
            <a:pPr algn="l">
              <a:lnSpc>
                <a:spcPts val="2879"/>
              </a:lnSpc>
            </a:pPr>
            <a:r>
              <a:rPr lang="en-US" sz="2400" b="true">
                <a:solidFill>
                  <a:srgbClr val="1F2A44"/>
                </a:solidFill>
                <a:latin typeface="Poppins Bold"/>
                <a:ea typeface="Poppins Bold"/>
                <a:cs typeface="Poppins Bold"/>
                <a:sym typeface="Poppins Bold"/>
              </a:rPr>
              <a:t>Add the three-point condition</a:t>
            </a:r>
          </a:p>
        </p:txBody>
      </p:sp>
      <p:sp>
        <p:nvSpPr>
          <p:cNvPr name="TextBox 22" id="22"/>
          <p:cNvSpPr txBox="true"/>
          <p:nvPr/>
        </p:nvSpPr>
        <p:spPr>
          <a:xfrm rot="0">
            <a:off x="12382500" y="3756622"/>
            <a:ext cx="4866132" cy="1146572"/>
          </a:xfrm>
          <a:prstGeom prst="rect">
            <a:avLst/>
          </a:prstGeom>
        </p:spPr>
        <p:txBody>
          <a:bodyPr anchor="t" rtlCol="false" tIns="0" lIns="0" bIns="0" rIns="0">
            <a:spAutoFit/>
          </a:bodyPr>
          <a:lstStyle/>
          <a:p>
            <a:pPr algn="l">
              <a:lnSpc>
                <a:spcPts val="2835"/>
              </a:lnSpc>
            </a:pPr>
            <a:r>
              <a:rPr lang="en-US" sz="2100">
                <a:solidFill>
                  <a:srgbClr val="1F2A44"/>
                </a:solidFill>
                <a:latin typeface="Open Sans"/>
                <a:ea typeface="Open Sans"/>
                <a:cs typeface="Open Sans"/>
                <a:sym typeface="Open Sans"/>
              </a:rPr>
              <a:t>The end point is tied to the middle point, and all points are solved together.</a:t>
            </a:r>
          </a:p>
        </p:txBody>
      </p:sp>
      <p:grpSp>
        <p:nvGrpSpPr>
          <p:cNvPr name="Group 23" id="23"/>
          <p:cNvGrpSpPr/>
          <p:nvPr/>
        </p:nvGrpSpPr>
        <p:grpSpPr>
          <a:xfrm rot="0">
            <a:off x="1143000" y="5324475"/>
            <a:ext cx="16230600" cy="2076450"/>
            <a:chOff x="0" y="0"/>
            <a:chExt cx="21640800" cy="2768600"/>
          </a:xfrm>
        </p:grpSpPr>
        <p:sp>
          <p:nvSpPr>
            <p:cNvPr name="Freeform 24" id="24"/>
            <p:cNvSpPr/>
            <p:nvPr/>
          </p:nvSpPr>
          <p:spPr>
            <a:xfrm flipH="false" flipV="false" rot="0">
              <a:off x="0" y="0"/>
              <a:ext cx="21640800" cy="2768600"/>
            </a:xfrm>
            <a:custGeom>
              <a:avLst/>
              <a:gdLst/>
              <a:ahLst/>
              <a:cxnLst/>
              <a:rect r="r" b="b" t="t" l="l"/>
              <a:pathLst>
                <a:path h="2768600" w="21640800">
                  <a:moveTo>
                    <a:pt x="0" y="197739"/>
                  </a:moveTo>
                  <a:cubicBezTo>
                    <a:pt x="0" y="88519"/>
                    <a:pt x="88519" y="0"/>
                    <a:pt x="197739" y="0"/>
                  </a:cubicBezTo>
                  <a:lnTo>
                    <a:pt x="21443062" y="0"/>
                  </a:lnTo>
                  <a:cubicBezTo>
                    <a:pt x="21552281" y="0"/>
                    <a:pt x="21640800" y="88519"/>
                    <a:pt x="21640800" y="197739"/>
                  </a:cubicBezTo>
                  <a:lnTo>
                    <a:pt x="21640800" y="2570861"/>
                  </a:lnTo>
                  <a:cubicBezTo>
                    <a:pt x="21640800" y="2680081"/>
                    <a:pt x="21552281" y="2768600"/>
                    <a:pt x="21443062" y="2768600"/>
                  </a:cubicBezTo>
                  <a:lnTo>
                    <a:pt x="197739" y="2768600"/>
                  </a:lnTo>
                  <a:cubicBezTo>
                    <a:pt x="88519" y="2768600"/>
                    <a:pt x="0" y="2680081"/>
                    <a:pt x="0" y="2570861"/>
                  </a:cubicBezTo>
                  <a:close/>
                </a:path>
              </a:pathLst>
            </a:custGeom>
            <a:solidFill>
              <a:srgbClr val="FFFFFF"/>
            </a:solidFill>
            <a:ln w="9525" cap="sq">
              <a:solidFill>
                <a:srgbClr val="D5E3F7"/>
              </a:solidFill>
              <a:prstDash val="solid"/>
              <a:miter/>
            </a:ln>
          </p:spPr>
        </p:sp>
      </p:grpSp>
      <p:grpSp>
        <p:nvGrpSpPr>
          <p:cNvPr name="Group 25" id="25"/>
          <p:cNvGrpSpPr/>
          <p:nvPr/>
        </p:nvGrpSpPr>
        <p:grpSpPr>
          <a:xfrm rot="0">
            <a:off x="1301753" y="5407028"/>
            <a:ext cx="15430500" cy="1905000"/>
            <a:chOff x="0" y="0"/>
            <a:chExt cx="20574000" cy="2540000"/>
          </a:xfrm>
        </p:grpSpPr>
        <p:sp>
          <p:nvSpPr>
            <p:cNvPr name="Freeform 26" id="26" descr="A line from 0 to 1 split into many small steps, with the last point linked to the middle point"/>
            <p:cNvSpPr/>
            <p:nvPr/>
          </p:nvSpPr>
          <p:spPr>
            <a:xfrm flipH="false" flipV="false" rot="0">
              <a:off x="0" y="0"/>
              <a:ext cx="20574000" cy="2540000"/>
            </a:xfrm>
            <a:custGeom>
              <a:avLst/>
              <a:gdLst/>
              <a:ahLst/>
              <a:cxnLst/>
              <a:rect r="r" b="b" t="t" l="l"/>
              <a:pathLst>
                <a:path h="2540000" w="20574000">
                  <a:moveTo>
                    <a:pt x="0" y="0"/>
                  </a:moveTo>
                  <a:lnTo>
                    <a:pt x="20574000" y="0"/>
                  </a:lnTo>
                  <a:lnTo>
                    <a:pt x="20574000" y="2540000"/>
                  </a:lnTo>
                  <a:lnTo>
                    <a:pt x="0" y="2540000"/>
                  </a:lnTo>
                  <a:lnTo>
                    <a:pt x="0" y="0"/>
                  </a:lnTo>
                  <a:close/>
                </a:path>
              </a:pathLst>
            </a:custGeom>
            <a:blipFill>
              <a:blip r:embed="rId5"/>
              <a:stretch>
                <a:fillRect l="31" t="0" r="31" b="0"/>
              </a:stretch>
            </a:blipFill>
          </p:spPr>
        </p:sp>
      </p:grpSp>
      <p:grpSp>
        <p:nvGrpSpPr>
          <p:cNvPr name="Group 27" id="27"/>
          <p:cNvGrpSpPr/>
          <p:nvPr/>
        </p:nvGrpSpPr>
        <p:grpSpPr>
          <a:xfrm rot="0">
            <a:off x="1143000" y="7620000"/>
            <a:ext cx="16230600" cy="1097166"/>
            <a:chOff x="0" y="0"/>
            <a:chExt cx="21640800" cy="1462888"/>
          </a:xfrm>
        </p:grpSpPr>
        <p:sp>
          <p:nvSpPr>
            <p:cNvPr name="Freeform 28" id="28"/>
            <p:cNvSpPr/>
            <p:nvPr/>
          </p:nvSpPr>
          <p:spPr>
            <a:xfrm flipH="false" flipV="false" rot="0">
              <a:off x="0" y="0"/>
              <a:ext cx="21640800" cy="1462913"/>
            </a:xfrm>
            <a:custGeom>
              <a:avLst/>
              <a:gdLst/>
              <a:ahLst/>
              <a:cxnLst/>
              <a:rect r="r" b="b" t="t" l="l"/>
              <a:pathLst>
                <a:path h="1462913" w="21640800">
                  <a:moveTo>
                    <a:pt x="0" y="101600"/>
                  </a:moveTo>
                  <a:cubicBezTo>
                    <a:pt x="0" y="45466"/>
                    <a:pt x="45466" y="0"/>
                    <a:pt x="101600" y="0"/>
                  </a:cubicBezTo>
                  <a:lnTo>
                    <a:pt x="21539200" y="0"/>
                  </a:lnTo>
                  <a:cubicBezTo>
                    <a:pt x="21595335" y="0"/>
                    <a:pt x="21640800" y="45466"/>
                    <a:pt x="21640800" y="101600"/>
                  </a:cubicBezTo>
                  <a:lnTo>
                    <a:pt x="21640800" y="1361313"/>
                  </a:lnTo>
                  <a:cubicBezTo>
                    <a:pt x="21640800" y="1417447"/>
                    <a:pt x="21595335" y="1462913"/>
                    <a:pt x="21539200" y="1462913"/>
                  </a:cubicBezTo>
                  <a:lnTo>
                    <a:pt x="101600" y="1462913"/>
                  </a:lnTo>
                  <a:cubicBezTo>
                    <a:pt x="45466" y="1462913"/>
                    <a:pt x="0" y="1417447"/>
                    <a:pt x="0" y="1361313"/>
                  </a:cubicBezTo>
                  <a:close/>
                </a:path>
              </a:pathLst>
            </a:custGeom>
            <a:solidFill>
              <a:srgbClr val="E8F1FD"/>
            </a:solidFill>
          </p:spPr>
        </p:sp>
        <p:sp>
          <p:nvSpPr>
            <p:cNvPr name="TextBox 29" id="29"/>
            <p:cNvSpPr txBox="true"/>
            <p:nvPr/>
          </p:nvSpPr>
          <p:spPr>
            <a:xfrm>
              <a:off x="0" y="-19050"/>
              <a:ext cx="21640800" cy="1481938"/>
            </a:xfrm>
            <a:prstGeom prst="rect">
              <a:avLst/>
            </a:prstGeom>
          </p:spPr>
          <p:txBody>
            <a:bodyPr anchor="t" rtlCol="false" tIns="50800" lIns="50800" bIns="50800" rIns="50800"/>
            <a:lstStyle/>
            <a:p>
              <a:pPr algn="l">
                <a:lnSpc>
                  <a:spcPts val="3120"/>
                </a:lnSpc>
              </a:pPr>
              <a:r>
                <a:rPr lang="en-US" sz="2400" b="true">
                  <a:solidFill>
                    <a:srgbClr val="1F2A44"/>
                  </a:solidFill>
                  <a:latin typeface="Open Sans Bold"/>
                  <a:ea typeface="Open Sans Bold"/>
                  <a:cs typeface="Open Sans Bold"/>
                  <a:sym typeface="Open Sans Bold"/>
                </a:rPr>
                <a:t>No training and no random seeds: it gives the same answer every time. We used 400 steps for the main comparison.</a:t>
              </a:r>
            </a:p>
          </p:txBody>
        </p:sp>
      </p:grpSp>
      <p:grpSp>
        <p:nvGrpSpPr>
          <p:cNvPr name="Group 30" id="30"/>
          <p:cNvGrpSpPr/>
          <p:nvPr/>
        </p:nvGrpSpPr>
        <p:grpSpPr>
          <a:xfrm rot="0">
            <a:off x="1143000" y="7620000"/>
            <a:ext cx="16230600" cy="1097166"/>
            <a:chOff x="0" y="0"/>
            <a:chExt cx="21640800" cy="1462888"/>
          </a:xfrm>
        </p:grpSpPr>
        <p:sp>
          <p:nvSpPr>
            <p:cNvPr name="Freeform 31" id="31"/>
            <p:cNvSpPr/>
            <p:nvPr/>
          </p:nvSpPr>
          <p:spPr>
            <a:xfrm flipH="false" flipV="false" rot="0">
              <a:off x="0" y="0"/>
              <a:ext cx="101600" cy="1462913"/>
            </a:xfrm>
            <a:custGeom>
              <a:avLst/>
              <a:gdLst/>
              <a:ahLst/>
              <a:cxnLst/>
              <a:rect r="r" b="b" t="t" l="l"/>
              <a:pathLst>
                <a:path h="1462913" w="101600">
                  <a:moveTo>
                    <a:pt x="101600" y="1462913"/>
                  </a:moveTo>
                  <a:cubicBezTo>
                    <a:pt x="45466" y="1462913"/>
                    <a:pt x="0" y="1417447"/>
                    <a:pt x="0" y="1361313"/>
                  </a:cubicBezTo>
                  <a:lnTo>
                    <a:pt x="0" y="101600"/>
                  </a:lnTo>
                  <a:cubicBezTo>
                    <a:pt x="0" y="45466"/>
                    <a:pt x="45466" y="0"/>
                    <a:pt x="101600" y="0"/>
                  </a:cubicBezTo>
                  <a:lnTo>
                    <a:pt x="101600" y="1462913"/>
                  </a:lnTo>
                  <a:close/>
                </a:path>
              </a:pathLst>
            </a:custGeom>
            <a:solidFill>
              <a:srgbClr val="5EA3F8"/>
            </a:solidFill>
          </p:spPr>
        </p:sp>
      </p:grpSp>
      <p:grpSp>
        <p:nvGrpSpPr>
          <p:cNvPr name="Group 32" id="32"/>
          <p:cNvGrpSpPr/>
          <p:nvPr/>
        </p:nvGrpSpPr>
        <p:grpSpPr>
          <a:xfrm rot="0">
            <a:off x="1304925" y="5410200"/>
            <a:ext cx="15430500" cy="1905000"/>
            <a:chOff x="0" y="0"/>
            <a:chExt cx="20574000" cy="2540000"/>
          </a:xfrm>
        </p:grpSpPr>
        <p:sp>
          <p:nvSpPr>
            <p:cNvPr name="Freeform 33" id="33" descr="A line from 0 to 1 split into many small steps, with the last point linked to the middle point"/>
            <p:cNvSpPr/>
            <p:nvPr/>
          </p:nvSpPr>
          <p:spPr>
            <a:xfrm flipH="false" flipV="false" rot="0">
              <a:off x="0" y="0"/>
              <a:ext cx="20574000" cy="2540000"/>
            </a:xfrm>
            <a:custGeom>
              <a:avLst/>
              <a:gdLst/>
              <a:ahLst/>
              <a:cxnLst/>
              <a:rect r="r" b="b" t="t" l="l"/>
              <a:pathLst>
                <a:path h="2540000" w="20574000">
                  <a:moveTo>
                    <a:pt x="0" y="0"/>
                  </a:moveTo>
                  <a:lnTo>
                    <a:pt x="20574000" y="0"/>
                  </a:lnTo>
                  <a:lnTo>
                    <a:pt x="20574000" y="2540000"/>
                  </a:lnTo>
                  <a:lnTo>
                    <a:pt x="0" y="2540000"/>
                  </a:lnTo>
                  <a:lnTo>
                    <a:pt x="0" y="0"/>
                  </a:lnTo>
                  <a:close/>
                </a:path>
              </a:pathLst>
            </a:custGeom>
            <a:blipFill>
              <a:blip r:embed="rId5"/>
              <a:stretch>
                <a:fillRect l="31" t="0" r="31" b="0"/>
              </a:stretch>
            </a:blipFill>
          </p:spPr>
        </p:sp>
      </p:grpSp>
    </p:spTree>
  </p:cSld>
  <p:clrMapOvr>
    <a:masterClrMapping/>
  </p:clrMapOvr>
  <p:transition spd="slow">
    <p:cover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5022596" y="955470"/>
            <a:ext cx="9686822" cy="584324"/>
          </a:xfrm>
          <a:prstGeom prst="rect">
            <a:avLst/>
          </a:prstGeom>
        </p:spPr>
        <p:txBody>
          <a:bodyPr anchor="t" rtlCol="false" tIns="0" lIns="0" bIns="0" rIns="0">
            <a:spAutoFit/>
          </a:bodyPr>
          <a:lstStyle/>
          <a:p>
            <a:pPr algn="l">
              <a:lnSpc>
                <a:spcPts val="4190"/>
              </a:lnSpc>
            </a:pPr>
            <a:r>
              <a:rPr lang="en-US" b="true" sz="4989" spc="-409">
                <a:solidFill>
                  <a:srgbClr val="E8E8E8"/>
                </a:solidFill>
                <a:latin typeface="Open Sauce Bold"/>
                <a:ea typeface="Open Sauce Bold"/>
                <a:cs typeface="Open Sauce Bold"/>
                <a:sym typeface="Open Sauce Bold"/>
              </a:rPr>
              <a:t>1. Split the interval into small steps</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618260"/>
            <a:ext cx="6798885" cy="72390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We divide the interval [0,1] into 400 equal subintervals.</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4090130"/>
            <a:ext cx="7989701" cy="2708621"/>
          </a:xfrm>
          <a:prstGeom prst="rect">
            <a:avLst/>
          </a:prstGeom>
        </p:spPr>
        <p:txBody>
          <a:bodyPr anchor="t" rtlCol="false" tIns="0" lIns="0" bIns="0" rIns="0">
            <a:spAutoFit/>
          </a:bodyPr>
          <a:lstStyle/>
          <a:p>
            <a:pPr algn="l">
              <a:lnSpc>
                <a:spcPts val="3102"/>
              </a:lnSpc>
            </a:pPr>
            <a:r>
              <a:rPr lang="en-US" sz="2585" spc="-129">
                <a:solidFill>
                  <a:srgbClr val="E8E8E8"/>
                </a:solidFill>
                <a:latin typeface="Open Sauce"/>
                <a:ea typeface="Open Sauce"/>
                <a:cs typeface="Open Sauce"/>
                <a:sym typeface="Open Sauce"/>
              </a:rPr>
              <a:t>import numpy as np</a:t>
            </a:r>
          </a:p>
          <a:p>
            <a:pPr algn="l">
              <a:lnSpc>
                <a:spcPts val="3102"/>
              </a:lnSpc>
            </a:pPr>
          </a:p>
          <a:p>
            <a:pPr algn="l">
              <a:lnSpc>
                <a:spcPts val="3102"/>
              </a:lnSpc>
            </a:pPr>
            <a:r>
              <a:rPr lang="en-US" sz="2585" spc="-129">
                <a:solidFill>
                  <a:srgbClr val="E8E8E8"/>
                </a:solidFill>
                <a:latin typeface="Open Sauce"/>
                <a:ea typeface="Open Sauce"/>
                <a:cs typeface="Open Sauce"/>
                <a:sym typeface="Open Sauce"/>
              </a:rPr>
              <a:t>N = 400</a:t>
            </a:r>
          </a:p>
          <a:p>
            <a:pPr algn="l">
              <a:lnSpc>
                <a:spcPts val="3102"/>
              </a:lnSpc>
            </a:pPr>
            <a:r>
              <a:rPr lang="en-US" sz="2585" spc="-129">
                <a:solidFill>
                  <a:srgbClr val="E8E8E8"/>
                </a:solidFill>
                <a:latin typeface="Open Sauce"/>
                <a:ea typeface="Open Sauce"/>
                <a:cs typeface="Open Sauce"/>
                <a:sym typeface="Open Sauce"/>
              </a:rPr>
              <a:t>a, b = 0.0, 1.0</a:t>
            </a:r>
          </a:p>
          <a:p>
            <a:pPr algn="l">
              <a:lnSpc>
                <a:spcPts val="3102"/>
              </a:lnSpc>
            </a:pPr>
          </a:p>
          <a:p>
            <a:pPr algn="l">
              <a:lnSpc>
                <a:spcPts val="3102"/>
              </a:lnSpc>
            </a:pPr>
            <a:r>
              <a:rPr lang="en-US" sz="2585" spc="-129">
                <a:solidFill>
                  <a:srgbClr val="E8E8E8"/>
                </a:solidFill>
                <a:latin typeface="Open Sauce"/>
                <a:ea typeface="Open Sauce"/>
                <a:cs typeface="Open Sauce"/>
                <a:sym typeface="Open Sauce"/>
              </a:rPr>
              <a:t>h = (b - a) / N</a:t>
            </a:r>
          </a:p>
          <a:p>
            <a:pPr algn="l">
              <a:lnSpc>
                <a:spcPts val="3102"/>
              </a:lnSpc>
            </a:pPr>
            <a:r>
              <a:rPr lang="en-US" sz="2585" spc="-129">
                <a:solidFill>
                  <a:srgbClr val="E8E8E8"/>
                </a:solidFill>
                <a:latin typeface="Open Sauce"/>
                <a:ea typeface="Open Sauce"/>
                <a:cs typeface="Open Sauce"/>
                <a:sym typeface="Open Sauce"/>
              </a:rPr>
              <a:t>x = np.linspace(a, b, N + 1)</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22" id="22">
            <a:hlinkClick r:id="rId9" action="ppaction://hlinksldjump"/>
          </p:cNvPr>
          <p:cNvSpPr/>
          <p:nvPr/>
        </p:nvSpPr>
        <p:spPr>
          <a:xfrm flipH="false" flipV="false" rot="0">
            <a:off x="17241909"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a:hlinkClick r:id="rId9"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24" id="24">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Tree>
  </p:cSld>
  <p:clrMapOvr>
    <a:masterClrMapping/>
  </p:clrMapOvr>
  <p:transition spd="slow">
    <p:cover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7763734"/>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0411719" y="3366577"/>
            <a:ext cx="6830369" cy="5958704"/>
            <a:chOff x="0" y="0"/>
            <a:chExt cx="1505159" cy="1313076"/>
          </a:xfrm>
        </p:grpSpPr>
        <p:sp>
          <p:nvSpPr>
            <p:cNvPr name="Freeform 11" id="11"/>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2" id="12"/>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Freeform 13" id="13"/>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028700" y="4365446"/>
            <a:ext cx="6798885" cy="90271"/>
            <a:chOff x="0" y="0"/>
            <a:chExt cx="1790653" cy="23775"/>
          </a:xfrm>
        </p:grpSpPr>
        <p:sp>
          <p:nvSpPr>
            <p:cNvPr name="Freeform 16" id="16"/>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17" id="17"/>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18" id="18">
            <a:hlinkClick r:id="rId9" action="ppaction://hlinksldjump"/>
          </p:cNvPr>
          <p:cNvSpPr/>
          <p:nvPr/>
        </p:nvSpPr>
        <p:spPr>
          <a:xfrm flipH="false" flipV="false" rot="0">
            <a:off x="17241909"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a:hlinkClick r:id="rId9"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20" id="20">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
        <p:nvSpPr>
          <p:cNvPr name="TextBox 21" id="21"/>
          <p:cNvSpPr txBox="true"/>
          <p:nvPr/>
        </p:nvSpPr>
        <p:spPr>
          <a:xfrm rot="0">
            <a:off x="5593627" y="1002715"/>
            <a:ext cx="8403591" cy="590605"/>
          </a:xfrm>
          <a:prstGeom prst="rect">
            <a:avLst/>
          </a:prstGeom>
        </p:spPr>
        <p:txBody>
          <a:bodyPr anchor="t" rtlCol="false" tIns="0" lIns="0" bIns="0" rIns="0">
            <a:spAutoFit/>
          </a:bodyPr>
          <a:lstStyle/>
          <a:p>
            <a:pPr algn="l">
              <a:lnSpc>
                <a:spcPts val="4225"/>
              </a:lnSpc>
            </a:pPr>
            <a:r>
              <a:rPr lang="en-US" b="true" sz="5030" spc="-412">
                <a:solidFill>
                  <a:srgbClr val="E8E8E8"/>
                </a:solidFill>
                <a:latin typeface="Open Sauce Bold"/>
                <a:ea typeface="Open Sauce Bold"/>
                <a:cs typeface="Open Sauce Bold"/>
                <a:sym typeface="Open Sauce Bold"/>
              </a:rPr>
              <a:t>2. Link neighbour</a:t>
            </a:r>
            <a:r>
              <a:rPr lang="en-US" b="true" sz="5030" spc="-412">
                <a:solidFill>
                  <a:srgbClr val="E8E8E8"/>
                </a:solidFill>
                <a:latin typeface="Open Sauce Bold"/>
                <a:ea typeface="Open Sauce Bold"/>
                <a:cs typeface="Open Sauce Bold"/>
                <a:sym typeface="Open Sauce Bold"/>
              </a:rPr>
              <a:t>ing points</a:t>
            </a:r>
          </a:p>
        </p:txBody>
      </p:sp>
      <p:sp>
        <p:nvSpPr>
          <p:cNvPr name="TextBox 22" id="22"/>
          <p:cNvSpPr txBox="true"/>
          <p:nvPr/>
        </p:nvSpPr>
        <p:spPr>
          <a:xfrm rot="0">
            <a:off x="1028700" y="4618260"/>
            <a:ext cx="6484814" cy="1726149"/>
          </a:xfrm>
          <a:prstGeom prst="rect">
            <a:avLst/>
          </a:prstGeom>
        </p:spPr>
        <p:txBody>
          <a:bodyPr anchor="t" rtlCol="false" tIns="0" lIns="0" bIns="0" rIns="0">
            <a:spAutoFit/>
          </a:bodyPr>
          <a:lstStyle/>
          <a:p>
            <a:pPr algn="ctr" marL="494224" indent="-247112" lvl="1">
              <a:lnSpc>
                <a:spcPts val="2746"/>
              </a:lnSpc>
              <a:buFont typeface="Arial"/>
              <a:buChar char="•"/>
            </a:pPr>
            <a:r>
              <a:rPr lang="en-US" sz="2289" spc="-114">
                <a:solidFill>
                  <a:srgbClr val="E8E8E8"/>
                </a:solidFill>
                <a:latin typeface="Open Sauce"/>
                <a:ea typeface="Open Sauce"/>
                <a:cs typeface="Open Sauce"/>
                <a:sym typeface="Open Sauce"/>
              </a:rPr>
              <a:t>Each interior point is connected to its left and right neighbours.</a:t>
            </a:r>
          </a:p>
          <a:p>
            <a:pPr algn="ctr" marL="494224" indent="-247112" lvl="1">
              <a:lnSpc>
                <a:spcPts val="2746"/>
              </a:lnSpc>
              <a:buFont typeface="Arial"/>
              <a:buChar char="•"/>
            </a:pPr>
            <a:r>
              <a:rPr lang="en-US" sz="2289" spc="-114">
                <a:solidFill>
                  <a:srgbClr val="E8E8E8"/>
                </a:solidFill>
                <a:latin typeface="Open Sauce"/>
                <a:ea typeface="Open Sauce"/>
                <a:cs typeface="Open Sauce"/>
                <a:sym typeface="Open Sauce"/>
              </a:rPr>
              <a:t>We approximate the second derivative using the central difference formula</a:t>
            </a:r>
          </a:p>
          <a:p>
            <a:pPr algn="ctr">
              <a:lnSpc>
                <a:spcPts val="2746"/>
              </a:lnSpc>
            </a:pPr>
          </a:p>
        </p:txBody>
      </p:sp>
      <p:sp>
        <p:nvSpPr>
          <p:cNvPr name="TextBox 23" id="23"/>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sp>
        <p:nvSpPr>
          <p:cNvPr name="TextBox 24" id="24"/>
          <p:cNvSpPr txBox="true"/>
          <p:nvPr/>
        </p:nvSpPr>
        <p:spPr>
          <a:xfrm rot="0">
            <a:off x="10721703" y="4090130"/>
            <a:ext cx="6537597" cy="2565081"/>
          </a:xfrm>
          <a:prstGeom prst="rect">
            <a:avLst/>
          </a:prstGeom>
        </p:spPr>
        <p:txBody>
          <a:bodyPr anchor="t" rtlCol="false" tIns="0" lIns="0" bIns="0" rIns="0">
            <a:spAutoFit/>
          </a:bodyPr>
          <a:lstStyle/>
          <a:p>
            <a:pPr algn="l">
              <a:lnSpc>
                <a:spcPts val="2937"/>
              </a:lnSpc>
            </a:pPr>
            <a:r>
              <a:rPr lang="en-US" sz="2448" spc="-122">
                <a:solidFill>
                  <a:srgbClr val="E8E8E8"/>
                </a:solidFill>
                <a:latin typeface="Open Sauce"/>
                <a:ea typeface="Open Sauce"/>
                <a:cs typeface="Open Sauce"/>
                <a:sym typeface="Open Sauce"/>
              </a:rPr>
              <a:t>for i in range(1, N):</a:t>
            </a:r>
          </a:p>
          <a:p>
            <a:pPr algn="l">
              <a:lnSpc>
                <a:spcPts val="2937"/>
              </a:lnSpc>
            </a:pPr>
            <a:r>
              <a:rPr lang="en-US" sz="2448" spc="-122">
                <a:solidFill>
                  <a:srgbClr val="E8E8E8"/>
                </a:solidFill>
                <a:latin typeface="Open Sauce"/>
                <a:ea typeface="Open Sauce"/>
                <a:cs typeface="Open Sauce"/>
                <a:sym typeface="Open Sauce"/>
              </a:rPr>
              <a:t>    x_prev = x[i - 1]</a:t>
            </a:r>
          </a:p>
          <a:p>
            <a:pPr algn="l">
              <a:lnSpc>
                <a:spcPts val="2937"/>
              </a:lnSpc>
            </a:pPr>
            <a:r>
              <a:rPr lang="en-US" sz="2448" spc="-122">
                <a:solidFill>
                  <a:srgbClr val="E8E8E8"/>
                </a:solidFill>
                <a:latin typeface="Open Sauce"/>
                <a:ea typeface="Open Sauce"/>
                <a:cs typeface="Open Sauce"/>
                <a:sym typeface="Open Sauce"/>
              </a:rPr>
              <a:t>    x_curr = x[i]</a:t>
            </a:r>
          </a:p>
          <a:p>
            <a:pPr algn="l">
              <a:lnSpc>
                <a:spcPts val="2937"/>
              </a:lnSpc>
            </a:pPr>
            <a:r>
              <a:rPr lang="en-US" sz="2448" spc="-122">
                <a:solidFill>
                  <a:srgbClr val="E8E8E8"/>
                </a:solidFill>
                <a:latin typeface="Open Sauce"/>
                <a:ea typeface="Open Sauce"/>
                <a:cs typeface="Open Sauce"/>
                <a:sym typeface="Open Sauce"/>
              </a:rPr>
              <a:t>    x_next = x[i + 1]</a:t>
            </a:r>
          </a:p>
          <a:p>
            <a:pPr algn="l">
              <a:lnSpc>
                <a:spcPts val="2937"/>
              </a:lnSpc>
            </a:pPr>
          </a:p>
          <a:p>
            <a:pPr algn="l">
              <a:lnSpc>
                <a:spcPts val="2937"/>
              </a:lnSpc>
            </a:pPr>
            <a:r>
              <a:rPr lang="en-US" sz="2448" spc="-122">
                <a:solidFill>
                  <a:srgbClr val="E8E8E8"/>
                </a:solidFill>
                <a:latin typeface="Open Sauce"/>
                <a:ea typeface="Open Sauce"/>
                <a:cs typeface="Open Sauce"/>
                <a:sym typeface="Open Sauce"/>
              </a:rPr>
              <a:t>    # Central difference approximation of y''(x_i)</a:t>
            </a:r>
          </a:p>
          <a:p>
            <a:pPr algn="l">
              <a:lnSpc>
                <a:spcPts val="2937"/>
              </a:lnSpc>
            </a:pPr>
            <a:r>
              <a:rPr lang="en-US" sz="2448" spc="-122">
                <a:solidFill>
                  <a:srgbClr val="E8E8E8"/>
                </a:solidFill>
                <a:latin typeface="Open Sauce"/>
                <a:ea typeface="Open Sauce"/>
                <a:cs typeface="Open Sauce"/>
                <a:sym typeface="Open Sauce"/>
              </a:rPr>
              <a:t>    d2y = (y[i + 1] - 2*y[i] + y[i - 1]) / h**2</a:t>
            </a:r>
          </a:p>
        </p:txBody>
      </p:sp>
      <p:pic>
        <p:nvPicPr>
          <p:cNvPr name="Picture 25" id="25"/>
          <p:cNvPicPr>
            <a:picLocks noChangeAspect="true"/>
          </p:cNvPicPr>
          <p:nvPr/>
        </p:nvPicPr>
        <p:blipFill>
          <a:blip r:embed="rId14"/>
          <a:stretch>
            <a:fillRect/>
          </a:stretch>
        </p:blipFill>
        <p:spPr>
          <a:xfrm rot="0">
            <a:off x="-505805" y="5435857"/>
            <a:ext cx="10398452" cy="2879467"/>
          </a:xfrm>
          <a:prstGeom prst="rect">
            <a:avLst/>
          </a:prstGeom>
        </p:spPr>
      </p:pic>
    </p:spTree>
  </p:cSld>
  <p:clrMapOvr>
    <a:masterClrMapping/>
  </p:clrMapOvr>
  <p:transition spd="slow">
    <p:cover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7179867"/>
            <a:ext cx="6798885" cy="47625"/>
            <a:chOff x="0" y="0"/>
            <a:chExt cx="1790653" cy="12543"/>
          </a:xfrm>
        </p:grpSpPr>
        <p:sp>
          <p:nvSpPr>
            <p:cNvPr name="Freeform 5" id="5"/>
            <p:cNvSpPr/>
            <p:nvPr/>
          </p:nvSpPr>
          <p:spPr>
            <a:xfrm flipH="false" flipV="false" rot="0">
              <a:off x="0" y="0"/>
              <a:ext cx="1790653" cy="12543"/>
            </a:xfrm>
            <a:custGeom>
              <a:avLst/>
              <a:gdLst/>
              <a:ahLst/>
              <a:cxnLst/>
              <a:rect r="r" b="b" t="t" l="l"/>
              <a:pathLst>
                <a:path h="12543" w="1790653">
                  <a:moveTo>
                    <a:pt x="0" y="0"/>
                  </a:moveTo>
                  <a:lnTo>
                    <a:pt x="1790653" y="0"/>
                  </a:lnTo>
                  <a:lnTo>
                    <a:pt x="1790653" y="12543"/>
                  </a:lnTo>
                  <a:lnTo>
                    <a:pt x="0" y="12543"/>
                  </a:lnTo>
                  <a:close/>
                </a:path>
              </a:pathLst>
            </a:custGeom>
            <a:solidFill>
              <a:srgbClr val="FFFFFF"/>
            </a:solidFill>
          </p:spPr>
        </p:sp>
        <p:sp>
          <p:nvSpPr>
            <p:cNvPr name="TextBox 6" id="6"/>
            <p:cNvSpPr txBox="true"/>
            <p:nvPr/>
          </p:nvSpPr>
          <p:spPr>
            <a:xfrm>
              <a:off x="0" y="-28575"/>
              <a:ext cx="1790653" cy="41118"/>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0411719" y="3366577"/>
            <a:ext cx="6830369" cy="5958704"/>
            <a:chOff x="0" y="0"/>
            <a:chExt cx="1505159" cy="1313076"/>
          </a:xfrm>
        </p:grpSpPr>
        <p:sp>
          <p:nvSpPr>
            <p:cNvPr name="Freeform 11" id="11"/>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2" id="12"/>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Freeform 13" id="13"/>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028700" y="4365446"/>
            <a:ext cx="6798885" cy="90271"/>
            <a:chOff x="0" y="0"/>
            <a:chExt cx="1790653" cy="23775"/>
          </a:xfrm>
        </p:grpSpPr>
        <p:sp>
          <p:nvSpPr>
            <p:cNvPr name="Freeform 16" id="16"/>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17" id="17"/>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18" id="18">
            <a:hlinkClick r:id="rId9" action="ppaction://hlinksldjump"/>
          </p:cNvPr>
          <p:cNvSpPr/>
          <p:nvPr/>
        </p:nvSpPr>
        <p:spPr>
          <a:xfrm flipH="false" flipV="false" rot="0">
            <a:off x="17241909"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a:hlinkClick r:id="rId9"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20" id="20">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
        <p:nvSpPr>
          <p:cNvPr name="TextBox 21" id="21"/>
          <p:cNvSpPr txBox="true"/>
          <p:nvPr/>
        </p:nvSpPr>
        <p:spPr>
          <a:xfrm rot="0">
            <a:off x="4957623" y="1102841"/>
            <a:ext cx="10866242" cy="536947"/>
          </a:xfrm>
          <a:prstGeom prst="rect">
            <a:avLst/>
          </a:prstGeom>
        </p:spPr>
        <p:txBody>
          <a:bodyPr anchor="t" rtlCol="false" tIns="0" lIns="0" bIns="0" rIns="0">
            <a:spAutoFit/>
          </a:bodyPr>
          <a:lstStyle/>
          <a:p>
            <a:pPr algn="l">
              <a:lnSpc>
                <a:spcPts val="3822"/>
              </a:lnSpc>
            </a:pPr>
            <a:r>
              <a:rPr lang="en-US" b="true" sz="4550" spc="-373">
                <a:solidFill>
                  <a:srgbClr val="E8E8E8"/>
                </a:solidFill>
                <a:latin typeface="Open Sauce Bold"/>
                <a:ea typeface="Open Sauce Bold"/>
                <a:cs typeface="Open Sauce Bold"/>
                <a:sym typeface="Open Sauce Bold"/>
              </a:rPr>
              <a:t>3. Add the three-point bound</a:t>
            </a:r>
            <a:r>
              <a:rPr lang="en-US" b="true" sz="4550" spc="-373">
                <a:solidFill>
                  <a:srgbClr val="E8E8E8"/>
                </a:solidFill>
                <a:latin typeface="Open Sauce Bold"/>
                <a:ea typeface="Open Sauce Bold"/>
                <a:cs typeface="Open Sauce Bold"/>
                <a:sym typeface="Open Sauce Bold"/>
              </a:rPr>
              <a:t>ary condition</a:t>
            </a:r>
          </a:p>
        </p:txBody>
      </p:sp>
      <p:sp>
        <p:nvSpPr>
          <p:cNvPr name="TextBox 22" id="22"/>
          <p:cNvSpPr txBox="true"/>
          <p:nvPr/>
        </p:nvSpPr>
        <p:spPr>
          <a:xfrm rot="0">
            <a:off x="1028700" y="4731942"/>
            <a:ext cx="6798885" cy="2171700"/>
          </a:xfrm>
          <a:prstGeom prst="rect">
            <a:avLst/>
          </a:prstGeom>
        </p:spPr>
        <p:txBody>
          <a:bodyPr anchor="t" rtlCol="false" tIns="0" lIns="0" bIns="0" rIns="0">
            <a:spAutoFit/>
          </a:bodyPr>
          <a:lstStyle/>
          <a:p>
            <a:pPr algn="ctr" marL="518160" indent="-259080" lvl="1">
              <a:lnSpc>
                <a:spcPts val="2879"/>
              </a:lnSpc>
              <a:buFont typeface="Arial"/>
              <a:buChar char="•"/>
            </a:pPr>
            <a:r>
              <a:rPr lang="en-US" sz="2400" spc="-120">
                <a:solidFill>
                  <a:srgbClr val="E8E8E8"/>
                </a:solidFill>
                <a:latin typeface="Open Sauce"/>
                <a:ea typeface="Open Sauce"/>
                <a:cs typeface="Open Sauce"/>
                <a:sym typeface="Open Sauce"/>
              </a:rPr>
              <a:t>A three-point boundary value problem has a condition that connects solution values at different locations.</a:t>
            </a:r>
          </a:p>
          <a:p>
            <a:pPr algn="ctr" marL="518160" indent="-259080" lvl="1">
              <a:lnSpc>
                <a:spcPts val="2879"/>
              </a:lnSpc>
              <a:buFont typeface="Arial"/>
              <a:buChar char="•"/>
            </a:pPr>
            <a:r>
              <a:rPr lang="en-US" sz="2400" spc="-120">
                <a:solidFill>
                  <a:srgbClr val="E8E8E8"/>
                </a:solidFill>
                <a:latin typeface="Open Sauce"/>
                <a:ea typeface="Open Sauce"/>
                <a:cs typeface="Open Sauce"/>
                <a:sym typeface="Open Sauce"/>
              </a:rPr>
              <a:t>Here, mid identifies the grid point at the middle of the interval.</a:t>
            </a:r>
          </a:p>
          <a:p>
            <a:pPr algn="ctr">
              <a:lnSpc>
                <a:spcPts val="2879"/>
              </a:lnSpc>
            </a:pPr>
          </a:p>
        </p:txBody>
      </p:sp>
      <p:sp>
        <p:nvSpPr>
          <p:cNvPr name="TextBox 23" id="23"/>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sp>
        <p:nvSpPr>
          <p:cNvPr name="TextBox 24" id="24"/>
          <p:cNvSpPr txBox="true"/>
          <p:nvPr/>
        </p:nvSpPr>
        <p:spPr>
          <a:xfrm rot="0">
            <a:off x="10721703" y="4218828"/>
            <a:ext cx="6052889" cy="2236388"/>
          </a:xfrm>
          <a:prstGeom prst="rect">
            <a:avLst/>
          </a:prstGeom>
        </p:spPr>
        <p:txBody>
          <a:bodyPr anchor="t" rtlCol="false" tIns="0" lIns="0" bIns="0" rIns="0">
            <a:spAutoFit/>
          </a:bodyPr>
          <a:lstStyle/>
          <a:p>
            <a:pPr algn="l">
              <a:lnSpc>
                <a:spcPts val="3585"/>
              </a:lnSpc>
            </a:pPr>
            <a:r>
              <a:rPr lang="en-US" sz="2988" spc="-149">
                <a:solidFill>
                  <a:srgbClr val="E8E8E8"/>
                </a:solidFill>
                <a:latin typeface="Open Sauce"/>
                <a:ea typeface="Open Sauce"/>
                <a:cs typeface="Open Sauce"/>
                <a:sym typeface="Open Sauce"/>
              </a:rPr>
              <a:t>mid = N // 2</a:t>
            </a:r>
          </a:p>
          <a:p>
            <a:pPr algn="l">
              <a:lnSpc>
                <a:spcPts val="3585"/>
              </a:lnSpc>
            </a:pPr>
          </a:p>
          <a:p>
            <a:pPr algn="l">
              <a:lnSpc>
                <a:spcPts val="3585"/>
              </a:lnSpc>
            </a:pPr>
            <a:r>
              <a:rPr lang="en-US" sz="2988" spc="-149">
                <a:solidFill>
                  <a:srgbClr val="E8E8E8"/>
                </a:solidFill>
                <a:latin typeface="Open Sauce"/>
                <a:ea typeface="Open Sauce"/>
                <a:cs typeface="Open Sauce"/>
                <a:sym typeface="Open Sauce"/>
              </a:rPr>
              <a:t># Illustrative condition only:</a:t>
            </a:r>
          </a:p>
          <a:p>
            <a:pPr algn="l">
              <a:lnSpc>
                <a:spcPts val="3585"/>
              </a:lnSpc>
            </a:pPr>
            <a:r>
              <a:rPr lang="en-US" sz="2988" spc="-149">
                <a:solidFill>
                  <a:srgbClr val="E8E8E8"/>
                </a:solidFill>
                <a:latin typeface="Open Sauce"/>
                <a:ea typeface="Open Sauce"/>
                <a:cs typeface="Open Sauce"/>
                <a:sym typeface="Open Sauce"/>
              </a:rPr>
              <a:t># y(1) = y(0.5)</a:t>
            </a:r>
          </a:p>
          <a:p>
            <a:pPr algn="l">
              <a:lnSpc>
                <a:spcPts val="3585"/>
              </a:lnSpc>
            </a:pPr>
            <a:r>
              <a:rPr lang="en-US" sz="2988" spc="-149">
                <a:solidFill>
                  <a:srgbClr val="E8E8E8"/>
                </a:solidFill>
                <a:latin typeface="Open Sauce"/>
                <a:ea typeface="Open Sauce"/>
                <a:cs typeface="Open Sauce"/>
                <a:sym typeface="Open Sauce"/>
              </a:rPr>
              <a:t>boundary_residual = y[N] - y[mid]</a:t>
            </a:r>
          </a:p>
        </p:txBody>
      </p:sp>
    </p:spTree>
  </p:cSld>
  <p:clrMapOvr>
    <a:masterClrMapping/>
  </p:clrMapOvr>
  <p:transition spd="slow">
    <p:cover dir="l"/>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5EA3F8"/>
            </a:solidFill>
          </p:spPr>
        </p:sp>
      </p:grpSp>
      <p:graphicFrame>
        <p:nvGraphicFramePr>
          <p:cNvPr name="Table 4" id="4"/>
          <p:cNvGraphicFramePr>
            <a:graphicFrameLocks noGrp="true"/>
          </p:cNvGraphicFramePr>
          <p:nvPr/>
        </p:nvGraphicFramePr>
        <p:xfrm>
          <a:off x="952500" y="1708695"/>
          <a:ext cx="9258300" cy="4570071"/>
        </p:xfrm>
        <a:graphic>
          <a:graphicData uri="http://schemas.openxmlformats.org/drawingml/2006/table">
            <a:tbl>
              <a:tblPr/>
              <a:tblGrid>
                <a:gridCol w="2797610"/>
                <a:gridCol w="2153563"/>
                <a:gridCol w="2153563"/>
                <a:gridCol w="2153563"/>
              </a:tblGrid>
              <a:tr h="691271">
                <a:tc>
                  <a:txBody>
                    <a:bodyPr anchor="t" rtlCol="false"/>
                    <a:lstStyle/>
                    <a:p>
                      <a:pPr algn="l">
                        <a:lnSpc>
                          <a:spcPts val="3359"/>
                        </a:lnSpc>
                        <a:defRPr/>
                      </a:pPr>
                      <a:r>
                        <a:rPr lang="en-US" sz="2400" b="true">
                          <a:solidFill>
                            <a:srgbClr val="1F2A44"/>
                          </a:solidFill>
                          <a:latin typeface="Open Sans Bold"/>
                          <a:ea typeface="Open Sans Bold"/>
                          <a:cs typeface="Open Sans Bold"/>
                          <a:sym typeface="Open Sans Bold"/>
                        </a:rPr>
                        <a:t>N</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c>
                  <a:txBody>
                    <a:bodyPr anchor="t" rtlCol="false"/>
                    <a:lstStyle/>
                    <a:p>
                      <a:pPr algn="l">
                        <a:lnSpc>
                          <a:spcPts val="3359"/>
                        </a:lnSpc>
                        <a:defRPr/>
                      </a:pPr>
                      <a:r>
                        <a:rPr lang="en-US" b="true" sz="2400">
                          <a:solidFill>
                            <a:srgbClr val="000000"/>
                          </a:solidFill>
                          <a:latin typeface="Open Sans Bold"/>
                          <a:ea typeface="Open Sans Bold"/>
                          <a:cs typeface="Open Sans Bold"/>
                          <a:sym typeface="Open Sans Bold"/>
                        </a:rPr>
                        <a:t>Ex 3.1 RMSE</a:t>
                      </a:r>
                      <a:endParaRPr lang="en-US" sz="1100"/>
                    </a:p>
                  </a:txBody>
                  <a:tcPr marL="88900" marR="88900" marT="88900" marB="8890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c>
                  <a:txBody>
                    <a:bodyPr anchor="t" rtlCol="false"/>
                    <a:lstStyle/>
                    <a:p>
                      <a:pPr algn="l">
                        <a:lnSpc>
                          <a:spcPts val="3359"/>
                        </a:lnSpc>
                        <a:defRPr/>
                      </a:pPr>
                      <a:r>
                        <a:rPr lang="en-US" b="true" sz="2400">
                          <a:solidFill>
                            <a:srgbClr val="000000"/>
                          </a:solidFill>
                          <a:latin typeface="Open Sans Bold"/>
                          <a:ea typeface="Open Sans Bold"/>
                          <a:cs typeface="Open Sans Bold"/>
                          <a:sym typeface="Open Sans Bold"/>
                        </a:rPr>
                        <a:t>Ex 3.2 RMSE</a:t>
                      </a:r>
                      <a:endParaRPr lang="en-US" sz="1100"/>
                    </a:p>
                  </a:txBody>
                  <a:tcPr marL="88900" marR="88900" marT="88900" marB="8890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c>
                  <a:txBody>
                    <a:bodyPr anchor="t" rtlCol="false"/>
                    <a:lstStyle/>
                    <a:p>
                      <a:pPr algn="l">
                        <a:lnSpc>
                          <a:spcPts val="3359"/>
                        </a:lnSpc>
                        <a:defRPr/>
                      </a:pPr>
                      <a:r>
                        <a:rPr lang="en-US" b="true" sz="2400">
                          <a:solidFill>
                            <a:srgbClr val="000000"/>
                          </a:solidFill>
                          <a:latin typeface="Open Sans Bold"/>
                          <a:ea typeface="Open Sans Bold"/>
                          <a:cs typeface="Open Sans Bold"/>
                          <a:sym typeface="Open Sans Bold"/>
                        </a:rPr>
                        <a:t>Ex 3.3 RMSE</a:t>
                      </a:r>
                      <a:endParaRPr lang="en-US" sz="1100"/>
                    </a:p>
                  </a:txBody>
                  <a:tcPr marL="88900" marR="88900" marT="88900" marB="8890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r>
              <a:tr h="691271">
                <a:tc>
                  <a:txBody>
                    <a:bodyPr anchor="t" rtlCol="false"/>
                    <a:lstStyle/>
                    <a:p>
                      <a:pPr algn="l">
                        <a:lnSpc>
                          <a:spcPts val="3359"/>
                        </a:lnSpc>
                        <a:defRPr/>
                      </a:pPr>
                      <a:r>
                        <a:rPr lang="en-US" sz="2400">
                          <a:solidFill>
                            <a:srgbClr val="1F2A44"/>
                          </a:solidFill>
                          <a:latin typeface="Open Sans"/>
                          <a:ea typeface="Open Sans"/>
                          <a:cs typeface="Open Sans"/>
                          <a:sym typeface="Open Sans"/>
                        </a:rPr>
                        <a:t>50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5.05e-4</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6.41e-5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5.19e-5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691271">
                <a:tc>
                  <a:txBody>
                    <a:bodyPr anchor="t" rtlCol="false"/>
                    <a:lstStyle/>
                    <a:p>
                      <a:pPr algn="l">
                        <a:lnSpc>
                          <a:spcPts val="3359"/>
                        </a:lnSpc>
                        <a:defRPr/>
                      </a:pPr>
                      <a:r>
                        <a:rPr lang="en-US" sz="2400">
                          <a:solidFill>
                            <a:srgbClr val="1F2A44"/>
                          </a:solidFill>
                          <a:latin typeface="Open Sans"/>
                          <a:ea typeface="Open Sans"/>
                          <a:cs typeface="Open Sans"/>
                          <a:sym typeface="Open Sans"/>
                        </a:rPr>
                        <a:t>100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1.27e-4</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1.81e-5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1.28e-5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691271">
                <a:tc>
                  <a:txBody>
                    <a:bodyPr anchor="t" rtlCol="false"/>
                    <a:lstStyle/>
                    <a:p>
                      <a:pPr algn="l">
                        <a:lnSpc>
                          <a:spcPts val="3359"/>
                        </a:lnSpc>
                        <a:defRPr/>
                      </a:pPr>
                      <a:r>
                        <a:rPr lang="en-US" sz="2400">
                          <a:solidFill>
                            <a:srgbClr val="1F2A44"/>
                          </a:solidFill>
                          <a:latin typeface="Open Sans"/>
                          <a:ea typeface="Open Sans"/>
                          <a:cs typeface="Open Sans"/>
                          <a:sym typeface="Open Sans"/>
                        </a:rPr>
                        <a:t>200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3.18e-5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4.99e-6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3.19e-6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691271">
                <a:tc>
                  <a:txBody>
                    <a:bodyPr anchor="t" rtlCol="false"/>
                    <a:lstStyle/>
                    <a:p>
                      <a:pPr algn="l">
                        <a:lnSpc>
                          <a:spcPts val="3359"/>
                        </a:lnSpc>
                        <a:defRPr/>
                      </a:pPr>
                      <a:r>
                        <a:rPr lang="en-US" sz="2400">
                          <a:solidFill>
                            <a:srgbClr val="1F2A44"/>
                          </a:solidFill>
                          <a:latin typeface="Open Sans"/>
                          <a:ea typeface="Open Sans"/>
                          <a:cs typeface="Open Sans"/>
                          <a:sym typeface="Open Sans"/>
                        </a:rPr>
                        <a:t>400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7.95e-6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1.36e-6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7.96e-7</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113715">
                <a:tc>
                  <a:txBody>
                    <a:bodyPr anchor="t" rtlCol="false"/>
                    <a:lstStyle/>
                    <a:p>
                      <a:pPr algn="l">
                        <a:lnSpc>
                          <a:spcPts val="3359"/>
                        </a:lnSpc>
                        <a:defRPr/>
                      </a:pPr>
                      <a:r>
                        <a:rPr lang="en-US" sz="2400">
                          <a:solidFill>
                            <a:srgbClr val="1F2A44"/>
                          </a:solidFill>
                          <a:latin typeface="Open Sans"/>
                          <a:ea typeface="Open Sans"/>
                          <a:cs typeface="Open Sans"/>
                          <a:sym typeface="Open Sans"/>
                        </a:rPr>
                        <a:t>Error ratio per halving</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 4.0×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 3.6×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 4.0×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grpSp>
        <p:nvGrpSpPr>
          <p:cNvPr name="Group 5" id="5"/>
          <p:cNvGrpSpPr/>
          <p:nvPr/>
        </p:nvGrpSpPr>
        <p:grpSpPr>
          <a:xfrm rot="0">
            <a:off x="10896600" y="1868691"/>
            <a:ext cx="6477000" cy="4295775"/>
            <a:chOff x="0" y="0"/>
            <a:chExt cx="8636000" cy="5727700"/>
          </a:xfrm>
        </p:grpSpPr>
        <p:sp>
          <p:nvSpPr>
            <p:cNvPr name="Freeform 6" id="6"/>
            <p:cNvSpPr/>
            <p:nvPr/>
          </p:nvSpPr>
          <p:spPr>
            <a:xfrm flipH="false" flipV="false" rot="0">
              <a:off x="0" y="0"/>
              <a:ext cx="8636000" cy="5727700"/>
            </a:xfrm>
            <a:custGeom>
              <a:avLst/>
              <a:gdLst/>
              <a:ahLst/>
              <a:cxnLst/>
              <a:rect r="r" b="b" t="t" l="l"/>
              <a:pathLst>
                <a:path h="5727700" w="8636000">
                  <a:moveTo>
                    <a:pt x="0" y="203200"/>
                  </a:moveTo>
                  <a:cubicBezTo>
                    <a:pt x="0" y="90932"/>
                    <a:pt x="90932" y="0"/>
                    <a:pt x="203200" y="0"/>
                  </a:cubicBezTo>
                  <a:lnTo>
                    <a:pt x="8432800" y="0"/>
                  </a:lnTo>
                  <a:cubicBezTo>
                    <a:pt x="8545068" y="0"/>
                    <a:pt x="8636000" y="90932"/>
                    <a:pt x="8636000" y="203200"/>
                  </a:cubicBezTo>
                  <a:lnTo>
                    <a:pt x="8636000" y="5524500"/>
                  </a:lnTo>
                  <a:cubicBezTo>
                    <a:pt x="8636000" y="5636768"/>
                    <a:pt x="8545068" y="5727700"/>
                    <a:pt x="8432800" y="5727700"/>
                  </a:cubicBezTo>
                  <a:lnTo>
                    <a:pt x="203200" y="5727700"/>
                  </a:lnTo>
                  <a:cubicBezTo>
                    <a:pt x="90932" y="5727700"/>
                    <a:pt x="0" y="5636768"/>
                    <a:pt x="0" y="5524500"/>
                  </a:cubicBezTo>
                  <a:close/>
                </a:path>
              </a:pathLst>
            </a:custGeom>
            <a:solidFill>
              <a:srgbClr val="FFFFFF"/>
            </a:solidFill>
          </p:spPr>
        </p:sp>
      </p:grpSp>
      <p:grpSp>
        <p:nvGrpSpPr>
          <p:cNvPr name="Group 7" id="7"/>
          <p:cNvGrpSpPr/>
          <p:nvPr/>
        </p:nvGrpSpPr>
        <p:grpSpPr>
          <a:xfrm rot="0">
            <a:off x="10906125" y="1878216"/>
            <a:ext cx="6457950" cy="4276725"/>
            <a:chOff x="0" y="0"/>
            <a:chExt cx="8610600" cy="5702300"/>
          </a:xfrm>
        </p:grpSpPr>
        <p:sp>
          <p:nvSpPr>
            <p:cNvPr name="Freeform 8" id="8" descr="Finite-difference convergence on Example 3.1: relative error against grid intervals N on log axes"/>
            <p:cNvSpPr/>
            <p:nvPr/>
          </p:nvSpPr>
          <p:spPr>
            <a:xfrm flipH="false" flipV="false" rot="0">
              <a:off x="0" y="0"/>
              <a:ext cx="8610600" cy="5702300"/>
            </a:xfrm>
            <a:custGeom>
              <a:avLst/>
              <a:gdLst/>
              <a:ahLst/>
              <a:cxnLst/>
              <a:rect r="r" b="b" t="t" l="l"/>
              <a:pathLst>
                <a:path h="5702300" w="8610600">
                  <a:moveTo>
                    <a:pt x="0" y="0"/>
                  </a:moveTo>
                  <a:lnTo>
                    <a:pt x="8610600" y="0"/>
                  </a:lnTo>
                  <a:lnTo>
                    <a:pt x="8610600" y="5702300"/>
                  </a:lnTo>
                  <a:lnTo>
                    <a:pt x="0" y="5702300"/>
                  </a:lnTo>
                  <a:lnTo>
                    <a:pt x="0" y="0"/>
                  </a:lnTo>
                  <a:close/>
                </a:path>
              </a:pathLst>
            </a:custGeom>
            <a:blipFill>
              <a:blip r:embed="rId2"/>
              <a:stretch>
                <a:fillRect l="76" t="0" r="76" b="0"/>
              </a:stretch>
            </a:blipFill>
          </p:spPr>
        </p:sp>
      </p:grpSp>
      <p:grpSp>
        <p:nvGrpSpPr>
          <p:cNvPr name="Group 9" id="9"/>
          <p:cNvGrpSpPr/>
          <p:nvPr/>
        </p:nvGrpSpPr>
        <p:grpSpPr>
          <a:xfrm rot="0">
            <a:off x="10896600" y="1868691"/>
            <a:ext cx="6477000" cy="4295775"/>
            <a:chOff x="0" y="0"/>
            <a:chExt cx="8636000" cy="5727700"/>
          </a:xfrm>
        </p:grpSpPr>
        <p:sp>
          <p:nvSpPr>
            <p:cNvPr name="Freeform 10" id="10"/>
            <p:cNvSpPr/>
            <p:nvPr/>
          </p:nvSpPr>
          <p:spPr>
            <a:xfrm flipH="false" flipV="false" rot="0">
              <a:off x="0" y="0"/>
              <a:ext cx="8636000" cy="5727700"/>
            </a:xfrm>
            <a:custGeom>
              <a:avLst/>
              <a:gdLst/>
              <a:ahLst/>
              <a:cxnLst/>
              <a:rect r="r" b="b" t="t" l="l"/>
              <a:pathLst>
                <a:path h="5727700" w="8636000">
                  <a:moveTo>
                    <a:pt x="0" y="197231"/>
                  </a:moveTo>
                  <a:cubicBezTo>
                    <a:pt x="0" y="88265"/>
                    <a:pt x="88265" y="0"/>
                    <a:pt x="197231" y="0"/>
                  </a:cubicBezTo>
                  <a:lnTo>
                    <a:pt x="8438769" y="0"/>
                  </a:lnTo>
                  <a:cubicBezTo>
                    <a:pt x="8547735" y="0"/>
                    <a:pt x="8636000" y="88265"/>
                    <a:pt x="8636000" y="197231"/>
                  </a:cubicBezTo>
                  <a:lnTo>
                    <a:pt x="8636000" y="5530469"/>
                  </a:lnTo>
                  <a:cubicBezTo>
                    <a:pt x="8636000" y="5639435"/>
                    <a:pt x="8547735" y="5727700"/>
                    <a:pt x="8438769" y="5727700"/>
                  </a:cubicBezTo>
                  <a:lnTo>
                    <a:pt x="197231" y="5727700"/>
                  </a:lnTo>
                  <a:cubicBezTo>
                    <a:pt x="88265" y="5727700"/>
                    <a:pt x="0" y="5639435"/>
                    <a:pt x="0" y="5530469"/>
                  </a:cubicBezTo>
                  <a:close/>
                </a:path>
              </a:pathLst>
            </a:custGeom>
            <a:blipFill>
              <a:blip r:embed="rId3">
                <a:alphaModFix amt="0"/>
              </a:blip>
              <a:stretch>
                <a:fillRect l="-35095" t="0" r="-35095" b="0"/>
              </a:stretch>
            </a:blipFill>
            <a:ln w="9525" cap="sq">
              <a:solidFill>
                <a:srgbClr val="D5E3F7"/>
              </a:solidFill>
              <a:prstDash val="solid"/>
              <a:miter/>
            </a:ln>
          </p:spPr>
        </p:sp>
      </p:grpSp>
      <p:sp>
        <p:nvSpPr>
          <p:cNvPr name="TextBox 11" id="11"/>
          <p:cNvSpPr txBox="true"/>
          <p:nvPr/>
        </p:nvSpPr>
        <p:spPr>
          <a:xfrm rot="0">
            <a:off x="1143000" y="447675"/>
            <a:ext cx="16717518" cy="432397"/>
          </a:xfrm>
          <a:prstGeom prst="rect">
            <a:avLst/>
          </a:prstGeom>
        </p:spPr>
        <p:txBody>
          <a:bodyPr anchor="t" rtlCol="false" tIns="0" lIns="0" bIns="0" rIns="0">
            <a:spAutoFit/>
          </a:bodyPr>
          <a:lstStyle/>
          <a:p>
            <a:pPr algn="l">
              <a:lnSpc>
                <a:spcPts val="2729"/>
              </a:lnSpc>
            </a:pPr>
            <a:r>
              <a:rPr lang="en-US" sz="1950" b="true">
                <a:solidFill>
                  <a:srgbClr val="5EA3F8"/>
                </a:solidFill>
                <a:latin typeface="Open Sans Bold"/>
                <a:ea typeface="Open Sans Bold"/>
                <a:cs typeface="Open Sans Bold"/>
                <a:sym typeface="Open Sans Bold"/>
              </a:rPr>
              <a:t>Finite Difference Extension · Convergence</a:t>
            </a:r>
          </a:p>
        </p:txBody>
      </p:sp>
      <p:sp>
        <p:nvSpPr>
          <p:cNvPr name="TextBox 12" id="12"/>
          <p:cNvSpPr txBox="true"/>
          <p:nvPr/>
        </p:nvSpPr>
        <p:spPr>
          <a:xfrm rot="0">
            <a:off x="1143000" y="1051522"/>
            <a:ext cx="16717518" cy="645719"/>
          </a:xfrm>
          <a:prstGeom prst="rect">
            <a:avLst/>
          </a:prstGeom>
        </p:spPr>
        <p:txBody>
          <a:bodyPr anchor="t" rtlCol="false" tIns="0" lIns="0" bIns="0" rIns="0">
            <a:spAutoFit/>
          </a:bodyPr>
          <a:lstStyle/>
          <a:p>
            <a:pPr algn="l">
              <a:lnSpc>
                <a:spcPts val="4785"/>
              </a:lnSpc>
            </a:pPr>
            <a:r>
              <a:rPr lang="en-US" sz="4350" b="true">
                <a:solidFill>
                  <a:srgbClr val="1F2A44"/>
                </a:solidFill>
                <a:latin typeface="Poppins Bold"/>
                <a:ea typeface="Poppins Bold"/>
                <a:cs typeface="Poppins Bold"/>
                <a:sym typeface="Poppins Bold"/>
              </a:rPr>
              <a:t>FDM Convergence Study: N = 50 to 400</a:t>
            </a:r>
          </a:p>
        </p:txBody>
      </p:sp>
      <p:sp>
        <p:nvSpPr>
          <p:cNvPr name="TextBox 13" id="13"/>
          <p:cNvSpPr txBox="true"/>
          <p:nvPr/>
        </p:nvSpPr>
        <p:spPr>
          <a:xfrm rot="0">
            <a:off x="890016" y="6312494"/>
            <a:ext cx="9673256" cy="1382056"/>
          </a:xfrm>
          <a:prstGeom prst="rect">
            <a:avLst/>
          </a:prstGeom>
        </p:spPr>
        <p:txBody>
          <a:bodyPr anchor="t" rtlCol="false" tIns="0" lIns="0" bIns="0" rIns="0">
            <a:spAutoFit/>
          </a:bodyPr>
          <a:lstStyle/>
          <a:p>
            <a:pPr algn="l" marL="347335" indent="-173667" lvl="1">
              <a:lnSpc>
                <a:spcPts val="2590"/>
              </a:lnSpc>
              <a:buFont typeface="Arial"/>
              <a:buChar char="•"/>
            </a:pPr>
            <a:r>
              <a:rPr lang="en-US" sz="1919">
                <a:solidFill>
                  <a:srgbClr val="1F2A44"/>
                </a:solidFill>
                <a:latin typeface="Open Sans"/>
                <a:ea typeface="Open Sans"/>
                <a:cs typeface="Open Sans"/>
                <a:sym typeface="Open Sans"/>
              </a:rPr>
              <a:t>RMSE falls about 4× every time the grid is halved: second-order convergence.</a:t>
            </a:r>
          </a:p>
          <a:p>
            <a:pPr algn="l" marL="347335" indent="-173667" lvl="1">
              <a:lnSpc>
                <a:spcPts val="2590"/>
              </a:lnSpc>
              <a:buFont typeface="Arial"/>
              <a:buChar char="•"/>
            </a:pPr>
            <a:r>
              <a:rPr lang="en-US" sz="1919">
                <a:solidFill>
                  <a:srgbClr val="1F2A44"/>
                </a:solidFill>
                <a:latin typeface="Open Sans"/>
                <a:ea typeface="Open Sans"/>
                <a:cs typeface="Open Sans"/>
                <a:sym typeface="Open Sans"/>
              </a:rPr>
              <a:t>Example 3.2 converges slightly slower, at about 3.6× per halving.</a:t>
            </a:r>
          </a:p>
          <a:p>
            <a:pPr algn="l" marL="347335" indent="-173667" lvl="1">
              <a:lnSpc>
                <a:spcPts val="2590"/>
              </a:lnSpc>
              <a:buFont typeface="Arial"/>
              <a:buChar char="•"/>
            </a:pPr>
            <a:r>
              <a:rPr lang="en-US" sz="1919">
                <a:solidFill>
                  <a:srgbClr val="1F2A44"/>
                </a:solidFill>
                <a:latin typeface="Open Sans"/>
                <a:ea typeface="Open Sans"/>
                <a:cs typeface="Open Sans"/>
                <a:sym typeface="Open Sans"/>
              </a:rPr>
              <a:t>Even N = 100 beats the best PINN mean RMSE on all three examples.</a:t>
            </a:r>
          </a:p>
          <a:p>
            <a:pPr algn="l" marL="347335" indent="-173667" lvl="1">
              <a:lnSpc>
                <a:spcPts val="2590"/>
              </a:lnSpc>
              <a:buFont typeface="Arial"/>
              <a:buChar char="•"/>
            </a:pPr>
            <a:r>
              <a:rPr lang="en-US" sz="1919">
                <a:solidFill>
                  <a:srgbClr val="1F2A44"/>
                </a:solidFill>
                <a:latin typeface="Open Sans"/>
                <a:ea typeface="Open Sans"/>
                <a:cs typeface="Open Sans"/>
                <a:sym typeface="Open Sans"/>
              </a:rPr>
              <a:t>Solve time at N = 400 is 0.006 to 0.018 s.</a:t>
            </a:r>
          </a:p>
        </p:txBody>
      </p:sp>
      <p:sp>
        <p:nvSpPr>
          <p:cNvPr name="TextBox 14" id="14"/>
          <p:cNvSpPr txBox="true"/>
          <p:nvPr/>
        </p:nvSpPr>
        <p:spPr>
          <a:xfrm rot="0">
            <a:off x="12821982" y="6316866"/>
            <a:ext cx="6671310" cy="297180"/>
          </a:xfrm>
          <a:prstGeom prst="rect">
            <a:avLst/>
          </a:prstGeom>
        </p:spPr>
        <p:txBody>
          <a:bodyPr anchor="t" rtlCol="false" tIns="0" lIns="0" bIns="0" rIns="0">
            <a:spAutoFit/>
          </a:bodyPr>
          <a:lstStyle/>
          <a:p>
            <a:pPr algn="l">
              <a:lnSpc>
                <a:spcPts val="2520"/>
              </a:lnSpc>
            </a:pPr>
            <a:r>
              <a:rPr lang="en-US" sz="1800">
                <a:solidFill>
                  <a:srgbClr val="566075"/>
                </a:solidFill>
                <a:latin typeface="Open Sans"/>
                <a:ea typeface="Open Sans"/>
                <a:cs typeface="Open Sans"/>
                <a:sym typeface="Open Sans"/>
              </a:rPr>
              <a:t>Relative error vs N, Example 3.1</a:t>
            </a:r>
          </a:p>
        </p:txBody>
      </p:sp>
    </p:spTree>
  </p:cSld>
  <p:clrMapOvr>
    <a:masterClrMapping/>
  </p:clrMapOvr>
  <p:transition spd="slow">
    <p:cover dir="l"/>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605196"/>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70669" y="4205791"/>
            <a:ext cx="16217984" cy="4083948"/>
          </a:xfrm>
          <a:custGeom>
            <a:avLst/>
            <a:gdLst/>
            <a:ahLst/>
            <a:cxnLst/>
            <a:rect r="r" b="b" t="t" l="l"/>
            <a:pathLst>
              <a:path h="4083948" w="16217984">
                <a:moveTo>
                  <a:pt x="0" y="0"/>
                </a:moveTo>
                <a:lnTo>
                  <a:pt x="16217984" y="0"/>
                </a:lnTo>
                <a:lnTo>
                  <a:pt x="16217984" y="4083947"/>
                </a:lnTo>
                <a:lnTo>
                  <a:pt x="0" y="4083947"/>
                </a:lnTo>
                <a:lnTo>
                  <a:pt x="0" y="0"/>
                </a:lnTo>
                <a:close/>
              </a:path>
            </a:pathLst>
          </a:custGeom>
          <a:blipFill>
            <a:blip r:embed="rId4"/>
            <a:stretch>
              <a:fillRect l="0" t="0" r="0" b="0"/>
            </a:stretch>
          </a:blipFill>
        </p:spPr>
      </p:sp>
      <p:sp>
        <p:nvSpPr>
          <p:cNvPr name="TextBox 7" id="7"/>
          <p:cNvSpPr txBox="true"/>
          <p:nvPr/>
        </p:nvSpPr>
        <p:spPr>
          <a:xfrm rot="0">
            <a:off x="2114372" y="793750"/>
            <a:ext cx="397623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Speed</a:t>
            </a:r>
            <a:r>
              <a:rPr lang="en-US" b="true" sz="2499">
                <a:solidFill>
                  <a:srgbClr val="1E293B"/>
                </a:solidFill>
                <a:latin typeface="Open Sans Bold"/>
                <a:ea typeface="Open Sans Bold"/>
                <a:cs typeface="Open Sans Bold"/>
                <a:sym typeface="Open Sans Bold"/>
              </a:rPr>
              <a:t> &amp; Convergence</a:t>
            </a:r>
          </a:p>
        </p:txBody>
      </p:sp>
      <p:sp>
        <p:nvSpPr>
          <p:cNvPr name="TextBox 8" id="8"/>
          <p:cNvSpPr txBox="true"/>
          <p:nvPr/>
        </p:nvSpPr>
        <p:spPr>
          <a:xfrm rot="0">
            <a:off x="1242094" y="1812362"/>
            <a:ext cx="16701922" cy="21189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Computational Efficiency &amp; FDM Convergence</a:t>
            </a:r>
          </a:p>
        </p:txBody>
      </p:sp>
      <p:sp>
        <p:nvSpPr>
          <p:cNvPr name="TextBox 9" id="9"/>
          <p:cNvSpPr txBox="true"/>
          <p:nvPr/>
        </p:nvSpPr>
        <p:spPr>
          <a:xfrm rot="0">
            <a:off x="1452204" y="8777351"/>
            <a:ext cx="15136150" cy="914273"/>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FDM becomes more accurate as the grid is refined, demonstrating second-order convergence.</a:t>
            </a:r>
          </a:p>
        </p:txBody>
      </p:sp>
      <p:sp>
        <p:nvSpPr>
          <p:cNvPr name="AutoShape 10" id="10"/>
          <p:cNvSpPr/>
          <p:nvPr/>
        </p:nvSpPr>
        <p:spPr>
          <a:xfrm>
            <a:off x="1242094" y="8619529"/>
            <a:ext cx="0" cy="1277542"/>
          </a:xfrm>
          <a:prstGeom prst="line">
            <a:avLst/>
          </a:prstGeom>
          <a:ln cap="rnd" w="57150">
            <a:solidFill>
              <a:srgbClr val="60A5FA"/>
            </a:solidFill>
            <a:prstDash val="solid"/>
            <a:headEnd type="none" len="sm" w="sm"/>
            <a:tailEnd type="none" len="sm" w="sm"/>
          </a:ln>
        </p:spPr>
      </p:sp>
    </p:spTree>
  </p:cSld>
  <p:clrMapOvr>
    <a:masterClrMapping/>
  </p:clrMapOvr>
  <p:transition spd="slow">
    <p:cover dir="l"/>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5EA3F8"/>
            </a:solidFill>
          </p:spPr>
        </p:sp>
      </p:grpSp>
      <p:sp>
        <p:nvSpPr>
          <p:cNvPr name="TextBox 4" id="4"/>
          <p:cNvSpPr txBox="true"/>
          <p:nvPr/>
        </p:nvSpPr>
        <p:spPr>
          <a:xfrm rot="0">
            <a:off x="1143000" y="447675"/>
            <a:ext cx="16717518" cy="432397"/>
          </a:xfrm>
          <a:prstGeom prst="rect">
            <a:avLst/>
          </a:prstGeom>
        </p:spPr>
        <p:txBody>
          <a:bodyPr anchor="t" rtlCol="false" tIns="0" lIns="0" bIns="0" rIns="0">
            <a:spAutoFit/>
          </a:bodyPr>
          <a:lstStyle/>
          <a:p>
            <a:pPr algn="l">
              <a:lnSpc>
                <a:spcPts val="2729"/>
              </a:lnSpc>
            </a:pPr>
            <a:r>
              <a:rPr lang="en-US" sz="1950" b="true">
                <a:solidFill>
                  <a:srgbClr val="5EA3F8"/>
                </a:solidFill>
                <a:latin typeface="Open Sans Bold"/>
                <a:ea typeface="Open Sans Bold"/>
                <a:cs typeface="Open Sans Bold"/>
                <a:sym typeface="Open Sans Bold"/>
              </a:rPr>
              <a:t>Numerical Solution Comparison</a:t>
            </a:r>
          </a:p>
        </p:txBody>
      </p:sp>
      <p:sp>
        <p:nvSpPr>
          <p:cNvPr name="TextBox 5" id="5"/>
          <p:cNvSpPr txBox="true"/>
          <p:nvPr/>
        </p:nvSpPr>
        <p:spPr>
          <a:xfrm rot="0">
            <a:off x="1143000" y="1070572"/>
            <a:ext cx="16717518" cy="645719"/>
          </a:xfrm>
          <a:prstGeom prst="rect">
            <a:avLst/>
          </a:prstGeom>
        </p:spPr>
        <p:txBody>
          <a:bodyPr anchor="t" rtlCol="false" tIns="0" lIns="0" bIns="0" rIns="0">
            <a:spAutoFit/>
          </a:bodyPr>
          <a:lstStyle/>
          <a:p>
            <a:pPr algn="l">
              <a:lnSpc>
                <a:spcPts val="4785"/>
              </a:lnSpc>
            </a:pPr>
            <a:r>
              <a:rPr lang="en-US" sz="4350" b="true">
                <a:solidFill>
                  <a:srgbClr val="1F2A44"/>
                </a:solidFill>
                <a:latin typeface="Poppins Bold"/>
                <a:ea typeface="Poppins Bold"/>
                <a:cs typeface="Poppins Bold"/>
                <a:sym typeface="Poppins Bold"/>
              </a:rPr>
              <a:t>Same Curves, Very Different Errors</a:t>
            </a:r>
          </a:p>
        </p:txBody>
      </p:sp>
      <p:grpSp>
        <p:nvGrpSpPr>
          <p:cNvPr name="Group 6" id="6"/>
          <p:cNvGrpSpPr/>
          <p:nvPr/>
        </p:nvGrpSpPr>
        <p:grpSpPr>
          <a:xfrm rot="0">
            <a:off x="1143000" y="1906791"/>
            <a:ext cx="7937497" cy="5194297"/>
            <a:chOff x="0" y="0"/>
            <a:chExt cx="10583329" cy="6925729"/>
          </a:xfrm>
        </p:grpSpPr>
        <p:sp>
          <p:nvSpPr>
            <p:cNvPr name="Freeform 7" id="7"/>
            <p:cNvSpPr/>
            <p:nvPr/>
          </p:nvSpPr>
          <p:spPr>
            <a:xfrm flipH="false" flipV="false" rot="0">
              <a:off x="0" y="0"/>
              <a:ext cx="10583291" cy="6925691"/>
            </a:xfrm>
            <a:custGeom>
              <a:avLst/>
              <a:gdLst/>
              <a:ahLst/>
              <a:cxnLst/>
              <a:rect r="r" b="b" t="t" l="l"/>
              <a:pathLst>
                <a:path h="6925691" w="10583291">
                  <a:moveTo>
                    <a:pt x="0" y="197231"/>
                  </a:moveTo>
                  <a:cubicBezTo>
                    <a:pt x="0" y="88265"/>
                    <a:pt x="88265" y="0"/>
                    <a:pt x="197231" y="0"/>
                  </a:cubicBezTo>
                  <a:lnTo>
                    <a:pt x="10386060" y="0"/>
                  </a:lnTo>
                  <a:cubicBezTo>
                    <a:pt x="10495026" y="0"/>
                    <a:pt x="10583291" y="88265"/>
                    <a:pt x="10583291" y="197231"/>
                  </a:cubicBezTo>
                  <a:lnTo>
                    <a:pt x="10583291" y="6728460"/>
                  </a:lnTo>
                  <a:cubicBezTo>
                    <a:pt x="10583291" y="6837426"/>
                    <a:pt x="10495026" y="6925691"/>
                    <a:pt x="10386060" y="6925691"/>
                  </a:cubicBezTo>
                  <a:lnTo>
                    <a:pt x="197231" y="6925691"/>
                  </a:lnTo>
                  <a:cubicBezTo>
                    <a:pt x="88265" y="6925691"/>
                    <a:pt x="0" y="6837426"/>
                    <a:pt x="0" y="6728460"/>
                  </a:cubicBezTo>
                  <a:close/>
                </a:path>
              </a:pathLst>
            </a:custGeom>
            <a:solidFill>
              <a:srgbClr val="FFFFFF"/>
            </a:solidFill>
            <a:ln w="9525" cap="sq">
              <a:solidFill>
                <a:srgbClr val="D5E3F7"/>
              </a:solidFill>
              <a:prstDash val="solid"/>
              <a:miter/>
            </a:ln>
          </p:spPr>
        </p:sp>
      </p:grpSp>
      <p:grpSp>
        <p:nvGrpSpPr>
          <p:cNvPr name="Group 8" id="8"/>
          <p:cNvGrpSpPr/>
          <p:nvPr/>
        </p:nvGrpSpPr>
        <p:grpSpPr>
          <a:xfrm rot="0">
            <a:off x="1028700" y="2027439"/>
            <a:ext cx="7620000" cy="4953000"/>
            <a:chOff x="0" y="0"/>
            <a:chExt cx="10160000" cy="6604000"/>
          </a:xfrm>
        </p:grpSpPr>
        <p:sp>
          <p:nvSpPr>
            <p:cNvPr name="Freeform 9" id="9" descr="Bar chart on a log scale comparing the RMSE error of the best PINN and of the finite-difference method for Examples 3.1 to 3.3; the finite-difference bars are much shorter"/>
            <p:cNvSpPr/>
            <p:nvPr/>
          </p:nvSpPr>
          <p:spPr>
            <a:xfrm flipH="false" flipV="false" rot="0">
              <a:off x="0" y="0"/>
              <a:ext cx="10160000" cy="6604000"/>
            </a:xfrm>
            <a:custGeom>
              <a:avLst/>
              <a:gdLst/>
              <a:ahLst/>
              <a:cxnLst/>
              <a:rect r="r" b="b" t="t" l="l"/>
              <a:pathLst>
                <a:path h="6604000" w="10160000">
                  <a:moveTo>
                    <a:pt x="0" y="0"/>
                  </a:moveTo>
                  <a:lnTo>
                    <a:pt x="10160000" y="0"/>
                  </a:lnTo>
                  <a:lnTo>
                    <a:pt x="10160000" y="6604000"/>
                  </a:lnTo>
                  <a:lnTo>
                    <a:pt x="0" y="6604000"/>
                  </a:lnTo>
                  <a:lnTo>
                    <a:pt x="0" y="0"/>
                  </a:lnTo>
                  <a:close/>
                </a:path>
              </a:pathLst>
            </a:custGeom>
            <a:blipFill>
              <a:blip r:embed="rId2"/>
              <a:stretch>
                <a:fillRect l="0" t="0" r="0" b="0"/>
              </a:stretch>
            </a:blipFill>
          </p:spPr>
        </p:sp>
      </p:grpSp>
      <p:sp>
        <p:nvSpPr>
          <p:cNvPr name="TextBox 10" id="10"/>
          <p:cNvSpPr txBox="true"/>
          <p:nvPr/>
        </p:nvSpPr>
        <p:spPr>
          <a:xfrm rot="0">
            <a:off x="1143000" y="7205863"/>
            <a:ext cx="8142922" cy="710403"/>
          </a:xfrm>
          <a:prstGeom prst="rect">
            <a:avLst/>
          </a:prstGeom>
        </p:spPr>
        <p:txBody>
          <a:bodyPr anchor="t" rtlCol="false" tIns="0" lIns="0" bIns="0" rIns="0">
            <a:spAutoFit/>
          </a:bodyPr>
          <a:lstStyle/>
          <a:p>
            <a:pPr algn="l">
              <a:lnSpc>
                <a:spcPts val="2535"/>
              </a:lnSpc>
            </a:pPr>
            <a:r>
              <a:rPr lang="en-US" sz="1950">
                <a:solidFill>
                  <a:srgbClr val="566075"/>
                </a:solidFill>
                <a:latin typeface="Open Sans"/>
                <a:ea typeface="Open Sans"/>
                <a:cs typeface="Open Sans"/>
                <a:sym typeface="Open Sans"/>
              </a:rPr>
              <a:t>Error (RMSE): a shorter bar is better. Each gridline is 10× smaller than the one above.</a:t>
            </a:r>
          </a:p>
        </p:txBody>
      </p:sp>
      <p:grpSp>
        <p:nvGrpSpPr>
          <p:cNvPr name="Group 11" id="11"/>
          <p:cNvGrpSpPr/>
          <p:nvPr/>
        </p:nvGrpSpPr>
        <p:grpSpPr>
          <a:xfrm rot="0">
            <a:off x="9537697" y="1906791"/>
            <a:ext cx="7835903" cy="1693469"/>
            <a:chOff x="0" y="0"/>
            <a:chExt cx="10447871" cy="2257958"/>
          </a:xfrm>
        </p:grpSpPr>
        <p:sp>
          <p:nvSpPr>
            <p:cNvPr name="Freeform 12" id="12"/>
            <p:cNvSpPr/>
            <p:nvPr/>
          </p:nvSpPr>
          <p:spPr>
            <a:xfrm flipH="false" flipV="false" rot="0">
              <a:off x="0" y="0"/>
              <a:ext cx="10447909" cy="2257933"/>
            </a:xfrm>
            <a:custGeom>
              <a:avLst/>
              <a:gdLst/>
              <a:ahLst/>
              <a:cxnLst/>
              <a:rect r="r" b="b" t="t" l="l"/>
              <a:pathLst>
                <a:path h="2257933" w="10447909">
                  <a:moveTo>
                    <a:pt x="0" y="203200"/>
                  </a:moveTo>
                  <a:cubicBezTo>
                    <a:pt x="0" y="90932"/>
                    <a:pt x="90932" y="0"/>
                    <a:pt x="203200" y="0"/>
                  </a:cubicBezTo>
                  <a:lnTo>
                    <a:pt x="10244709" y="0"/>
                  </a:lnTo>
                  <a:cubicBezTo>
                    <a:pt x="10356977" y="0"/>
                    <a:pt x="10447909" y="90932"/>
                    <a:pt x="10447909" y="203200"/>
                  </a:cubicBezTo>
                  <a:lnTo>
                    <a:pt x="10447909" y="2054733"/>
                  </a:lnTo>
                  <a:cubicBezTo>
                    <a:pt x="10447909" y="2167001"/>
                    <a:pt x="10356977" y="2257933"/>
                    <a:pt x="10244709" y="2257933"/>
                  </a:cubicBezTo>
                  <a:lnTo>
                    <a:pt x="203200" y="2257933"/>
                  </a:lnTo>
                  <a:cubicBezTo>
                    <a:pt x="90932" y="2257933"/>
                    <a:pt x="0" y="2167001"/>
                    <a:pt x="0" y="2054733"/>
                  </a:cubicBezTo>
                  <a:close/>
                </a:path>
              </a:pathLst>
            </a:custGeom>
            <a:solidFill>
              <a:srgbClr val="E8F1FD"/>
            </a:solidFill>
          </p:spPr>
        </p:sp>
      </p:grpSp>
      <p:sp>
        <p:nvSpPr>
          <p:cNvPr name="TextBox 13" id="13"/>
          <p:cNvSpPr txBox="true"/>
          <p:nvPr/>
        </p:nvSpPr>
        <p:spPr>
          <a:xfrm rot="0">
            <a:off x="9804397" y="2116341"/>
            <a:ext cx="7521578" cy="561975"/>
          </a:xfrm>
          <a:prstGeom prst="rect">
            <a:avLst/>
          </a:prstGeom>
        </p:spPr>
        <p:txBody>
          <a:bodyPr anchor="t" rtlCol="false" tIns="0" lIns="0" bIns="0" rIns="0">
            <a:spAutoFit/>
          </a:bodyPr>
          <a:lstStyle/>
          <a:p>
            <a:pPr algn="l">
              <a:lnSpc>
                <a:spcPts val="4125"/>
              </a:lnSpc>
            </a:pPr>
            <a:r>
              <a:rPr lang="en-US" sz="3750" b="true">
                <a:solidFill>
                  <a:srgbClr val="E07A2F"/>
                </a:solidFill>
                <a:latin typeface="Poppins Bold"/>
                <a:ea typeface="Poppins Bold"/>
                <a:cs typeface="Poppins Bold"/>
                <a:sym typeface="Poppins Bold"/>
              </a:rPr>
              <a:t>33× to 449×</a:t>
            </a:r>
          </a:p>
        </p:txBody>
      </p:sp>
      <p:sp>
        <p:nvSpPr>
          <p:cNvPr name="TextBox 14" id="14"/>
          <p:cNvSpPr txBox="true"/>
          <p:nvPr/>
        </p:nvSpPr>
        <p:spPr>
          <a:xfrm rot="0">
            <a:off x="9804397" y="2678316"/>
            <a:ext cx="7521578" cy="750494"/>
          </a:xfrm>
          <a:prstGeom prst="rect">
            <a:avLst/>
          </a:prstGeom>
        </p:spPr>
        <p:txBody>
          <a:bodyPr anchor="t" rtlCol="false" tIns="0" lIns="0" bIns="0" rIns="0">
            <a:spAutoFit/>
          </a:bodyPr>
          <a:lstStyle/>
          <a:p>
            <a:pPr algn="l">
              <a:lnSpc>
                <a:spcPts val="2730"/>
              </a:lnSpc>
            </a:pPr>
            <a:r>
              <a:rPr lang="en-US" sz="2100">
                <a:solidFill>
                  <a:srgbClr val="1F2A44"/>
                </a:solidFill>
                <a:latin typeface="Open Sans"/>
                <a:ea typeface="Open Sans"/>
                <a:cs typeface="Open Sans"/>
                <a:sym typeface="Open Sans"/>
              </a:rPr>
              <a:t>more accurate: FDM error is far smaller on all three examples</a:t>
            </a:r>
          </a:p>
        </p:txBody>
      </p:sp>
      <p:grpSp>
        <p:nvGrpSpPr>
          <p:cNvPr name="Group 15" id="15"/>
          <p:cNvGrpSpPr/>
          <p:nvPr/>
        </p:nvGrpSpPr>
        <p:grpSpPr>
          <a:xfrm rot="0">
            <a:off x="9537697" y="3790750"/>
            <a:ext cx="7835903" cy="1693469"/>
            <a:chOff x="0" y="0"/>
            <a:chExt cx="10447871" cy="2257958"/>
          </a:xfrm>
        </p:grpSpPr>
        <p:sp>
          <p:nvSpPr>
            <p:cNvPr name="Freeform 16" id="16"/>
            <p:cNvSpPr/>
            <p:nvPr/>
          </p:nvSpPr>
          <p:spPr>
            <a:xfrm flipH="false" flipV="false" rot="0">
              <a:off x="0" y="0"/>
              <a:ext cx="10447909" cy="2257933"/>
            </a:xfrm>
            <a:custGeom>
              <a:avLst/>
              <a:gdLst/>
              <a:ahLst/>
              <a:cxnLst/>
              <a:rect r="r" b="b" t="t" l="l"/>
              <a:pathLst>
                <a:path h="2257933" w="10447909">
                  <a:moveTo>
                    <a:pt x="0" y="203200"/>
                  </a:moveTo>
                  <a:cubicBezTo>
                    <a:pt x="0" y="90932"/>
                    <a:pt x="90932" y="0"/>
                    <a:pt x="203200" y="0"/>
                  </a:cubicBezTo>
                  <a:lnTo>
                    <a:pt x="10244709" y="0"/>
                  </a:lnTo>
                  <a:cubicBezTo>
                    <a:pt x="10356977" y="0"/>
                    <a:pt x="10447909" y="90932"/>
                    <a:pt x="10447909" y="203200"/>
                  </a:cubicBezTo>
                  <a:lnTo>
                    <a:pt x="10447909" y="2054733"/>
                  </a:lnTo>
                  <a:cubicBezTo>
                    <a:pt x="10447909" y="2167001"/>
                    <a:pt x="10356977" y="2257933"/>
                    <a:pt x="10244709" y="2257933"/>
                  </a:cubicBezTo>
                  <a:lnTo>
                    <a:pt x="203200" y="2257933"/>
                  </a:lnTo>
                  <a:cubicBezTo>
                    <a:pt x="90932" y="2257933"/>
                    <a:pt x="0" y="2167001"/>
                    <a:pt x="0" y="2054733"/>
                  </a:cubicBezTo>
                  <a:close/>
                </a:path>
              </a:pathLst>
            </a:custGeom>
            <a:solidFill>
              <a:srgbClr val="E8F1FD"/>
            </a:solidFill>
          </p:spPr>
        </p:sp>
      </p:grpSp>
      <p:sp>
        <p:nvSpPr>
          <p:cNvPr name="TextBox 17" id="17"/>
          <p:cNvSpPr txBox="true"/>
          <p:nvPr/>
        </p:nvSpPr>
        <p:spPr>
          <a:xfrm rot="0">
            <a:off x="9804397" y="4000300"/>
            <a:ext cx="7521578" cy="561975"/>
          </a:xfrm>
          <a:prstGeom prst="rect">
            <a:avLst/>
          </a:prstGeom>
        </p:spPr>
        <p:txBody>
          <a:bodyPr anchor="t" rtlCol="false" tIns="0" lIns="0" bIns="0" rIns="0">
            <a:spAutoFit/>
          </a:bodyPr>
          <a:lstStyle/>
          <a:p>
            <a:pPr algn="l">
              <a:lnSpc>
                <a:spcPts val="4125"/>
              </a:lnSpc>
            </a:pPr>
            <a:r>
              <a:rPr lang="en-US" sz="3750" b="true">
                <a:solidFill>
                  <a:srgbClr val="E07A2F"/>
                </a:solidFill>
                <a:latin typeface="Poppins Bold"/>
                <a:ea typeface="Poppins Bold"/>
                <a:cs typeface="Poppins Bold"/>
                <a:sym typeface="Poppins Bold"/>
              </a:rPr>
              <a:t>About 2,000× to 4,500×</a:t>
            </a:r>
          </a:p>
        </p:txBody>
      </p:sp>
      <p:sp>
        <p:nvSpPr>
          <p:cNvPr name="TextBox 18" id="18"/>
          <p:cNvSpPr txBox="true"/>
          <p:nvPr/>
        </p:nvSpPr>
        <p:spPr>
          <a:xfrm rot="0">
            <a:off x="9804397" y="4562275"/>
            <a:ext cx="7521578" cy="750494"/>
          </a:xfrm>
          <a:prstGeom prst="rect">
            <a:avLst/>
          </a:prstGeom>
        </p:spPr>
        <p:txBody>
          <a:bodyPr anchor="t" rtlCol="false" tIns="0" lIns="0" bIns="0" rIns="0">
            <a:spAutoFit/>
          </a:bodyPr>
          <a:lstStyle/>
          <a:p>
            <a:pPr algn="l">
              <a:lnSpc>
                <a:spcPts val="2730"/>
              </a:lnSpc>
            </a:pPr>
            <a:r>
              <a:rPr lang="en-US" sz="2100">
                <a:solidFill>
                  <a:srgbClr val="1F2A44"/>
                </a:solidFill>
                <a:latin typeface="Open Sans"/>
                <a:ea typeface="Open Sans"/>
                <a:cs typeface="Open Sans"/>
                <a:sym typeface="Open Sans"/>
              </a:rPr>
              <a:t>faster: PINN training takes 25 to 34 s, FDM takes under 0.02 s</a:t>
            </a:r>
          </a:p>
        </p:txBody>
      </p:sp>
      <p:grpSp>
        <p:nvGrpSpPr>
          <p:cNvPr name="Group 19" id="19"/>
          <p:cNvGrpSpPr/>
          <p:nvPr/>
        </p:nvGrpSpPr>
        <p:grpSpPr>
          <a:xfrm rot="0">
            <a:off x="9537697" y="5674719"/>
            <a:ext cx="7835903" cy="1693469"/>
            <a:chOff x="0" y="0"/>
            <a:chExt cx="10447871" cy="2257958"/>
          </a:xfrm>
        </p:grpSpPr>
        <p:sp>
          <p:nvSpPr>
            <p:cNvPr name="Freeform 20" id="20"/>
            <p:cNvSpPr/>
            <p:nvPr/>
          </p:nvSpPr>
          <p:spPr>
            <a:xfrm flipH="false" flipV="false" rot="0">
              <a:off x="0" y="0"/>
              <a:ext cx="10447909" cy="2257933"/>
            </a:xfrm>
            <a:custGeom>
              <a:avLst/>
              <a:gdLst/>
              <a:ahLst/>
              <a:cxnLst/>
              <a:rect r="r" b="b" t="t" l="l"/>
              <a:pathLst>
                <a:path h="2257933" w="10447909">
                  <a:moveTo>
                    <a:pt x="0" y="203200"/>
                  </a:moveTo>
                  <a:cubicBezTo>
                    <a:pt x="0" y="90932"/>
                    <a:pt x="90932" y="0"/>
                    <a:pt x="203200" y="0"/>
                  </a:cubicBezTo>
                  <a:lnTo>
                    <a:pt x="10244709" y="0"/>
                  </a:lnTo>
                  <a:cubicBezTo>
                    <a:pt x="10356977" y="0"/>
                    <a:pt x="10447909" y="90932"/>
                    <a:pt x="10447909" y="203200"/>
                  </a:cubicBezTo>
                  <a:lnTo>
                    <a:pt x="10447909" y="2054733"/>
                  </a:lnTo>
                  <a:cubicBezTo>
                    <a:pt x="10447909" y="2167001"/>
                    <a:pt x="10356977" y="2257933"/>
                    <a:pt x="10244709" y="2257933"/>
                  </a:cubicBezTo>
                  <a:lnTo>
                    <a:pt x="203200" y="2257933"/>
                  </a:lnTo>
                  <a:cubicBezTo>
                    <a:pt x="90932" y="2257933"/>
                    <a:pt x="0" y="2167001"/>
                    <a:pt x="0" y="2054733"/>
                  </a:cubicBezTo>
                  <a:close/>
                </a:path>
              </a:pathLst>
            </a:custGeom>
            <a:solidFill>
              <a:srgbClr val="E8F1FD"/>
            </a:solidFill>
          </p:spPr>
        </p:sp>
      </p:grpSp>
      <p:sp>
        <p:nvSpPr>
          <p:cNvPr name="TextBox 21" id="21"/>
          <p:cNvSpPr txBox="true"/>
          <p:nvPr/>
        </p:nvSpPr>
        <p:spPr>
          <a:xfrm rot="0">
            <a:off x="9804397" y="5884269"/>
            <a:ext cx="7521578" cy="561975"/>
          </a:xfrm>
          <a:prstGeom prst="rect">
            <a:avLst/>
          </a:prstGeom>
        </p:spPr>
        <p:txBody>
          <a:bodyPr anchor="t" rtlCol="false" tIns="0" lIns="0" bIns="0" rIns="0">
            <a:spAutoFit/>
          </a:bodyPr>
          <a:lstStyle/>
          <a:p>
            <a:pPr algn="l">
              <a:lnSpc>
                <a:spcPts val="4125"/>
              </a:lnSpc>
            </a:pPr>
            <a:r>
              <a:rPr lang="en-US" sz="3750" b="true">
                <a:solidFill>
                  <a:srgbClr val="5EA3F8"/>
                </a:solidFill>
                <a:latin typeface="Poppins Bold"/>
                <a:ea typeface="Poppins Bold"/>
                <a:cs typeface="Poppins Bold"/>
                <a:sym typeface="Poppins Bold"/>
              </a:rPr>
              <a:t>Seed-dependent</a:t>
            </a:r>
          </a:p>
        </p:txBody>
      </p:sp>
      <p:sp>
        <p:nvSpPr>
          <p:cNvPr name="TextBox 22" id="22"/>
          <p:cNvSpPr txBox="true"/>
          <p:nvPr/>
        </p:nvSpPr>
        <p:spPr>
          <a:xfrm rot="0">
            <a:off x="9804397" y="6446244"/>
            <a:ext cx="7521578" cy="750494"/>
          </a:xfrm>
          <a:prstGeom prst="rect">
            <a:avLst/>
          </a:prstGeom>
        </p:spPr>
        <p:txBody>
          <a:bodyPr anchor="t" rtlCol="false" tIns="0" lIns="0" bIns="0" rIns="0">
            <a:spAutoFit/>
          </a:bodyPr>
          <a:lstStyle/>
          <a:p>
            <a:pPr algn="l">
              <a:lnSpc>
                <a:spcPts val="2730"/>
              </a:lnSpc>
            </a:pPr>
            <a:r>
              <a:rPr lang="en-US" sz="2100">
                <a:solidFill>
                  <a:srgbClr val="1F2A44"/>
                </a:solidFill>
                <a:latin typeface="Open Sans"/>
                <a:ea typeface="Open Sans"/>
                <a:cs typeface="Open Sans"/>
                <a:sym typeface="Open Sans"/>
              </a:rPr>
              <a:t>PINN accuracy changes with the random start, so one run can mislead</a:t>
            </a:r>
          </a:p>
        </p:txBody>
      </p:sp>
      <p:grpSp>
        <p:nvGrpSpPr>
          <p:cNvPr name="Group 23" id="23"/>
          <p:cNvGrpSpPr/>
          <p:nvPr/>
        </p:nvGrpSpPr>
        <p:grpSpPr>
          <a:xfrm rot="0">
            <a:off x="1143000" y="8106766"/>
            <a:ext cx="16230600" cy="1097166"/>
            <a:chOff x="0" y="0"/>
            <a:chExt cx="21640800" cy="1462888"/>
          </a:xfrm>
        </p:grpSpPr>
        <p:sp>
          <p:nvSpPr>
            <p:cNvPr name="Freeform 24" id="24"/>
            <p:cNvSpPr/>
            <p:nvPr/>
          </p:nvSpPr>
          <p:spPr>
            <a:xfrm flipH="false" flipV="false" rot="0">
              <a:off x="0" y="0"/>
              <a:ext cx="21640800" cy="1462913"/>
            </a:xfrm>
            <a:custGeom>
              <a:avLst/>
              <a:gdLst/>
              <a:ahLst/>
              <a:cxnLst/>
              <a:rect r="r" b="b" t="t" l="l"/>
              <a:pathLst>
                <a:path h="1462913" w="21640800">
                  <a:moveTo>
                    <a:pt x="0" y="101600"/>
                  </a:moveTo>
                  <a:cubicBezTo>
                    <a:pt x="0" y="45466"/>
                    <a:pt x="45466" y="0"/>
                    <a:pt x="101600" y="0"/>
                  </a:cubicBezTo>
                  <a:lnTo>
                    <a:pt x="21539200" y="0"/>
                  </a:lnTo>
                  <a:cubicBezTo>
                    <a:pt x="21595335" y="0"/>
                    <a:pt x="21640800" y="45466"/>
                    <a:pt x="21640800" y="101600"/>
                  </a:cubicBezTo>
                  <a:lnTo>
                    <a:pt x="21640800" y="1361313"/>
                  </a:lnTo>
                  <a:cubicBezTo>
                    <a:pt x="21640800" y="1417447"/>
                    <a:pt x="21595335" y="1462913"/>
                    <a:pt x="21539200" y="1462913"/>
                  </a:cubicBezTo>
                  <a:lnTo>
                    <a:pt x="101600" y="1462913"/>
                  </a:lnTo>
                  <a:cubicBezTo>
                    <a:pt x="45466" y="1462913"/>
                    <a:pt x="0" y="1417447"/>
                    <a:pt x="0" y="1361313"/>
                  </a:cubicBezTo>
                  <a:close/>
                </a:path>
              </a:pathLst>
            </a:custGeom>
            <a:solidFill>
              <a:srgbClr val="E8F1FD"/>
            </a:solidFill>
          </p:spPr>
        </p:sp>
        <p:sp>
          <p:nvSpPr>
            <p:cNvPr name="TextBox 25" id="25"/>
            <p:cNvSpPr txBox="true"/>
            <p:nvPr/>
          </p:nvSpPr>
          <p:spPr>
            <a:xfrm>
              <a:off x="0" y="-19050"/>
              <a:ext cx="21640800" cy="1481938"/>
            </a:xfrm>
            <a:prstGeom prst="rect">
              <a:avLst/>
            </a:prstGeom>
          </p:spPr>
          <p:txBody>
            <a:bodyPr anchor="t" rtlCol="false" tIns="50800" lIns="50800" bIns="50800" rIns="50800"/>
            <a:lstStyle/>
            <a:p>
              <a:pPr algn="l">
                <a:lnSpc>
                  <a:spcPts val="3120"/>
                </a:lnSpc>
              </a:pPr>
              <a:r>
                <a:rPr lang="en-US" sz="2400" b="true">
                  <a:solidFill>
                    <a:srgbClr val="1F2A44"/>
                  </a:solidFill>
                  <a:latin typeface="Open Sans Bold"/>
                  <a:ea typeface="Open Sans Bold"/>
                  <a:cs typeface="Open Sans Bold"/>
                  <a:sym typeface="Open Sans Bold"/>
                </a:rPr>
                <a:t>On these smooth one-dimensional problems, the classical method wins on both accuracy and speed. This is a result for our experiments, not a general rule.</a:t>
              </a:r>
            </a:p>
          </p:txBody>
        </p:sp>
      </p:grpSp>
      <p:grpSp>
        <p:nvGrpSpPr>
          <p:cNvPr name="Group 26" id="26"/>
          <p:cNvGrpSpPr/>
          <p:nvPr/>
        </p:nvGrpSpPr>
        <p:grpSpPr>
          <a:xfrm rot="0">
            <a:off x="1143000" y="8106766"/>
            <a:ext cx="16230600" cy="1097166"/>
            <a:chOff x="0" y="0"/>
            <a:chExt cx="21640800" cy="1462888"/>
          </a:xfrm>
        </p:grpSpPr>
        <p:sp>
          <p:nvSpPr>
            <p:cNvPr name="Freeform 27" id="27"/>
            <p:cNvSpPr/>
            <p:nvPr/>
          </p:nvSpPr>
          <p:spPr>
            <a:xfrm flipH="false" flipV="false" rot="0">
              <a:off x="0" y="0"/>
              <a:ext cx="101600" cy="1462913"/>
            </a:xfrm>
            <a:custGeom>
              <a:avLst/>
              <a:gdLst/>
              <a:ahLst/>
              <a:cxnLst/>
              <a:rect r="r" b="b" t="t" l="l"/>
              <a:pathLst>
                <a:path h="1462913" w="101600">
                  <a:moveTo>
                    <a:pt x="101600" y="1462913"/>
                  </a:moveTo>
                  <a:cubicBezTo>
                    <a:pt x="45466" y="1462913"/>
                    <a:pt x="0" y="1417447"/>
                    <a:pt x="0" y="1361313"/>
                  </a:cubicBezTo>
                  <a:lnTo>
                    <a:pt x="0" y="101600"/>
                  </a:lnTo>
                  <a:cubicBezTo>
                    <a:pt x="0" y="45466"/>
                    <a:pt x="45466" y="0"/>
                    <a:pt x="101600" y="0"/>
                  </a:cubicBezTo>
                  <a:lnTo>
                    <a:pt x="101600" y="1462913"/>
                  </a:lnTo>
                  <a:close/>
                </a:path>
              </a:pathLst>
            </a:custGeom>
            <a:solidFill>
              <a:srgbClr val="5EA3F8"/>
            </a:solidFill>
          </p:spPr>
        </p:sp>
      </p:grpSp>
    </p:spTree>
  </p:cSld>
  <p:clrMapOvr>
    <a:masterClrMapping/>
  </p:clrMapOvr>
  <p:transition spd="slow">
    <p:cover dir="l"/>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397623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Seed Var</a:t>
            </a:r>
            <a:r>
              <a:rPr lang="en-US" b="true" sz="2499">
                <a:solidFill>
                  <a:srgbClr val="1E293B"/>
                </a:solidFill>
                <a:latin typeface="Open Sans Bold"/>
                <a:ea typeface="Open Sans Bold"/>
                <a:cs typeface="Open Sans Bold"/>
                <a:sym typeface="Open Sans Bold"/>
              </a:rPr>
              <a:t>iability</a:t>
            </a:r>
          </a:p>
        </p:txBody>
      </p:sp>
      <p:grpSp>
        <p:nvGrpSpPr>
          <p:cNvPr name="Group 7" id="7"/>
          <p:cNvGrpSpPr/>
          <p:nvPr/>
        </p:nvGrpSpPr>
        <p:grpSpPr>
          <a:xfrm rot="0">
            <a:off x="9551147" y="-431018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0" id="10"/>
          <p:cNvSpPr txBox="true"/>
          <p:nvPr/>
        </p:nvSpPr>
        <p:spPr>
          <a:xfrm rot="0">
            <a:off x="943593" y="2210281"/>
            <a:ext cx="15766629"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Why 10 Random Seeds Matter</a:t>
            </a:r>
          </a:p>
        </p:txBody>
      </p:sp>
      <p:sp>
        <p:nvSpPr>
          <p:cNvPr name="TextBox 11" id="11"/>
          <p:cNvSpPr txBox="true"/>
          <p:nvPr/>
        </p:nvSpPr>
        <p:spPr>
          <a:xfrm rot="0">
            <a:off x="1200633" y="3868148"/>
            <a:ext cx="6335036" cy="5581523"/>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Single seed</a:t>
            </a:r>
          </a:p>
          <a:p>
            <a:pPr algn="l">
              <a:lnSpc>
                <a:spcPts val="3682"/>
              </a:lnSpc>
            </a:pPr>
            <a:r>
              <a:rPr lang="en-US" sz="2630">
                <a:solidFill>
                  <a:srgbClr val="1E293B"/>
                </a:solidFill>
                <a:latin typeface="Open Sans"/>
                <a:ea typeface="Open Sans"/>
                <a:cs typeface="Open Sans"/>
                <a:sym typeface="Open Sans"/>
              </a:rPr>
              <a:t>Can give a misleading impression of performance.</a:t>
            </a:r>
          </a:p>
          <a:p>
            <a:pPr algn="l">
              <a:lnSpc>
                <a:spcPts val="3682"/>
              </a:lnSpc>
            </a:pPr>
          </a:p>
          <a:p>
            <a:pPr algn="l">
              <a:lnSpc>
                <a:spcPts val="3682"/>
              </a:lnSpc>
            </a:pPr>
            <a:r>
              <a:rPr lang="en-US" sz="2630" b="true">
                <a:solidFill>
                  <a:srgbClr val="1E293B"/>
                </a:solidFill>
                <a:latin typeface="Open Sans Bold"/>
                <a:ea typeface="Open Sans Bold"/>
                <a:cs typeface="Open Sans Bold"/>
                <a:sym typeface="Open Sans Bold"/>
              </a:rPr>
              <a:t>10 seeds</a:t>
            </a:r>
          </a:p>
          <a:p>
            <a:pPr algn="l">
              <a:lnSpc>
                <a:spcPts val="3682"/>
              </a:lnSpc>
            </a:pPr>
            <a:r>
              <a:rPr lang="en-US" sz="2630">
                <a:solidFill>
                  <a:srgbClr val="1E293B"/>
                </a:solidFill>
                <a:latin typeface="Open Sans"/>
                <a:ea typeface="Open Sans"/>
                <a:cs typeface="Open Sans"/>
                <a:sym typeface="Open Sans"/>
              </a:rPr>
              <a:t>Shows:</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Mean performance</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Standar</a:t>
            </a:r>
            <a:r>
              <a:rPr lang="en-US" sz="2630">
                <a:solidFill>
                  <a:srgbClr val="1E293B"/>
                </a:solidFill>
                <a:latin typeface="Open Sans"/>
                <a:ea typeface="Open Sans"/>
                <a:cs typeface="Open Sans"/>
                <a:sym typeface="Open Sans"/>
              </a:rPr>
              <a:t>d deviation</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Best run</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Worst run</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Initialization sensitivity</a:t>
            </a:r>
          </a:p>
          <a:p>
            <a:pPr algn="l">
              <a:lnSpc>
                <a:spcPts val="3682"/>
              </a:lnSpc>
            </a:pPr>
          </a:p>
        </p:txBody>
      </p:sp>
      <p:sp>
        <p:nvSpPr>
          <p:cNvPr name="AutoShape 12" id="12"/>
          <p:cNvSpPr/>
          <p:nvPr/>
        </p:nvSpPr>
        <p:spPr>
          <a:xfrm>
            <a:off x="980540" y="3915773"/>
            <a:ext cx="0" cy="1447364"/>
          </a:xfrm>
          <a:prstGeom prst="line">
            <a:avLst/>
          </a:prstGeom>
          <a:ln cap="rnd" w="57150">
            <a:solidFill>
              <a:srgbClr val="60A5FA"/>
            </a:solidFill>
            <a:prstDash val="solid"/>
            <a:headEnd type="none" len="sm" w="sm"/>
            <a:tailEnd type="none" len="sm" w="sm"/>
          </a:ln>
        </p:spPr>
      </p:sp>
      <p:sp>
        <p:nvSpPr>
          <p:cNvPr name="AutoShape 13" id="13"/>
          <p:cNvSpPr/>
          <p:nvPr/>
        </p:nvSpPr>
        <p:spPr>
          <a:xfrm flipH="true">
            <a:off x="980540" y="6015572"/>
            <a:ext cx="0" cy="2832390"/>
          </a:xfrm>
          <a:prstGeom prst="line">
            <a:avLst/>
          </a:prstGeom>
          <a:ln cap="rnd" w="57150">
            <a:solidFill>
              <a:srgbClr val="60A5FA"/>
            </a:solidFill>
            <a:prstDash val="solid"/>
            <a:headEnd type="none" len="sm" w="sm"/>
            <a:tailEnd type="none" len="sm" w="sm"/>
          </a:ln>
        </p:spPr>
      </p:sp>
      <p:sp>
        <p:nvSpPr>
          <p:cNvPr name="TextBox 14" id="14"/>
          <p:cNvSpPr txBox="true"/>
          <p:nvPr/>
        </p:nvSpPr>
        <p:spPr>
          <a:xfrm rot="0">
            <a:off x="9103532" y="5768449"/>
            <a:ext cx="7691796" cy="914273"/>
          </a:xfrm>
          <a:prstGeom prst="rect">
            <a:avLst/>
          </a:prstGeom>
        </p:spPr>
        <p:txBody>
          <a:bodyPr anchor="t" rtlCol="false" tIns="0" lIns="0" bIns="0" rIns="0">
            <a:spAutoFit/>
          </a:bodyPr>
          <a:lstStyle/>
          <a:p>
            <a:pPr algn="l">
              <a:lnSpc>
                <a:spcPts val="3682"/>
              </a:lnSpc>
            </a:pPr>
            <a:r>
              <a:rPr lang="en-US" b="true" sz="2630">
                <a:solidFill>
                  <a:srgbClr val="1E293B"/>
                </a:solidFill>
                <a:latin typeface="Open Sans Bold"/>
                <a:ea typeface="Open Sans Bold"/>
                <a:cs typeface="Open Sans Bold"/>
                <a:sym typeface="Open Sans Bold"/>
              </a:rPr>
              <a:t>A single PINN training run is not enough to reliably rank compet</a:t>
            </a:r>
            <a:r>
              <a:rPr lang="en-US" b="true" sz="2630">
                <a:solidFill>
                  <a:srgbClr val="1E293B"/>
                </a:solidFill>
                <a:latin typeface="Open Sans Bold"/>
                <a:ea typeface="Open Sans Bold"/>
                <a:cs typeface="Open Sans Bold"/>
                <a:sym typeface="Open Sans Bold"/>
              </a:rPr>
              <a:t>ing configurations.</a:t>
            </a:r>
          </a:p>
        </p:txBody>
      </p:sp>
      <p:sp>
        <p:nvSpPr>
          <p:cNvPr name="AutoShape 15" id="15"/>
          <p:cNvSpPr/>
          <p:nvPr/>
        </p:nvSpPr>
        <p:spPr>
          <a:xfrm flipH="true">
            <a:off x="8855483" y="4833203"/>
            <a:ext cx="0" cy="2832390"/>
          </a:xfrm>
          <a:prstGeom prst="line">
            <a:avLst/>
          </a:prstGeom>
          <a:ln cap="rnd" w="57150">
            <a:solidFill>
              <a:srgbClr val="60A5FA"/>
            </a:solidFill>
            <a:prstDash val="solid"/>
            <a:headEnd type="none" len="sm" w="sm"/>
            <a:tailEnd type="none" len="sm" w="sm"/>
          </a:ln>
        </p:spPr>
      </p:sp>
    </p:spTree>
  </p:cSld>
  <p:clrMapOvr>
    <a:masterClrMapping/>
  </p:clrMapOvr>
  <p:transition spd="slow">
    <p:cover dir="l"/>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778936"/>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1043819" y="-4496808"/>
            <a:ext cx="7244181" cy="72441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1028700" y="1702457"/>
            <a:ext cx="15073845"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Contributions &amp; Future Work</a:t>
            </a:r>
          </a:p>
        </p:txBody>
      </p:sp>
      <p:grpSp>
        <p:nvGrpSpPr>
          <p:cNvPr name="Group 10" id="10"/>
          <p:cNvGrpSpPr/>
          <p:nvPr/>
        </p:nvGrpSpPr>
        <p:grpSpPr>
          <a:xfrm rot="0">
            <a:off x="6987464" y="3057819"/>
            <a:ext cx="10909681" cy="7935827"/>
            <a:chOff x="0" y="0"/>
            <a:chExt cx="2873332" cy="2090094"/>
          </a:xfrm>
        </p:grpSpPr>
        <p:sp>
          <p:nvSpPr>
            <p:cNvPr name="Freeform 11" id="11"/>
            <p:cNvSpPr/>
            <p:nvPr/>
          </p:nvSpPr>
          <p:spPr>
            <a:xfrm flipH="false" flipV="false" rot="0">
              <a:off x="0" y="0"/>
              <a:ext cx="2873332" cy="2090095"/>
            </a:xfrm>
            <a:custGeom>
              <a:avLst/>
              <a:gdLst/>
              <a:ahLst/>
              <a:cxnLst/>
              <a:rect r="r" b="b" t="t" l="l"/>
              <a:pathLst>
                <a:path h="2090095" w="2873332">
                  <a:moveTo>
                    <a:pt x="10645" y="0"/>
                  </a:moveTo>
                  <a:lnTo>
                    <a:pt x="2862687" y="0"/>
                  </a:lnTo>
                  <a:cubicBezTo>
                    <a:pt x="2868566" y="0"/>
                    <a:pt x="2873332" y="4766"/>
                    <a:pt x="2873332" y="10645"/>
                  </a:cubicBezTo>
                  <a:lnTo>
                    <a:pt x="2873332" y="2079450"/>
                  </a:lnTo>
                  <a:cubicBezTo>
                    <a:pt x="2873332" y="2082273"/>
                    <a:pt x="2872210" y="2084980"/>
                    <a:pt x="2870214" y="2086977"/>
                  </a:cubicBezTo>
                  <a:cubicBezTo>
                    <a:pt x="2868218" y="2088973"/>
                    <a:pt x="2865510" y="2090095"/>
                    <a:pt x="2862687" y="2090095"/>
                  </a:cubicBezTo>
                  <a:lnTo>
                    <a:pt x="10645" y="2090095"/>
                  </a:lnTo>
                  <a:cubicBezTo>
                    <a:pt x="4766" y="2090095"/>
                    <a:pt x="0" y="2085329"/>
                    <a:pt x="0" y="2079450"/>
                  </a:cubicBezTo>
                  <a:lnTo>
                    <a:pt x="0" y="10645"/>
                  </a:lnTo>
                  <a:cubicBezTo>
                    <a:pt x="0" y="7821"/>
                    <a:pt x="1121" y="5114"/>
                    <a:pt x="3118" y="3118"/>
                  </a:cubicBezTo>
                  <a:cubicBezTo>
                    <a:pt x="5114" y="1121"/>
                    <a:pt x="7821" y="0"/>
                    <a:pt x="10645" y="0"/>
                  </a:cubicBezTo>
                  <a:close/>
                </a:path>
              </a:pathLst>
            </a:custGeom>
            <a:gradFill rotWithShape="true">
              <a:gsLst>
                <a:gs pos="0">
                  <a:srgbClr val="BFD9F9">
                    <a:alpha val="100000"/>
                  </a:srgbClr>
                </a:gs>
                <a:gs pos="100000">
                  <a:srgbClr val="F4F9FD">
                    <a:alpha val="100000"/>
                  </a:srgbClr>
                </a:gs>
              </a:gsLst>
              <a:lin ang="5400000"/>
            </a:gradFill>
          </p:spPr>
        </p:sp>
        <p:sp>
          <p:nvSpPr>
            <p:cNvPr name="TextBox 12" id="12"/>
            <p:cNvSpPr txBox="true"/>
            <p:nvPr/>
          </p:nvSpPr>
          <p:spPr>
            <a:xfrm>
              <a:off x="0" y="-47625"/>
              <a:ext cx="2873332" cy="2137719"/>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7206601" y="4115094"/>
            <a:ext cx="10471408" cy="1095081"/>
            <a:chOff x="0" y="0"/>
            <a:chExt cx="2757902" cy="288416"/>
          </a:xfrm>
        </p:grpSpPr>
        <p:sp>
          <p:nvSpPr>
            <p:cNvPr name="Freeform 14" id="14"/>
            <p:cNvSpPr/>
            <p:nvPr/>
          </p:nvSpPr>
          <p:spPr>
            <a:xfrm flipH="false" flipV="false" rot="0">
              <a:off x="0" y="0"/>
              <a:ext cx="2757902" cy="288416"/>
            </a:xfrm>
            <a:custGeom>
              <a:avLst/>
              <a:gdLst/>
              <a:ahLst/>
              <a:cxnLst/>
              <a:rect r="r" b="b" t="t" l="l"/>
              <a:pathLst>
                <a:path h="288416" w="2757902">
                  <a:moveTo>
                    <a:pt x="36967" y="0"/>
                  </a:moveTo>
                  <a:lnTo>
                    <a:pt x="2720935" y="0"/>
                  </a:lnTo>
                  <a:cubicBezTo>
                    <a:pt x="2730739" y="0"/>
                    <a:pt x="2740142" y="3895"/>
                    <a:pt x="2747074" y="10827"/>
                  </a:cubicBezTo>
                  <a:cubicBezTo>
                    <a:pt x="2754007" y="17760"/>
                    <a:pt x="2757902" y="27163"/>
                    <a:pt x="2757902" y="36967"/>
                  </a:cubicBezTo>
                  <a:lnTo>
                    <a:pt x="2757902" y="251450"/>
                  </a:lnTo>
                  <a:cubicBezTo>
                    <a:pt x="2757902" y="261254"/>
                    <a:pt x="2754007" y="270656"/>
                    <a:pt x="2747074" y="277589"/>
                  </a:cubicBezTo>
                  <a:cubicBezTo>
                    <a:pt x="2740142" y="284522"/>
                    <a:pt x="2730739" y="288416"/>
                    <a:pt x="2720935" y="288416"/>
                  </a:cubicBezTo>
                  <a:lnTo>
                    <a:pt x="36967" y="288416"/>
                  </a:lnTo>
                  <a:cubicBezTo>
                    <a:pt x="27163" y="288416"/>
                    <a:pt x="17760" y="284522"/>
                    <a:pt x="10827" y="277589"/>
                  </a:cubicBezTo>
                  <a:cubicBezTo>
                    <a:pt x="3895" y="270656"/>
                    <a:pt x="0" y="261254"/>
                    <a:pt x="0" y="251450"/>
                  </a:cubicBezTo>
                  <a:lnTo>
                    <a:pt x="0" y="36967"/>
                  </a:lnTo>
                  <a:cubicBezTo>
                    <a:pt x="0" y="27163"/>
                    <a:pt x="3895" y="17760"/>
                    <a:pt x="10827" y="10827"/>
                  </a:cubicBezTo>
                  <a:cubicBezTo>
                    <a:pt x="17760" y="3895"/>
                    <a:pt x="27163" y="0"/>
                    <a:pt x="36967" y="0"/>
                  </a:cubicBezTo>
                  <a:close/>
                </a:path>
              </a:pathLst>
            </a:custGeom>
            <a:solidFill>
              <a:srgbClr val="60A5FA"/>
            </a:solidFill>
          </p:spPr>
        </p:sp>
        <p:sp>
          <p:nvSpPr>
            <p:cNvPr name="TextBox 15" id="15"/>
            <p:cNvSpPr txBox="true"/>
            <p:nvPr/>
          </p:nvSpPr>
          <p:spPr>
            <a:xfrm>
              <a:off x="0" y="-47625"/>
              <a:ext cx="2757902" cy="336041"/>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0">
            <a:off x="1028700" y="3114969"/>
            <a:ext cx="5335032" cy="7409004"/>
            <a:chOff x="0" y="0"/>
            <a:chExt cx="794454" cy="1103295"/>
          </a:xfrm>
        </p:grpSpPr>
        <p:sp>
          <p:nvSpPr>
            <p:cNvPr name="Freeform 17" id="17"/>
            <p:cNvSpPr/>
            <p:nvPr/>
          </p:nvSpPr>
          <p:spPr>
            <a:xfrm flipH="false" flipV="false" rot="0">
              <a:off x="0" y="0"/>
              <a:ext cx="794454" cy="1103295"/>
            </a:xfrm>
            <a:custGeom>
              <a:avLst/>
              <a:gdLst/>
              <a:ahLst/>
              <a:cxnLst/>
              <a:rect r="r" b="b" t="t" l="l"/>
              <a:pathLst>
                <a:path h="1103295" w="794454">
                  <a:moveTo>
                    <a:pt x="20316" y="0"/>
                  </a:moveTo>
                  <a:lnTo>
                    <a:pt x="774138" y="0"/>
                  </a:lnTo>
                  <a:cubicBezTo>
                    <a:pt x="779526" y="0"/>
                    <a:pt x="784694" y="2140"/>
                    <a:pt x="788504" y="5950"/>
                  </a:cubicBezTo>
                  <a:cubicBezTo>
                    <a:pt x="792314" y="9760"/>
                    <a:pt x="794454" y="14928"/>
                    <a:pt x="794454" y="20316"/>
                  </a:cubicBezTo>
                  <a:lnTo>
                    <a:pt x="794454" y="1082979"/>
                  </a:lnTo>
                  <a:cubicBezTo>
                    <a:pt x="794454" y="1088367"/>
                    <a:pt x="792314" y="1093534"/>
                    <a:pt x="788504" y="1097344"/>
                  </a:cubicBezTo>
                  <a:cubicBezTo>
                    <a:pt x="784694" y="1101154"/>
                    <a:pt x="779526" y="1103295"/>
                    <a:pt x="774138" y="1103295"/>
                  </a:cubicBezTo>
                  <a:lnTo>
                    <a:pt x="20316" y="1103295"/>
                  </a:lnTo>
                  <a:cubicBezTo>
                    <a:pt x="14928" y="1103295"/>
                    <a:pt x="9760" y="1101154"/>
                    <a:pt x="5950" y="1097344"/>
                  </a:cubicBezTo>
                  <a:cubicBezTo>
                    <a:pt x="2140" y="1093534"/>
                    <a:pt x="0" y="1088367"/>
                    <a:pt x="0" y="1082979"/>
                  </a:cubicBezTo>
                  <a:lnTo>
                    <a:pt x="0" y="20316"/>
                  </a:lnTo>
                  <a:cubicBezTo>
                    <a:pt x="0" y="14928"/>
                    <a:pt x="2140" y="9760"/>
                    <a:pt x="5950" y="5950"/>
                  </a:cubicBezTo>
                  <a:cubicBezTo>
                    <a:pt x="9760" y="2140"/>
                    <a:pt x="14928" y="0"/>
                    <a:pt x="20316" y="0"/>
                  </a:cubicBezTo>
                  <a:close/>
                </a:path>
              </a:pathLst>
            </a:custGeom>
            <a:blipFill>
              <a:blip r:embed="rId4"/>
              <a:stretch>
                <a:fillRect l="-54061" t="0" r="-54061" b="0"/>
              </a:stretch>
            </a:blipFill>
          </p:spPr>
        </p:sp>
      </p:grpSp>
      <p:sp>
        <p:nvSpPr>
          <p:cNvPr name="TextBox 18" id="18"/>
          <p:cNvSpPr txBox="true"/>
          <p:nvPr/>
        </p:nvSpPr>
        <p:spPr>
          <a:xfrm rot="0">
            <a:off x="2057840" y="981075"/>
            <a:ext cx="397623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Contribution</a:t>
            </a:r>
          </a:p>
        </p:txBody>
      </p:sp>
      <p:sp>
        <p:nvSpPr>
          <p:cNvPr name="TextBox 19" id="19"/>
          <p:cNvSpPr txBox="true"/>
          <p:nvPr/>
        </p:nvSpPr>
        <p:spPr>
          <a:xfrm rot="0">
            <a:off x="7651431" y="4132409"/>
            <a:ext cx="9694810" cy="86042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ns Bold"/>
                <a:ea typeface="Open Sans Bold"/>
                <a:cs typeface="Open Sans Bold"/>
                <a:sym typeface="Open Sans Bold"/>
              </a:rPr>
              <a:t>01 — Reproduction</a:t>
            </a:r>
          </a:p>
          <a:p>
            <a:pPr algn="ctr">
              <a:lnSpc>
                <a:spcPts val="3499"/>
              </a:lnSpc>
            </a:pPr>
            <a:r>
              <a:rPr lang="en-US" sz="2499">
                <a:solidFill>
                  <a:srgbClr val="FFFFFF"/>
                </a:solidFill>
                <a:latin typeface="Open Sans"/>
                <a:ea typeface="Open Sans"/>
                <a:cs typeface="Open Sans"/>
                <a:sym typeface="Open Sans"/>
              </a:rPr>
              <a:t> Reproduced the four PINN approa</a:t>
            </a:r>
            <a:r>
              <a:rPr lang="en-US" sz="2499">
                <a:solidFill>
                  <a:srgbClr val="FFFFFF"/>
                </a:solidFill>
                <a:latin typeface="Open Sans"/>
                <a:ea typeface="Open Sans"/>
                <a:cs typeface="Open Sans"/>
                <a:sym typeface="Open Sans"/>
              </a:rPr>
              <a:t>ches fr</a:t>
            </a:r>
            <a:r>
              <a:rPr lang="en-US" sz="2499">
                <a:solidFill>
                  <a:srgbClr val="FFFFFF"/>
                </a:solidFill>
                <a:latin typeface="Open Sans"/>
                <a:ea typeface="Open Sans"/>
                <a:cs typeface="Open Sans"/>
                <a:sym typeface="Open Sans"/>
              </a:rPr>
              <a:t>om the reference study.</a:t>
            </a:r>
          </a:p>
        </p:txBody>
      </p:sp>
      <p:sp>
        <p:nvSpPr>
          <p:cNvPr name="TextBox 20" id="20"/>
          <p:cNvSpPr txBox="true"/>
          <p:nvPr/>
        </p:nvSpPr>
        <p:spPr>
          <a:xfrm rot="0">
            <a:off x="7263132" y="3315121"/>
            <a:ext cx="10909681" cy="447548"/>
          </a:xfrm>
          <a:prstGeom prst="rect">
            <a:avLst/>
          </a:prstGeom>
        </p:spPr>
        <p:txBody>
          <a:bodyPr anchor="t" rtlCol="false" tIns="0" lIns="0" bIns="0" rIns="0">
            <a:spAutoFit/>
          </a:bodyPr>
          <a:lstStyle/>
          <a:p>
            <a:pPr algn="l">
              <a:lnSpc>
                <a:spcPts val="3682"/>
              </a:lnSpc>
            </a:pPr>
            <a:r>
              <a:rPr lang="en-US" b="true" sz="2630">
                <a:solidFill>
                  <a:srgbClr val="1E293B"/>
                </a:solidFill>
                <a:latin typeface="Open Sans Bold"/>
                <a:ea typeface="Open Sans Bold"/>
                <a:cs typeface="Open Sans Bold"/>
                <a:sym typeface="Open Sans Bold"/>
              </a:rPr>
              <a:t>What we achieved</a:t>
            </a:r>
          </a:p>
        </p:txBody>
      </p:sp>
      <p:grpSp>
        <p:nvGrpSpPr>
          <p:cNvPr name="Group 21" id="21"/>
          <p:cNvGrpSpPr/>
          <p:nvPr/>
        </p:nvGrpSpPr>
        <p:grpSpPr>
          <a:xfrm rot="0">
            <a:off x="7206601" y="5346446"/>
            <a:ext cx="10471408" cy="1098173"/>
            <a:chOff x="0" y="0"/>
            <a:chExt cx="2757902" cy="289231"/>
          </a:xfrm>
        </p:grpSpPr>
        <p:sp>
          <p:nvSpPr>
            <p:cNvPr name="Freeform 22" id="22"/>
            <p:cNvSpPr/>
            <p:nvPr/>
          </p:nvSpPr>
          <p:spPr>
            <a:xfrm flipH="false" flipV="false" rot="0">
              <a:off x="0" y="0"/>
              <a:ext cx="2757902" cy="289231"/>
            </a:xfrm>
            <a:custGeom>
              <a:avLst/>
              <a:gdLst/>
              <a:ahLst/>
              <a:cxnLst/>
              <a:rect r="r" b="b" t="t" l="l"/>
              <a:pathLst>
                <a:path h="289231" w="2757902">
                  <a:moveTo>
                    <a:pt x="36967" y="0"/>
                  </a:moveTo>
                  <a:lnTo>
                    <a:pt x="2720935" y="0"/>
                  </a:lnTo>
                  <a:cubicBezTo>
                    <a:pt x="2730739" y="0"/>
                    <a:pt x="2740142" y="3895"/>
                    <a:pt x="2747074" y="10827"/>
                  </a:cubicBezTo>
                  <a:cubicBezTo>
                    <a:pt x="2754007" y="17760"/>
                    <a:pt x="2757902" y="27163"/>
                    <a:pt x="2757902" y="36967"/>
                  </a:cubicBezTo>
                  <a:lnTo>
                    <a:pt x="2757902" y="252264"/>
                  </a:lnTo>
                  <a:cubicBezTo>
                    <a:pt x="2757902" y="262068"/>
                    <a:pt x="2754007" y="271471"/>
                    <a:pt x="2747074" y="278403"/>
                  </a:cubicBezTo>
                  <a:cubicBezTo>
                    <a:pt x="2740142" y="285336"/>
                    <a:pt x="2730739" y="289231"/>
                    <a:pt x="2720935" y="289231"/>
                  </a:cubicBezTo>
                  <a:lnTo>
                    <a:pt x="36967" y="289231"/>
                  </a:lnTo>
                  <a:cubicBezTo>
                    <a:pt x="27163" y="289231"/>
                    <a:pt x="17760" y="285336"/>
                    <a:pt x="10827" y="278403"/>
                  </a:cubicBezTo>
                  <a:cubicBezTo>
                    <a:pt x="3895" y="271471"/>
                    <a:pt x="0" y="262068"/>
                    <a:pt x="0" y="252264"/>
                  </a:cubicBezTo>
                  <a:lnTo>
                    <a:pt x="0" y="36967"/>
                  </a:lnTo>
                  <a:cubicBezTo>
                    <a:pt x="0" y="27163"/>
                    <a:pt x="3895" y="17760"/>
                    <a:pt x="10827" y="10827"/>
                  </a:cubicBezTo>
                  <a:cubicBezTo>
                    <a:pt x="17760" y="3895"/>
                    <a:pt x="27163" y="0"/>
                    <a:pt x="36967" y="0"/>
                  </a:cubicBezTo>
                  <a:close/>
                </a:path>
              </a:pathLst>
            </a:custGeom>
            <a:solidFill>
              <a:srgbClr val="60A5FA"/>
            </a:solidFill>
          </p:spPr>
        </p:sp>
        <p:sp>
          <p:nvSpPr>
            <p:cNvPr name="TextBox 23" id="23"/>
            <p:cNvSpPr txBox="true"/>
            <p:nvPr/>
          </p:nvSpPr>
          <p:spPr>
            <a:xfrm>
              <a:off x="0" y="-47625"/>
              <a:ext cx="2757902" cy="336856"/>
            </a:xfrm>
            <a:prstGeom prst="rect">
              <a:avLst/>
            </a:prstGeom>
          </p:spPr>
          <p:txBody>
            <a:bodyPr anchor="ctr" rtlCol="false" tIns="50800" lIns="50800" bIns="50800" rIns="50800"/>
            <a:lstStyle/>
            <a:p>
              <a:pPr algn="ctr">
                <a:lnSpc>
                  <a:spcPts val="3499"/>
                </a:lnSpc>
              </a:pPr>
            </a:p>
          </p:txBody>
        </p:sp>
      </p:grpSp>
      <p:sp>
        <p:nvSpPr>
          <p:cNvPr name="TextBox 24" id="24"/>
          <p:cNvSpPr txBox="true"/>
          <p:nvPr/>
        </p:nvSpPr>
        <p:spPr>
          <a:xfrm rot="0">
            <a:off x="7651431" y="5363762"/>
            <a:ext cx="9694810" cy="86042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ns Bold"/>
                <a:ea typeface="Open Sans Bold"/>
                <a:cs typeface="Open Sans Bold"/>
                <a:sym typeface="Open Sans Bold"/>
              </a:rPr>
              <a:t>02 — Robustness</a:t>
            </a:r>
          </a:p>
          <a:p>
            <a:pPr algn="ctr">
              <a:lnSpc>
                <a:spcPts val="3499"/>
              </a:lnSpc>
            </a:pPr>
            <a:r>
              <a:rPr lang="en-US" sz="2499">
                <a:solidFill>
                  <a:srgbClr val="FFFFFF"/>
                </a:solidFill>
                <a:latin typeface="Open Sans"/>
                <a:ea typeface="Open Sans"/>
                <a:cs typeface="Open Sans"/>
                <a:sym typeface="Open Sans"/>
              </a:rPr>
              <a:t> Expanded the exp</a:t>
            </a:r>
            <a:r>
              <a:rPr lang="en-US" sz="2499">
                <a:solidFill>
                  <a:srgbClr val="FFFFFF"/>
                </a:solidFill>
                <a:latin typeface="Open Sans"/>
                <a:ea typeface="Open Sans"/>
                <a:cs typeface="Open Sans"/>
                <a:sym typeface="Open Sans"/>
              </a:rPr>
              <a:t>eri</a:t>
            </a:r>
            <a:r>
              <a:rPr lang="en-US" sz="2499">
                <a:solidFill>
                  <a:srgbClr val="FFFFFF"/>
                </a:solidFill>
                <a:latin typeface="Open Sans"/>
                <a:ea typeface="Open Sans"/>
                <a:cs typeface="Open Sans"/>
                <a:sym typeface="Open Sans"/>
              </a:rPr>
              <a:t>ment to 10 random seeds × 10,000 epochs.</a:t>
            </a:r>
          </a:p>
        </p:txBody>
      </p:sp>
      <p:grpSp>
        <p:nvGrpSpPr>
          <p:cNvPr name="Group 25" id="25"/>
          <p:cNvGrpSpPr/>
          <p:nvPr/>
        </p:nvGrpSpPr>
        <p:grpSpPr>
          <a:xfrm rot="0">
            <a:off x="7206601" y="6577969"/>
            <a:ext cx="10471408" cy="1371304"/>
            <a:chOff x="0" y="0"/>
            <a:chExt cx="2757902" cy="361167"/>
          </a:xfrm>
        </p:grpSpPr>
        <p:sp>
          <p:nvSpPr>
            <p:cNvPr name="Freeform 26" id="26"/>
            <p:cNvSpPr/>
            <p:nvPr/>
          </p:nvSpPr>
          <p:spPr>
            <a:xfrm flipH="false" flipV="false" rot="0">
              <a:off x="0" y="0"/>
              <a:ext cx="2757902" cy="361167"/>
            </a:xfrm>
            <a:custGeom>
              <a:avLst/>
              <a:gdLst/>
              <a:ahLst/>
              <a:cxnLst/>
              <a:rect r="r" b="b" t="t" l="l"/>
              <a:pathLst>
                <a:path h="361167" w="2757902">
                  <a:moveTo>
                    <a:pt x="36967" y="0"/>
                  </a:moveTo>
                  <a:lnTo>
                    <a:pt x="2720935" y="0"/>
                  </a:lnTo>
                  <a:cubicBezTo>
                    <a:pt x="2730739" y="0"/>
                    <a:pt x="2740142" y="3895"/>
                    <a:pt x="2747074" y="10827"/>
                  </a:cubicBezTo>
                  <a:cubicBezTo>
                    <a:pt x="2754007" y="17760"/>
                    <a:pt x="2757902" y="27163"/>
                    <a:pt x="2757902" y="36967"/>
                  </a:cubicBezTo>
                  <a:lnTo>
                    <a:pt x="2757902" y="324200"/>
                  </a:lnTo>
                  <a:cubicBezTo>
                    <a:pt x="2757902" y="334004"/>
                    <a:pt x="2754007" y="343407"/>
                    <a:pt x="2747074" y="350339"/>
                  </a:cubicBezTo>
                  <a:cubicBezTo>
                    <a:pt x="2740142" y="357272"/>
                    <a:pt x="2730739" y="361167"/>
                    <a:pt x="2720935" y="361167"/>
                  </a:cubicBezTo>
                  <a:lnTo>
                    <a:pt x="36967" y="361167"/>
                  </a:lnTo>
                  <a:cubicBezTo>
                    <a:pt x="27163" y="361167"/>
                    <a:pt x="17760" y="357272"/>
                    <a:pt x="10827" y="350339"/>
                  </a:cubicBezTo>
                  <a:cubicBezTo>
                    <a:pt x="3895" y="343407"/>
                    <a:pt x="0" y="334004"/>
                    <a:pt x="0" y="324200"/>
                  </a:cubicBezTo>
                  <a:lnTo>
                    <a:pt x="0" y="36967"/>
                  </a:lnTo>
                  <a:cubicBezTo>
                    <a:pt x="0" y="27163"/>
                    <a:pt x="3895" y="17760"/>
                    <a:pt x="10827" y="10827"/>
                  </a:cubicBezTo>
                  <a:cubicBezTo>
                    <a:pt x="17760" y="3895"/>
                    <a:pt x="27163" y="0"/>
                    <a:pt x="36967" y="0"/>
                  </a:cubicBezTo>
                  <a:close/>
                </a:path>
              </a:pathLst>
            </a:custGeom>
            <a:solidFill>
              <a:srgbClr val="60A5FA"/>
            </a:solidFill>
          </p:spPr>
        </p:sp>
        <p:sp>
          <p:nvSpPr>
            <p:cNvPr name="TextBox 27" id="27"/>
            <p:cNvSpPr txBox="true"/>
            <p:nvPr/>
          </p:nvSpPr>
          <p:spPr>
            <a:xfrm>
              <a:off x="0" y="-47625"/>
              <a:ext cx="2757902" cy="408792"/>
            </a:xfrm>
            <a:prstGeom prst="rect">
              <a:avLst/>
            </a:prstGeom>
          </p:spPr>
          <p:txBody>
            <a:bodyPr anchor="ctr" rtlCol="false" tIns="50800" lIns="50800" bIns="50800" rIns="50800"/>
            <a:lstStyle/>
            <a:p>
              <a:pPr algn="ctr">
                <a:lnSpc>
                  <a:spcPts val="3499"/>
                </a:lnSpc>
              </a:pPr>
            </a:p>
          </p:txBody>
        </p:sp>
      </p:grpSp>
      <p:sp>
        <p:nvSpPr>
          <p:cNvPr name="TextBox 28" id="28"/>
          <p:cNvSpPr txBox="true"/>
          <p:nvPr/>
        </p:nvSpPr>
        <p:spPr>
          <a:xfrm rot="0">
            <a:off x="7651431" y="6595285"/>
            <a:ext cx="9694810" cy="129857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ns Bold"/>
                <a:ea typeface="Open Sans Bold"/>
                <a:cs typeface="Open Sans Bold"/>
                <a:sym typeface="Open Sans Bold"/>
              </a:rPr>
              <a:t>03 — Extension</a:t>
            </a:r>
          </a:p>
          <a:p>
            <a:pPr algn="ctr">
              <a:lnSpc>
                <a:spcPts val="3499"/>
              </a:lnSpc>
            </a:pPr>
            <a:r>
              <a:rPr lang="en-US" sz="2499">
                <a:solidFill>
                  <a:srgbClr val="FFFFFF"/>
                </a:solidFill>
                <a:latin typeface="Open Sans"/>
                <a:ea typeface="Open Sans"/>
                <a:cs typeface="Open Sans"/>
                <a:sym typeface="Open Sans"/>
              </a:rPr>
              <a:t> Implemented Finite Diff</a:t>
            </a:r>
            <a:r>
              <a:rPr lang="en-US" sz="2499">
                <a:solidFill>
                  <a:srgbClr val="FFFFFF"/>
                </a:solidFill>
                <a:latin typeface="Open Sans"/>
                <a:ea typeface="Open Sans"/>
                <a:cs typeface="Open Sans"/>
                <a:sym typeface="Open Sans"/>
              </a:rPr>
              <a:t>er</a:t>
            </a:r>
            <a:r>
              <a:rPr lang="en-US" sz="2499">
                <a:solidFill>
                  <a:srgbClr val="FFFFFF"/>
                </a:solidFill>
                <a:latin typeface="Open Sans"/>
                <a:ea typeface="Open Sans"/>
                <a:cs typeface="Open Sans"/>
                <a:sym typeface="Open Sans"/>
              </a:rPr>
              <a:t>ence Method as a classical numerical baseline.</a:t>
            </a:r>
          </a:p>
        </p:txBody>
      </p:sp>
      <p:grpSp>
        <p:nvGrpSpPr>
          <p:cNvPr name="Group 29" id="29"/>
          <p:cNvGrpSpPr/>
          <p:nvPr/>
        </p:nvGrpSpPr>
        <p:grpSpPr>
          <a:xfrm rot="0">
            <a:off x="7263132" y="8082623"/>
            <a:ext cx="10471408" cy="1978951"/>
            <a:chOff x="0" y="0"/>
            <a:chExt cx="2757902" cy="521205"/>
          </a:xfrm>
        </p:grpSpPr>
        <p:sp>
          <p:nvSpPr>
            <p:cNvPr name="Freeform 30" id="30"/>
            <p:cNvSpPr/>
            <p:nvPr/>
          </p:nvSpPr>
          <p:spPr>
            <a:xfrm flipH="false" flipV="false" rot="0">
              <a:off x="0" y="0"/>
              <a:ext cx="2757902" cy="521205"/>
            </a:xfrm>
            <a:custGeom>
              <a:avLst/>
              <a:gdLst/>
              <a:ahLst/>
              <a:cxnLst/>
              <a:rect r="r" b="b" t="t" l="l"/>
              <a:pathLst>
                <a:path h="521205" w="2757902">
                  <a:moveTo>
                    <a:pt x="36967" y="0"/>
                  </a:moveTo>
                  <a:lnTo>
                    <a:pt x="2720935" y="0"/>
                  </a:lnTo>
                  <a:cubicBezTo>
                    <a:pt x="2730739" y="0"/>
                    <a:pt x="2740142" y="3895"/>
                    <a:pt x="2747074" y="10827"/>
                  </a:cubicBezTo>
                  <a:cubicBezTo>
                    <a:pt x="2754007" y="17760"/>
                    <a:pt x="2757902" y="27163"/>
                    <a:pt x="2757902" y="36967"/>
                  </a:cubicBezTo>
                  <a:lnTo>
                    <a:pt x="2757902" y="484238"/>
                  </a:lnTo>
                  <a:cubicBezTo>
                    <a:pt x="2757902" y="494042"/>
                    <a:pt x="2754007" y="503445"/>
                    <a:pt x="2747074" y="510378"/>
                  </a:cubicBezTo>
                  <a:cubicBezTo>
                    <a:pt x="2740142" y="517310"/>
                    <a:pt x="2730739" y="521205"/>
                    <a:pt x="2720935" y="521205"/>
                  </a:cubicBezTo>
                  <a:lnTo>
                    <a:pt x="36967" y="521205"/>
                  </a:lnTo>
                  <a:cubicBezTo>
                    <a:pt x="27163" y="521205"/>
                    <a:pt x="17760" y="517310"/>
                    <a:pt x="10827" y="510378"/>
                  </a:cubicBezTo>
                  <a:cubicBezTo>
                    <a:pt x="3895" y="503445"/>
                    <a:pt x="0" y="494042"/>
                    <a:pt x="0" y="484238"/>
                  </a:cubicBezTo>
                  <a:lnTo>
                    <a:pt x="0" y="36967"/>
                  </a:lnTo>
                  <a:cubicBezTo>
                    <a:pt x="0" y="27163"/>
                    <a:pt x="3895" y="17760"/>
                    <a:pt x="10827" y="10827"/>
                  </a:cubicBezTo>
                  <a:cubicBezTo>
                    <a:pt x="17760" y="3895"/>
                    <a:pt x="27163" y="0"/>
                    <a:pt x="36967" y="0"/>
                  </a:cubicBezTo>
                  <a:close/>
                </a:path>
              </a:pathLst>
            </a:custGeom>
            <a:solidFill>
              <a:srgbClr val="60A5FA"/>
            </a:solidFill>
          </p:spPr>
        </p:sp>
        <p:sp>
          <p:nvSpPr>
            <p:cNvPr name="TextBox 31" id="31"/>
            <p:cNvSpPr txBox="true"/>
            <p:nvPr/>
          </p:nvSpPr>
          <p:spPr>
            <a:xfrm>
              <a:off x="0" y="-47625"/>
              <a:ext cx="2757902" cy="568830"/>
            </a:xfrm>
            <a:prstGeom prst="rect">
              <a:avLst/>
            </a:prstGeom>
          </p:spPr>
          <p:txBody>
            <a:bodyPr anchor="ctr" rtlCol="false" tIns="50800" lIns="50800" bIns="50800" rIns="50800"/>
            <a:lstStyle/>
            <a:p>
              <a:pPr algn="ctr">
                <a:lnSpc>
                  <a:spcPts val="3499"/>
                </a:lnSpc>
              </a:pPr>
            </a:p>
          </p:txBody>
        </p:sp>
      </p:grpSp>
      <p:sp>
        <p:nvSpPr>
          <p:cNvPr name="TextBox 32" id="32"/>
          <p:cNvSpPr txBox="true"/>
          <p:nvPr/>
        </p:nvSpPr>
        <p:spPr>
          <a:xfrm rot="0">
            <a:off x="7707963" y="8168348"/>
            <a:ext cx="4847405" cy="1736725"/>
          </a:xfrm>
          <a:prstGeom prst="rect">
            <a:avLst/>
          </a:prstGeom>
        </p:spPr>
        <p:txBody>
          <a:bodyPr anchor="t" rtlCol="false" tIns="0" lIns="0" bIns="0" rIns="0">
            <a:spAutoFit/>
          </a:bodyPr>
          <a:lstStyle/>
          <a:p>
            <a:pPr algn="l">
              <a:lnSpc>
                <a:spcPts val="3499"/>
              </a:lnSpc>
            </a:pPr>
            <a:r>
              <a:rPr lang="en-US" sz="2499" b="true">
                <a:solidFill>
                  <a:srgbClr val="FFFFFF"/>
                </a:solidFill>
                <a:latin typeface="Open Sans Bold"/>
                <a:ea typeface="Open Sans Bold"/>
                <a:cs typeface="Open Sans Bold"/>
                <a:sym typeface="Open Sans Bold"/>
              </a:rPr>
              <a:t>04 — Comparison</a:t>
            </a:r>
          </a:p>
          <a:p>
            <a:pPr algn="l">
              <a:lnSpc>
                <a:spcPts val="3499"/>
              </a:lnSpc>
            </a:pPr>
            <a:r>
              <a:rPr lang="en-US" sz="2499" b="true">
                <a:solidFill>
                  <a:srgbClr val="FFFFFF"/>
                </a:solidFill>
                <a:latin typeface="Open Sans Bold"/>
                <a:ea typeface="Open Sans Bold"/>
                <a:cs typeface="Open Sans Bold"/>
                <a:sym typeface="Open Sans Bold"/>
              </a:rPr>
              <a:t> </a:t>
            </a:r>
            <a:r>
              <a:rPr lang="en-US" sz="2499">
                <a:solidFill>
                  <a:srgbClr val="FFFFFF"/>
                </a:solidFill>
                <a:latin typeface="Open Sans"/>
                <a:ea typeface="Open Sans"/>
                <a:cs typeface="Open Sans"/>
                <a:sym typeface="Open Sans"/>
              </a:rPr>
              <a:t>Compared PINN and FDM i</a:t>
            </a:r>
            <a:r>
              <a:rPr lang="en-US" sz="2499">
                <a:solidFill>
                  <a:srgbClr val="FFFFFF"/>
                </a:solidFill>
                <a:latin typeface="Open Sans"/>
                <a:ea typeface="Open Sans"/>
                <a:cs typeface="Open Sans"/>
                <a:sym typeface="Open Sans"/>
              </a:rPr>
              <a:t>n:</a:t>
            </a:r>
          </a:p>
          <a:p>
            <a:pPr algn="l" marL="539749" indent="-269875" lvl="1">
              <a:lnSpc>
                <a:spcPts val="3499"/>
              </a:lnSpc>
              <a:buFont typeface="Arial"/>
              <a:buChar char="•"/>
            </a:pPr>
            <a:r>
              <a:rPr lang="en-US" b="true" sz="2499">
                <a:solidFill>
                  <a:srgbClr val="FFFFFF"/>
                </a:solidFill>
                <a:latin typeface="Open Sans Bold"/>
                <a:ea typeface="Open Sans Bold"/>
                <a:cs typeface="Open Sans Bold"/>
                <a:sym typeface="Open Sans Bold"/>
              </a:rPr>
              <a:t>Accuracy</a:t>
            </a:r>
          </a:p>
          <a:p>
            <a:pPr algn="l" marL="539749" indent="-269875" lvl="1">
              <a:lnSpc>
                <a:spcPts val="3499"/>
              </a:lnSpc>
              <a:buFont typeface="Arial"/>
              <a:buChar char="•"/>
            </a:pPr>
            <a:r>
              <a:rPr lang="en-US" b="true" sz="2499">
                <a:solidFill>
                  <a:srgbClr val="FFFFFF"/>
                </a:solidFill>
                <a:latin typeface="Open Sans Bold"/>
                <a:ea typeface="Open Sans Bold"/>
                <a:cs typeface="Open Sans Bold"/>
                <a:sym typeface="Open Sans Bold"/>
              </a:rPr>
              <a:t>RMSE</a:t>
            </a:r>
          </a:p>
        </p:txBody>
      </p:sp>
      <p:sp>
        <p:nvSpPr>
          <p:cNvPr name="TextBox 33" id="33"/>
          <p:cNvSpPr txBox="true"/>
          <p:nvPr/>
        </p:nvSpPr>
        <p:spPr>
          <a:xfrm rot="0">
            <a:off x="12242207" y="8235023"/>
            <a:ext cx="4847405" cy="86042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FFFFFF"/>
                </a:solidFill>
                <a:latin typeface="Open Sans Bold"/>
                <a:ea typeface="Open Sans Bold"/>
                <a:cs typeface="Open Sans Bold"/>
                <a:sym typeface="Open Sans Bold"/>
              </a:rPr>
              <a:t>Runtime</a:t>
            </a:r>
          </a:p>
          <a:p>
            <a:pPr algn="l" marL="539749" indent="-269875" lvl="1">
              <a:lnSpc>
                <a:spcPts val="3499"/>
              </a:lnSpc>
              <a:buFont typeface="Arial"/>
              <a:buChar char="•"/>
            </a:pPr>
            <a:r>
              <a:rPr lang="en-US" b="true" sz="2499">
                <a:solidFill>
                  <a:srgbClr val="FFFFFF"/>
                </a:solidFill>
                <a:latin typeface="Open Sans Bold"/>
                <a:ea typeface="Open Sans Bold"/>
                <a:cs typeface="Open Sans Bold"/>
                <a:sym typeface="Open Sans Bold"/>
              </a:rPr>
              <a:t>Grid convergen</a:t>
            </a:r>
            <a:r>
              <a:rPr lang="en-US" b="true" sz="2499">
                <a:solidFill>
                  <a:srgbClr val="FFFFFF"/>
                </a:solidFill>
                <a:latin typeface="Open Sans Bold"/>
                <a:ea typeface="Open Sans Bold"/>
                <a:cs typeface="Open Sans Bold"/>
                <a:sym typeface="Open Sans Bold"/>
              </a:rPr>
              <a:t>ce</a:t>
            </a:r>
          </a:p>
        </p:txBody>
      </p:sp>
    </p:spTree>
  </p:cSld>
  <p:clrMapOvr>
    <a:masterClrMapping/>
  </p:clrMapOvr>
  <p:transition spd="slow">
    <p:cover dir="l"/>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74307" y="411304"/>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31713" y="599877"/>
            <a:ext cx="397623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The ending</a:t>
            </a:r>
          </a:p>
        </p:txBody>
      </p:sp>
      <p:sp>
        <p:nvSpPr>
          <p:cNvPr name="TextBox 7" id="7"/>
          <p:cNvSpPr txBox="true"/>
          <p:nvPr/>
        </p:nvSpPr>
        <p:spPr>
          <a:xfrm rot="0">
            <a:off x="774307" y="1463099"/>
            <a:ext cx="760747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CONCLUSION</a:t>
            </a:r>
          </a:p>
        </p:txBody>
      </p:sp>
      <p:sp>
        <p:nvSpPr>
          <p:cNvPr name="TextBox 8" id="8"/>
          <p:cNvSpPr txBox="true"/>
          <p:nvPr/>
        </p:nvSpPr>
        <p:spPr>
          <a:xfrm rot="0">
            <a:off x="774307" y="2662933"/>
            <a:ext cx="17112837" cy="7448423"/>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1. Problem Studied:</a:t>
            </a:r>
            <a:r>
              <a:rPr lang="en-US" sz="2630">
                <a:solidFill>
                  <a:srgbClr val="1E293B"/>
                </a:solidFill>
                <a:latin typeface="Open Sans"/>
                <a:ea typeface="Open Sans"/>
                <a:cs typeface="Open Sans"/>
                <a:sym typeface="Open Sans"/>
              </a:rPr>
              <a:t> We investigated </a:t>
            </a:r>
            <a:r>
              <a:rPr lang="en-US" sz="2630">
                <a:solidFill>
                  <a:srgbClr val="1E293B"/>
                </a:solidFill>
                <a:latin typeface="Open Sans"/>
                <a:ea typeface="Open Sans"/>
                <a:cs typeface="Open Sans"/>
                <a:sym typeface="Open Sans"/>
              </a:rPr>
              <a:t>singular Three-Point Boundary Value Problems (TPS-BVPs), which involve differential equations with boundary conditions specified at three points and singularities within the domain.</a:t>
            </a:r>
          </a:p>
          <a:p>
            <a:pPr algn="l">
              <a:lnSpc>
                <a:spcPts val="3682"/>
              </a:lnSpc>
            </a:pPr>
            <a:r>
              <a:rPr lang="en-US" b="true" sz="2630">
                <a:solidFill>
                  <a:srgbClr val="1E293B"/>
                </a:solidFill>
                <a:latin typeface="Open Sans Bold"/>
                <a:ea typeface="Open Sans Bold"/>
                <a:cs typeface="Open Sans Bold"/>
                <a:sym typeface="Open Sans Bold"/>
              </a:rPr>
              <a:t>2. PINN Implementation:</a:t>
            </a:r>
            <a:r>
              <a:rPr lang="en-US" sz="2630">
                <a:solidFill>
                  <a:srgbClr val="1E293B"/>
                </a:solidFill>
                <a:latin typeface="Open Sans"/>
                <a:ea typeface="Open Sans"/>
                <a:cs typeface="Open Sans"/>
                <a:sym typeface="Open Sans"/>
              </a:rPr>
              <a:t> We reproduced four approaches from the reference paper: Standard PINN, PINN with L1 regularization, PINN with L2 regularization, and Adaptive PINN (A-PINN), using three benchmark problems.</a:t>
            </a:r>
          </a:p>
          <a:p>
            <a:pPr algn="l">
              <a:lnSpc>
                <a:spcPts val="3682"/>
              </a:lnSpc>
            </a:pPr>
            <a:r>
              <a:rPr lang="en-US" b="true" sz="2630">
                <a:solidFill>
                  <a:srgbClr val="1E293B"/>
                </a:solidFill>
                <a:latin typeface="Open Sans Bold"/>
                <a:ea typeface="Open Sans Bold"/>
                <a:cs typeface="Open Sans Bold"/>
                <a:sym typeface="Open Sans Bold"/>
              </a:rPr>
              <a:t>3. Training Setup:</a:t>
            </a:r>
            <a:r>
              <a:rPr lang="en-US" sz="2630">
                <a:solidFill>
                  <a:srgbClr val="1E293B"/>
                </a:solidFill>
                <a:latin typeface="Open Sans"/>
                <a:ea typeface="Open Sans"/>
                <a:cs typeface="Open Sans"/>
                <a:sym typeface="Open Sans"/>
              </a:rPr>
              <a:t> We trained the models using 500 collocation points, a neural network with three hidden layers and 20 neurons per layer, the tanh activation function, and the Adam optimizer for 10,000 epochs.</a:t>
            </a:r>
          </a:p>
          <a:p>
            <a:pPr algn="l">
              <a:lnSpc>
                <a:spcPts val="3682"/>
              </a:lnSpc>
            </a:pPr>
            <a:r>
              <a:rPr lang="en-US" b="true" sz="2630">
                <a:solidFill>
                  <a:srgbClr val="1E293B"/>
                </a:solidFill>
                <a:latin typeface="Open Sans Bold"/>
                <a:ea typeface="Open Sans Bold"/>
                <a:cs typeface="Open Sans Bold"/>
                <a:sym typeface="Open Sans Bold"/>
              </a:rPr>
              <a:t>4. Robustness Analysis:</a:t>
            </a:r>
            <a:r>
              <a:rPr lang="en-US" sz="2630">
                <a:solidFill>
                  <a:srgbClr val="1E293B"/>
                </a:solidFill>
                <a:latin typeface="Open Sans"/>
                <a:ea typeface="Open Sans"/>
                <a:cs typeface="Open Sans"/>
                <a:sym typeface="Open Sans"/>
              </a:rPr>
              <a:t> We repeated the experiments using 10 random seeds, resulting in 120 PINN training runs. This helped us evaluate performance variability and sensitivity to random initialization.</a:t>
            </a:r>
          </a:p>
          <a:p>
            <a:pPr algn="l">
              <a:lnSpc>
                <a:spcPts val="3682"/>
              </a:lnSpc>
            </a:pPr>
            <a:r>
              <a:rPr lang="en-US" b="true" sz="2630">
                <a:solidFill>
                  <a:srgbClr val="1E293B"/>
                </a:solidFill>
                <a:latin typeface="Open Sans Bold"/>
                <a:ea typeface="Open Sans Bold"/>
                <a:cs typeface="Open Sans Bold"/>
                <a:sym typeface="Open Sans Bold"/>
              </a:rPr>
              <a:t>5. FDM Extension:</a:t>
            </a:r>
            <a:r>
              <a:rPr lang="en-US" sz="2630">
                <a:solidFill>
                  <a:srgbClr val="1E293B"/>
                </a:solidFill>
                <a:latin typeface="Open Sans"/>
                <a:ea typeface="Open Sans"/>
                <a:cs typeface="Open Sans"/>
                <a:sym typeface="Open Sans"/>
              </a:rPr>
              <a:t> We implemented the Finite Difference Method using second-order central differences and compared grid sizes of N=50,100,200,400 to study accuracy and convergence.</a:t>
            </a:r>
          </a:p>
          <a:p>
            <a:pPr algn="l">
              <a:lnSpc>
                <a:spcPts val="3682"/>
              </a:lnSpc>
            </a:pPr>
            <a:r>
              <a:rPr lang="en-US" b="true" sz="2630">
                <a:solidFill>
                  <a:srgbClr val="1E293B"/>
                </a:solidFill>
                <a:latin typeface="Open Sans Bold"/>
                <a:ea typeface="Open Sans Bold"/>
                <a:cs typeface="Open Sans Bold"/>
                <a:sym typeface="Open Sans Bold"/>
              </a:rPr>
              <a:t>6. Comparative Results:</a:t>
            </a:r>
            <a:r>
              <a:rPr lang="en-US" sz="2630">
                <a:solidFill>
                  <a:srgbClr val="1E293B"/>
                </a:solidFill>
                <a:latin typeface="Open Sans"/>
                <a:ea typeface="Open Sans"/>
                <a:cs typeface="Open Sans"/>
                <a:sym typeface="Open Sans"/>
              </a:rPr>
              <a:t> FDM achieved significantly lower RMSE and required much less computational time than the PINN approaches across all three benchmark problems. Among the PINNs, L2 regularization performed best for Examples 3.1 and 3.3, while Standard PINN performed best for Example 3.2.</a:t>
            </a:r>
          </a:p>
          <a:p>
            <a:pPr algn="l">
              <a:lnSpc>
                <a:spcPts val="3682"/>
              </a:lnSpc>
            </a:pPr>
          </a:p>
        </p:txBody>
      </p:sp>
    </p:spTree>
  </p:cSld>
  <p:clrMapOvr>
    <a:masterClrMapping/>
  </p:clrMapOvr>
  <p:transition spd="slow">
    <p:cover dir="l"/>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257501" y="8066575"/>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191726" y="158059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319354" y="-4277500"/>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0191726" y="6977077"/>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452204" y="8018950"/>
            <a:ext cx="3976232" cy="860425"/>
          </a:xfrm>
          <a:prstGeom prst="rect">
            <a:avLst/>
          </a:prstGeom>
        </p:spPr>
        <p:txBody>
          <a:bodyPr anchor="t" rtlCol="false" tIns="0" lIns="0" bIns="0" rIns="0">
            <a:spAutoFit/>
          </a:bodyPr>
          <a:lstStyle/>
          <a:p>
            <a:pPr algn="l">
              <a:lnSpc>
                <a:spcPts val="3499"/>
              </a:lnSpc>
            </a:pPr>
            <a:r>
              <a:rPr lang="en-US" sz="2499" b="true">
                <a:solidFill>
                  <a:srgbClr val="1E293B"/>
                </a:solidFill>
                <a:latin typeface="Open Sans Bold"/>
                <a:ea typeface="Open Sans Bold"/>
                <a:cs typeface="Open Sans Bold"/>
                <a:sym typeface="Open Sans Bold"/>
              </a:rPr>
              <a:t>Presentation By</a:t>
            </a:r>
          </a:p>
          <a:p>
            <a:pPr algn="l">
              <a:lnSpc>
                <a:spcPts val="3499"/>
              </a:lnSpc>
            </a:pPr>
            <a:r>
              <a:rPr lang="en-US" b="true" sz="2499">
                <a:solidFill>
                  <a:srgbClr val="1E293B"/>
                </a:solidFill>
                <a:latin typeface="Open Sans Bold"/>
                <a:ea typeface="Open Sans Bold"/>
                <a:cs typeface="Open Sans Bold"/>
                <a:sym typeface="Open Sans Bold"/>
              </a:rPr>
              <a:t>BATCH-22</a:t>
            </a:r>
          </a:p>
        </p:txBody>
      </p:sp>
      <p:sp>
        <p:nvSpPr>
          <p:cNvPr name="Freeform 17" id="17"/>
          <p:cNvSpPr/>
          <p:nvPr/>
        </p:nvSpPr>
        <p:spPr>
          <a:xfrm flipH="false" flipV="false" rot="0">
            <a:off x="1452204" y="1922579"/>
            <a:ext cx="9325087" cy="4662543"/>
          </a:xfrm>
          <a:custGeom>
            <a:avLst/>
            <a:gdLst/>
            <a:ahLst/>
            <a:cxnLst/>
            <a:rect r="r" b="b" t="t" l="l"/>
            <a:pathLst>
              <a:path h="4662543" w="9325087">
                <a:moveTo>
                  <a:pt x="0" y="0"/>
                </a:moveTo>
                <a:lnTo>
                  <a:pt x="9325087" y="0"/>
                </a:lnTo>
                <a:lnTo>
                  <a:pt x="9325087" y="4662544"/>
                </a:lnTo>
                <a:lnTo>
                  <a:pt x="0" y="4662544"/>
                </a:lnTo>
                <a:lnTo>
                  <a:pt x="0" y="0"/>
                </a:lnTo>
                <a:close/>
              </a:path>
            </a:pathLst>
          </a:custGeom>
          <a:blipFill>
            <a:blip r:embed="rId4"/>
            <a:stretch>
              <a:fillRect l="0" t="0" r="0" b="0"/>
            </a:stretch>
          </a:blipFill>
        </p:spPr>
      </p:sp>
      <p:sp>
        <p:nvSpPr>
          <p:cNvPr name="TextBox 18" id="18"/>
          <p:cNvSpPr txBox="true"/>
          <p:nvPr/>
        </p:nvSpPr>
        <p:spPr>
          <a:xfrm rot="0">
            <a:off x="983249" y="3161246"/>
            <a:ext cx="953768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Thank</a:t>
            </a:r>
          </a:p>
        </p:txBody>
      </p:sp>
      <p:sp>
        <p:nvSpPr>
          <p:cNvPr name="TextBox 19" id="19"/>
          <p:cNvSpPr txBox="true"/>
          <p:nvPr/>
        </p:nvSpPr>
        <p:spPr>
          <a:xfrm rot="0">
            <a:off x="1028700" y="4450251"/>
            <a:ext cx="764062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You</a:t>
            </a:r>
          </a:p>
        </p:txBody>
      </p:sp>
      <p:sp>
        <p:nvSpPr>
          <p:cNvPr name="TextBox 20" id="20"/>
          <p:cNvSpPr txBox="true"/>
          <p:nvPr/>
        </p:nvSpPr>
        <p:spPr>
          <a:xfrm rot="0">
            <a:off x="2057840" y="880319"/>
            <a:ext cx="10646970" cy="86042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PINN vs</a:t>
            </a:r>
            <a:r>
              <a:rPr lang="en-US" b="true" sz="2499">
                <a:solidFill>
                  <a:srgbClr val="1E293B"/>
                </a:solidFill>
                <a:latin typeface="Open Sans Bold"/>
                <a:ea typeface="Open Sans Bold"/>
                <a:cs typeface="Open Sans Bold"/>
                <a:sym typeface="Open Sans Bold"/>
              </a:rPr>
              <a:t> Finite Difference on Singular Three-Point Boundary Value Problems</a:t>
            </a:r>
          </a:p>
        </p:txBody>
      </p:sp>
    </p:spTree>
  </p:cSld>
  <p:clrMapOvr>
    <a:masterClrMapping/>
  </p:clrMapOvr>
  <p:transition spd="slow">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DAHXV86mQ4U</dc:identifier>
  <dcterms:modified xsi:type="dcterms:W3CDTF">2011-08-01T06:04:30Z</dcterms:modified>
  <cp:revision>1</cp:revision>
  <dc:title>PR - Presentation</dc:title>
</cp:coreProperties>
</file>